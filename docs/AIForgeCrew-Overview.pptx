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2402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5400" b="1">
                <a:solidFill>
                  <a:srgbClr val="1A1A1A"/>
                </a:solidFill>
                <a:latin typeface="Segoe UI"/>
              </a:rPr>
              <a:t>AIForgeCrew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31546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6B6B6B"/>
                </a:solidFill>
                <a:latin typeface="Segoe UI"/>
              </a:rPr>
              <a:t>A self-hosted coding-agent platform — how it is built and 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3767328"/>
            <a:ext cx="1371600" cy="381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4206240"/>
            <a:ext cx="2286000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F4E79"/>
                </a:solidFill>
                <a:latin typeface="Segoe UI"/>
              </a:rPr>
              <a:t>Ticket → PR</a:t>
            </a:r>
          </a:p>
          <a:p>
            <a:pPr algn="ctr"/>
            <a:r>
              <a:rPr sz="950" b="0">
                <a:solidFill>
                  <a:srgbClr val="1A1A1A"/>
                </a:solidFill>
                <a:latin typeface="Segoe UI"/>
              </a:rPr>
              <a:t>19 agent roles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4206240"/>
            <a:ext cx="2286000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F4E79"/>
                </a:solidFill>
                <a:latin typeface="Segoe UI"/>
              </a:rPr>
              <a:t>Chat agent</a:t>
            </a:r>
          </a:p>
          <a:p>
            <a:pPr algn="ctr"/>
            <a:r>
              <a:rPr sz="950" b="0">
                <a:solidFill>
                  <a:srgbClr val="1A1A1A"/>
                </a:solidFill>
                <a:latin typeface="Segoe UI"/>
              </a:rPr>
              <a:t>109 tools, 3 modes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97880" y="4206240"/>
            <a:ext cx="2286000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F4E79"/>
                </a:solidFill>
                <a:latin typeface="Segoe UI"/>
              </a:rPr>
              <a:t>Memory</a:t>
            </a:r>
          </a:p>
          <a:p>
            <a:pPr algn="ctr"/>
            <a:r>
              <a:rPr sz="950" b="0">
                <a:solidFill>
                  <a:srgbClr val="1A1A1A"/>
                </a:solidFill>
                <a:latin typeface="Segoe UI"/>
              </a:rPr>
              <a:t>files, not a DB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4206240"/>
            <a:ext cx="2286000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F4E79"/>
                </a:solidFill>
                <a:latin typeface="Segoe UI"/>
              </a:rPr>
              <a:t>Fleet sync</a:t>
            </a:r>
          </a:p>
          <a:p>
            <a:pPr algn="ctr"/>
            <a:r>
              <a:rPr sz="950" b="0">
                <a:solidFill>
                  <a:srgbClr val="1A1A1A"/>
                </a:solidFill>
                <a:latin typeface="Segoe UI"/>
              </a:rPr>
              <a:t>groups + redaction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Segoe UI"/>
              </a:rPr>
              <a:t>Self-hosted · no telemetry · no database to operate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A1A1A"/>
                </a:solidFill>
                <a:latin typeface="Segoe UI"/>
              </a:rPr>
              <a:t>What it 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41248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B6B6B"/>
                </a:solidFill>
                <a:latin typeface="Segoe UI"/>
              </a:rPr>
              <a:t>One service. Two ways in. No database to operate.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70432"/>
            <a:ext cx="11091672" cy="9525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632764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6B6B6B"/>
                </a:solidFill>
                <a:latin typeface="Segoe UI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2560320" cy="1874519"/>
          </a:xfrm>
          <a:prstGeom prst="roundRect">
            <a:avLst>
              <a:gd name="adj" fmla="val 10000"/>
            </a:avLst>
          </a:prstGeom>
          <a:solidFill>
            <a:srgbClr val="DCE7F2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1F4E79"/>
                </a:solidFill>
                <a:latin typeface="Segoe UI"/>
              </a:rPr>
              <a:t>Ticket → PR</a:t>
            </a:r>
          </a:p>
          <a:p>
            <a:pPr algn="ctr"/>
          </a:p>
          <a:p>
            <a:pPr algn="ctr"/>
            <a:r>
              <a:rPr sz="1100" b="0">
                <a:solidFill>
                  <a:srgbClr val="1A1A1A"/>
                </a:solidFill>
                <a:latin typeface="Segoe UI"/>
              </a:rPr>
              <a:t>a plain-language ticket</a:t>
            </a:r>
          </a:p>
          <a:p>
            <a:pPr algn="ctr"/>
            <a:r>
              <a:rPr sz="1100" b="0">
                <a:solidFill>
                  <a:srgbClr val="1A1A1A"/>
                </a:solidFill>
                <a:latin typeface="Segoe UI"/>
              </a:rPr>
              <a:t>becomes a pull request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52044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6B6B6B"/>
                </a:solidFill>
                <a:latin typeface="Segoe UI"/>
              </a:rPr>
              <a:t>19 specialised agent roles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554480"/>
            <a:ext cx="2560320" cy="1874519"/>
          </a:xfrm>
          <a:prstGeom prst="roundRect">
            <a:avLst>
              <a:gd name="adj" fmla="val 10000"/>
            </a:avLst>
          </a:prstGeom>
          <a:solidFill>
            <a:srgbClr val="DCEEE7"/>
          </a:solidFill>
          <a:ln w="12700">
            <a:solidFill>
              <a:srgbClr val="1E6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1E6B52"/>
                </a:solidFill>
                <a:latin typeface="Segoe UI"/>
              </a:rPr>
              <a:t>Chat agent</a:t>
            </a:r>
          </a:p>
          <a:p>
            <a:pPr algn="ctr"/>
          </a:p>
          <a:p>
            <a:pPr algn="ctr"/>
            <a:r>
              <a:rPr sz="1100" b="0">
                <a:solidFill>
                  <a:srgbClr val="1A1A1A"/>
                </a:solidFill>
                <a:latin typeface="Segoe UI"/>
              </a:rPr>
              <a:t>the whole filesystem,</a:t>
            </a:r>
          </a:p>
          <a:p>
            <a:pPr algn="ctr"/>
            <a:r>
              <a:rPr sz="1100" b="0">
                <a:solidFill>
                  <a:srgbClr val="1A1A1A"/>
                </a:solidFill>
                <a:latin typeface="Segoe UI"/>
              </a:rPr>
              <a:t>three modes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56432" y="352044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6B6B6B"/>
                </a:solidFill>
                <a:latin typeface="Segoe UI"/>
              </a:rPr>
              <a:t>109 tools, plain-text ReAct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27064" y="1554480"/>
            <a:ext cx="2560320" cy="1874519"/>
          </a:xfrm>
          <a:prstGeom prst="roundRect">
            <a:avLst>
              <a:gd name="adj" fmla="val 10000"/>
            </a:avLst>
          </a:prstGeom>
          <a:solidFill>
            <a:srgbClr val="F7ECD5"/>
          </a:solidFill>
          <a:ln w="12700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8A5A00"/>
                </a:solidFill>
                <a:latin typeface="Segoe UI"/>
              </a:rPr>
              <a:t>Any endpoint</a:t>
            </a:r>
          </a:p>
          <a:p>
            <a:pPr algn="ctr"/>
          </a:p>
          <a:p>
            <a:pPr algn="ctr"/>
            <a:r>
              <a:rPr sz="1100" b="0">
                <a:solidFill>
                  <a:srgbClr val="1A1A1A"/>
                </a:solidFill>
                <a:latin typeface="Segoe UI"/>
              </a:rPr>
              <a:t>OpenAI-compatible</a:t>
            </a:r>
          </a:p>
          <a:p>
            <a:pPr algn="ctr"/>
            <a:r>
              <a:rPr sz="1100" b="0">
                <a:solidFill>
                  <a:srgbClr val="1A1A1A"/>
                </a:solidFill>
                <a:latin typeface="Segoe UI"/>
              </a:rPr>
              <a:t>is the only requirement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7064" y="352044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6B6B6B"/>
                </a:solidFill>
                <a:latin typeface="Segoe UI"/>
              </a:rPr>
              <a:t>LM Studio · vLLM · cloud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97696" y="1554480"/>
            <a:ext cx="2560320" cy="1874519"/>
          </a:xfrm>
          <a:prstGeom prst="roundRect">
            <a:avLst>
              <a:gd name="adj" fmla="val 10000"/>
            </a:avLst>
          </a:prstGeom>
          <a:solidFill>
            <a:srgbClr val="EAE1F0"/>
          </a:solidFill>
          <a:ln w="12700">
            <a:solidFill>
              <a:srgbClr val="5B3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5B3A6E"/>
                </a:solidFill>
                <a:latin typeface="Segoe UI"/>
              </a:rPr>
              <a:t>Memory is files</a:t>
            </a:r>
          </a:p>
          <a:p>
            <a:pPr algn="ctr"/>
          </a:p>
          <a:p>
            <a:pPr algn="ctr"/>
            <a:r>
              <a:rPr sz="1100" b="0">
                <a:solidFill>
                  <a:srgbClr val="1A1A1A"/>
                </a:solidFill>
                <a:latin typeface="Segoe UI"/>
              </a:rPr>
              <a:t>markdown + one SQLite,</a:t>
            </a:r>
          </a:p>
          <a:p>
            <a:pPr algn="ctr"/>
            <a:r>
              <a:rPr sz="1100" b="0">
                <a:solidFill>
                  <a:srgbClr val="1A1A1A"/>
                </a:solidFill>
                <a:latin typeface="Segoe UI"/>
              </a:rPr>
              <a:t>not a service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97696" y="352044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6B6B6B"/>
                </a:solidFill>
                <a:latin typeface="Segoe UI"/>
              </a:rPr>
              <a:t>greppable, git-diffable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069080"/>
            <a:ext cx="10853928" cy="868680"/>
          </a:xfrm>
          <a:prstGeom prst="roundRect">
            <a:avLst>
              <a:gd name="adj" fmla="val 10000"/>
            </a:avLst>
          </a:prstGeom>
          <a:solidFill>
            <a:srgbClr val="ECECEC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3A3A3A"/>
                </a:solidFill>
                <a:latin typeface="Segoe UI"/>
              </a:rPr>
              <a:t>Runs on a laptop, a NUC, or a container</a:t>
            </a:r>
          </a:p>
          <a:p>
            <a:pPr algn="ctr"/>
            <a:r>
              <a:rPr sz="1050" b="0">
                <a:solidFill>
                  <a:srgbClr val="1A1A1A"/>
                </a:solidFill>
                <a:latin typeface="Segoe UI"/>
              </a:rPr>
              <a:t>zero-Docker mode is a first-class deployment, not a degraded one  ·  no GPU, no torch, no Postgres, no Neo4j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138928"/>
            <a:ext cx="1234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1F4E79"/>
                </a:solidFill>
                <a:latin typeface="Segoe UI"/>
              </a:rPr>
              <a:t>465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532120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Segoe UI"/>
              </a:rPr>
              <a:t>Python modules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48256" y="5138928"/>
            <a:ext cx="1234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1F4E79"/>
                </a:solidFill>
                <a:latin typeface="Segoe UI"/>
              </a:rPr>
              <a:t>~102k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48256" y="5532120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Segoe UI"/>
              </a:rPr>
              <a:t>lines in 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10712" y="5138928"/>
            <a:ext cx="1234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1F4E79"/>
                </a:solidFill>
                <a:latin typeface="Segoe UI"/>
              </a:rPr>
              <a:t>109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10712" y="5532120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Segoe UI"/>
              </a:rPr>
              <a:t>chat tools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73168" y="5138928"/>
            <a:ext cx="1234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1F4E79"/>
                </a:solidFill>
                <a:latin typeface="Segoe UI"/>
              </a:rPr>
              <a:t>19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73168" y="5532120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Segoe UI"/>
              </a:rPr>
              <a:t>agent roles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35624" y="5138928"/>
            <a:ext cx="1234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1F4E79"/>
                </a:solidFill>
                <a:latin typeface="Segoe UI"/>
              </a:rPr>
              <a:t>~4,000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35624" y="5532120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Segoe UI"/>
              </a:rPr>
              <a:t>tests, 0 failing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0" y="5138928"/>
            <a:ext cx="1234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1F4E79"/>
                </a:solidFill>
                <a:latin typeface="Segoe UI"/>
              </a:rPr>
              <a:t>86%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0" y="5532120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Segoe UI"/>
              </a:rPr>
              <a:t>line coverage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0536" y="5138928"/>
            <a:ext cx="1234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1F4E79"/>
                </a:solidFill>
                <a:latin typeface="Segoe UI"/>
              </a:rPr>
              <a:t>186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0536" y="5532120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Segoe UI"/>
              </a:rPr>
              <a:t>packages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22992" y="5138928"/>
            <a:ext cx="1234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1F4E79"/>
                </a:solidFill>
                <a:latin typeface="Segoe UI"/>
              </a:rPr>
              <a:t>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22992" y="5532120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Segoe UI"/>
              </a:rPr>
              <a:t>databases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5897880"/>
            <a:ext cx="10853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Segoe UI"/>
              </a:rPr>
              <a:t>measured on main, not estimated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A1A1A"/>
                </a:solidFill>
                <a:latin typeface="Segoe U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41248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B6B6B"/>
                </a:solidFill>
                <a:latin typeface="Segoe UI"/>
              </a:rPr>
              <a:t>One FastAPI process on port 8799. Everything else is a library inside it.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70432"/>
            <a:ext cx="11091672" cy="9525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27648"/>
            <a:ext cx="9692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B6B6B"/>
                </a:solidFill>
                <a:latin typeface="Segoe UI"/>
              </a:rPr>
              <a:t>State on disk: ~/.aiforge/ — agent_config.json · integrations.json · memory/ · work/ · aiforge.db (SQLite)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32764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6B6B6B"/>
                </a:solidFill>
                <a:latin typeface="Segoe UI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10835640" cy="566928"/>
          </a:xfrm>
          <a:prstGeom prst="roundRect">
            <a:avLst>
              <a:gd name="adj" fmla="val 10000"/>
            </a:avLst>
          </a:prstGeom>
          <a:solidFill>
            <a:srgbClr val="ECECEC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3A3A3A"/>
                </a:solidFill>
                <a:latin typeface="Segoe UI"/>
              </a:rPr>
              <a:t>React UI</a:t>
            </a:r>
          </a:p>
          <a:p>
            <a:pPr algn="ctr"/>
            <a:r>
              <a:rPr sz="950" b="0">
                <a:solidFill>
                  <a:srgbClr val="1A1A1A"/>
                </a:solidFill>
                <a:latin typeface="Segoe UI"/>
              </a:rPr>
              <a:t>Chat · Tickets · Library · Settings · Memory sync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126480" y="1984248"/>
            <a:ext cx="0" cy="228600"/>
          </a:xfrm>
          <a:prstGeom prst="line">
            <a:avLst/>
          </a:prstGeom>
          <a:ln w="19050">
            <a:solidFill>
              <a:srgbClr val="C9C9C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85800" y="2212848"/>
            <a:ext cx="10835640" cy="566928"/>
          </a:xfrm>
          <a:prstGeom prst="roundRect">
            <a:avLst>
              <a:gd name="adj" fmla="val 10000"/>
            </a:avLst>
          </a:prstGeom>
          <a:solidFill>
            <a:srgbClr val="DCE7F2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F4E79"/>
                </a:solidFill>
                <a:latin typeface="Segoe UI"/>
              </a:rPr>
              <a:t>FastAPI  ·  port 8799</a:t>
            </a:r>
          </a:p>
          <a:p>
            <a:pPr algn="ctr"/>
            <a:r>
              <a:rPr sz="950" b="0">
                <a:solidFill>
                  <a:srgbClr val="1A1A1A"/>
                </a:solidFill>
                <a:latin typeface="Segoe UI"/>
              </a:rPr>
              <a:t>REST + SSE streaming   ·   approval gate   ·   runtime settings   ·   jobs scheduler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988820" y="2779776"/>
            <a:ext cx="0" cy="237744"/>
          </a:xfrm>
          <a:prstGeom prst="line">
            <a:avLst/>
          </a:prstGeom>
          <a:ln w="19050">
            <a:solidFill>
              <a:srgbClr val="C9C9C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85800" y="3017520"/>
            <a:ext cx="2606040" cy="1051560"/>
          </a:xfrm>
          <a:prstGeom prst="roundRect">
            <a:avLst>
              <a:gd name="adj" fmla="val 10000"/>
            </a:avLst>
          </a:prstGeom>
          <a:solidFill>
            <a:srgbClr val="DCEEE7"/>
          </a:solidFill>
          <a:ln w="12700">
            <a:solidFill>
              <a:srgbClr val="1E6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E6B52"/>
                </a:solidFill>
                <a:latin typeface="Segoe UI"/>
              </a:rPr>
              <a:t>Chat agent</a:t>
            </a:r>
          </a:p>
          <a:p>
            <a:pPr algn="ctr"/>
            <a:r>
              <a:rPr sz="950" b="0">
                <a:solidFill>
                  <a:srgbClr val="1A1A1A"/>
                </a:solidFill>
                <a:latin typeface="Segoe UI"/>
              </a:rPr>
              <a:t>ReAct loop</a:t>
            </a:r>
          </a:p>
          <a:p>
            <a:pPr algn="ctr"/>
            <a:r>
              <a:rPr sz="950" b="0">
                <a:solidFill>
                  <a:srgbClr val="1A1A1A"/>
                </a:solidFill>
                <a:latin typeface="Segoe UI"/>
              </a:rPr>
              <a:t>109 tools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988820" y="4069080"/>
            <a:ext cx="0" cy="246888"/>
          </a:xfrm>
          <a:prstGeom prst="line">
            <a:avLst/>
          </a:prstGeom>
          <a:ln w="19050">
            <a:solidFill>
              <a:srgbClr val="C9C9C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732020" y="2779776"/>
            <a:ext cx="0" cy="237744"/>
          </a:xfrm>
          <a:prstGeom prst="line">
            <a:avLst/>
          </a:prstGeom>
          <a:ln w="19050">
            <a:solidFill>
              <a:srgbClr val="C9C9C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429000" y="3017520"/>
            <a:ext cx="2606040" cy="1051560"/>
          </a:xfrm>
          <a:prstGeom prst="roundRect">
            <a:avLst>
              <a:gd name="adj" fmla="val 10000"/>
            </a:avLst>
          </a:prstGeom>
          <a:solidFill>
            <a:srgbClr val="EAE1F0"/>
          </a:solidFill>
          <a:ln w="12700">
            <a:solidFill>
              <a:srgbClr val="5B3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5B3A6E"/>
                </a:solidFill>
                <a:latin typeface="Segoe UI"/>
              </a:rPr>
              <a:t>ADK pipeline</a:t>
            </a:r>
          </a:p>
          <a:p>
            <a:pPr algn="ctr"/>
            <a:r>
              <a:rPr sz="950" b="0">
                <a:solidFill>
                  <a:srgbClr val="1A1A1A"/>
                </a:solidFill>
                <a:latin typeface="Segoe UI"/>
              </a:rPr>
              <a:t>19 agents</a:t>
            </a:r>
          </a:p>
          <a:p>
            <a:pPr algn="ctr"/>
            <a:r>
              <a:rPr sz="950" b="0">
                <a:solidFill>
                  <a:srgbClr val="1A1A1A"/>
                </a:solidFill>
                <a:latin typeface="Segoe UI"/>
              </a:rPr>
              <a:t>git worktrees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732020" y="4069080"/>
            <a:ext cx="0" cy="246888"/>
          </a:xfrm>
          <a:prstGeom prst="line">
            <a:avLst/>
          </a:prstGeom>
          <a:ln w="19050">
            <a:solidFill>
              <a:srgbClr val="C9C9C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475220" y="2779776"/>
            <a:ext cx="0" cy="237744"/>
          </a:xfrm>
          <a:prstGeom prst="line">
            <a:avLst/>
          </a:prstGeom>
          <a:ln w="19050">
            <a:solidFill>
              <a:srgbClr val="C9C9C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172200" y="3017520"/>
            <a:ext cx="2606040" cy="1051560"/>
          </a:xfrm>
          <a:prstGeom prst="roundRect">
            <a:avLst>
              <a:gd name="adj" fmla="val 10000"/>
            </a:avLst>
          </a:prstGeom>
          <a:solidFill>
            <a:srgbClr val="F7ECD5"/>
          </a:solidFill>
          <a:ln w="12700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8A5A00"/>
                </a:solidFill>
                <a:latin typeface="Segoe UI"/>
              </a:rPr>
              <a:t>Memory</a:t>
            </a:r>
          </a:p>
          <a:p>
            <a:pPr algn="ctr"/>
            <a:r>
              <a:rPr sz="950" b="0">
                <a:solidFill>
                  <a:srgbClr val="1A1A1A"/>
                </a:solidFill>
                <a:latin typeface="Segoe UI"/>
              </a:rPr>
              <a:t>OKR-DAG</a:t>
            </a:r>
          </a:p>
          <a:p>
            <a:pPr algn="ctr"/>
            <a:r>
              <a:rPr sz="950" b="0">
                <a:solidFill>
                  <a:srgbClr val="1A1A1A"/>
                </a:solidFill>
                <a:latin typeface="Segoe UI"/>
              </a:rPr>
              <a:t>+ SQLite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475220" y="4069080"/>
            <a:ext cx="0" cy="246888"/>
          </a:xfrm>
          <a:prstGeom prst="line">
            <a:avLst/>
          </a:prstGeom>
          <a:ln w="19050">
            <a:solidFill>
              <a:srgbClr val="C9C9C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218420" y="2779776"/>
            <a:ext cx="0" cy="237744"/>
          </a:xfrm>
          <a:prstGeom prst="line">
            <a:avLst/>
          </a:prstGeom>
          <a:ln w="19050">
            <a:solidFill>
              <a:srgbClr val="C9C9C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915400" y="3017520"/>
            <a:ext cx="2606040" cy="1051560"/>
          </a:xfrm>
          <a:prstGeom prst="roundRect">
            <a:avLst>
              <a:gd name="adj" fmla="val 10000"/>
            </a:avLst>
          </a:prstGeom>
          <a:solidFill>
            <a:srgbClr val="ECECEC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3A3A3A"/>
                </a:solidFill>
                <a:latin typeface="Segoe UI"/>
              </a:rPr>
              <a:t>Integrations</a:t>
            </a:r>
          </a:p>
          <a:p>
            <a:pPr algn="ctr"/>
            <a:r>
              <a:rPr sz="950" b="0">
                <a:solidFill>
                  <a:srgbClr val="1A1A1A"/>
                </a:solidFill>
                <a:latin typeface="Segoe UI"/>
              </a:rPr>
              <a:t>Jira · GitLab</a:t>
            </a:r>
          </a:p>
          <a:p>
            <a:pPr algn="ctr"/>
            <a:r>
              <a:rPr sz="950" b="0">
                <a:solidFill>
                  <a:srgbClr val="1A1A1A"/>
                </a:solidFill>
                <a:latin typeface="Segoe UI"/>
              </a:rPr>
              <a:t>Confluence · MCP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218420" y="4069080"/>
            <a:ext cx="0" cy="246888"/>
          </a:xfrm>
          <a:prstGeom prst="line">
            <a:avLst/>
          </a:prstGeom>
          <a:ln w="19050">
            <a:solidFill>
              <a:srgbClr val="C9C9C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85800" y="4315968"/>
            <a:ext cx="10835640" cy="548640"/>
          </a:xfrm>
          <a:prstGeom prst="roundRect">
            <a:avLst>
              <a:gd name="adj" fmla="val 10000"/>
            </a:avLst>
          </a:prstGeom>
          <a:solidFill>
            <a:srgbClr val="DCE7F2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F4E79"/>
                </a:solidFill>
                <a:latin typeface="Segoe UI"/>
              </a:rPr>
              <a:t>LLM client</a:t>
            </a:r>
          </a:p>
          <a:p>
            <a:pPr algn="ctr"/>
            <a:r>
              <a:rPr sz="950" b="0">
                <a:solidFill>
                  <a:srgbClr val="1A1A1A"/>
                </a:solidFill>
                <a:latin typeface="Segoe UI"/>
              </a:rPr>
              <a:t>rate ceiling  ·  request meter  ·  model registry  ·  automatic cloud escalation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126480" y="4864608"/>
            <a:ext cx="0" cy="237744"/>
          </a:xfrm>
          <a:prstGeom prst="line">
            <a:avLst/>
          </a:prstGeom>
          <a:ln w="19050">
            <a:solidFill>
              <a:srgbClr val="C9C9C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85800" y="5102352"/>
            <a:ext cx="108356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A1A1A"/>
                </a:solidFill>
                <a:latin typeface="Segoe UI"/>
              </a:rPr>
              <a:t>Any OpenAI-compatible endpoint</a:t>
            </a:r>
          </a:p>
          <a:p>
            <a:pPr algn="ctr"/>
            <a:r>
              <a:rPr sz="950" b="0">
                <a:solidFill>
                  <a:srgbClr val="1A1A1A"/>
                </a:solidFill>
                <a:latin typeface="Segoe UI"/>
              </a:rPr>
              <a:t>LM Studio  ·  vLLM  ·  mlx  ·  OpenRouter  ·  cloud key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A1A1A"/>
                </a:solidFill>
                <a:latin typeface="Segoe UI"/>
              </a:rPr>
              <a:t>What it is built 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41248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B6B6B"/>
                </a:solidFill>
                <a:latin typeface="Segoe UI"/>
              </a:rPr>
              <a:t>Borrow the engine, own the judgement. 186 packages, uv.lock pinned and shipped.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70432"/>
            <a:ext cx="11091672" cy="9525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27648"/>
            <a:ext cx="9692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B6B6B"/>
                </a:solidFill>
                <a:latin typeface="Segoe UI"/>
              </a:rPr>
              <a:t>Dropped on purpose: pymongo (imported by nothing) and aider-chat (its RepoMap vendored instead) — 212 -&gt; 186 packages, and no pin pressure.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32764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6B6B6B"/>
                </a:solidFill>
                <a:latin typeface="Segoe UI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2606040" cy="530352"/>
          </a:xfrm>
          <a:prstGeom prst="roundRect">
            <a:avLst>
              <a:gd name="adj" fmla="val 10000"/>
            </a:avLst>
          </a:prstGeom>
          <a:solidFill>
            <a:srgbClr val="DCE7F2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F4E79"/>
                </a:solidFill>
                <a:latin typeface="Segoe UI"/>
              </a:rPr>
              <a:t>SERVICE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057400"/>
            <a:ext cx="2606040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0">
                <a:solidFill>
                  <a:srgbClr val="1A1A1A"/>
                </a:solidFill>
                <a:latin typeface="Segoe UI"/>
              </a:rPr>
              <a:t>FastAPI + uvicorn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404872"/>
            <a:ext cx="2606040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0">
                <a:solidFill>
                  <a:srgbClr val="1A1A1A"/>
                </a:solidFill>
                <a:latin typeface="Segoe UI"/>
              </a:rPr>
              <a:t>pydantic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752344"/>
            <a:ext cx="2606040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0">
                <a:solidFill>
                  <a:srgbClr val="1A1A1A"/>
                </a:solidFill>
                <a:latin typeface="Segoe UI"/>
              </a:rPr>
              <a:t>httpx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099816"/>
            <a:ext cx="2606040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0">
                <a:solidFill>
                  <a:srgbClr val="1A1A1A"/>
                </a:solidFill>
                <a:latin typeface="Segoe UI"/>
              </a:rPr>
              <a:t>croniter (jobs)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1417320"/>
            <a:ext cx="2606040" cy="530352"/>
          </a:xfrm>
          <a:prstGeom prst="roundRect">
            <a:avLst>
              <a:gd name="adj" fmla="val 10000"/>
            </a:avLst>
          </a:prstGeom>
          <a:solidFill>
            <a:srgbClr val="DCEEE7"/>
          </a:solidFill>
          <a:ln w="12700">
            <a:solidFill>
              <a:srgbClr val="1E6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E6B52"/>
                </a:solidFill>
                <a:latin typeface="Segoe UI"/>
              </a:rPr>
              <a:t>MODEL ACCESS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2057400"/>
            <a:ext cx="2606040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E6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0">
                <a:solidFill>
                  <a:srgbClr val="1A1A1A"/>
                </a:solidFill>
                <a:latin typeface="Segoe UI"/>
              </a:rPr>
              <a:t>openai SDK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2404872"/>
            <a:ext cx="2606040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E6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0">
                <a:solidFill>
                  <a:srgbClr val="1A1A1A"/>
                </a:solidFill>
                <a:latin typeface="Segoe UI"/>
              </a:rPr>
              <a:t>litellm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2752344"/>
            <a:ext cx="2606040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E6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0">
                <a:solidFill>
                  <a:srgbClr val="1A1A1A"/>
                </a:solidFill>
                <a:latin typeface="Segoe UI"/>
              </a:rPr>
              <a:t>any OpenAI-compatible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29000" y="3099816"/>
            <a:ext cx="2606040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E6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0">
                <a:solidFill>
                  <a:srgbClr val="1A1A1A"/>
                </a:solidFill>
                <a:latin typeface="Segoe UI"/>
              </a:rPr>
              <a:t>NO vendor tool-calling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1417320"/>
            <a:ext cx="2606040" cy="530352"/>
          </a:xfrm>
          <a:prstGeom prst="roundRect">
            <a:avLst>
              <a:gd name="adj" fmla="val 10000"/>
            </a:avLst>
          </a:prstGeom>
          <a:solidFill>
            <a:srgbClr val="EAE1F0"/>
          </a:solidFill>
          <a:ln w="12700">
            <a:solidFill>
              <a:srgbClr val="5B3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5B3A6E"/>
                </a:solidFill>
                <a:latin typeface="Segoe UI"/>
              </a:rPr>
              <a:t>PIPELINE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2057400"/>
            <a:ext cx="2606040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5B3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0">
                <a:solidFill>
                  <a:srgbClr val="1A1A1A"/>
                </a:solidFill>
                <a:latin typeface="Segoe UI"/>
              </a:rPr>
              <a:t>google-adk 2.1.x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2404872"/>
            <a:ext cx="2606040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5B3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0">
                <a:solidFill>
                  <a:srgbClr val="1A1A1A"/>
                </a:solidFill>
                <a:latin typeface="Segoe UI"/>
              </a:rPr>
              <a:t>SequentialAgent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2752344"/>
            <a:ext cx="2606040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5B3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0">
                <a:solidFill>
                  <a:srgbClr val="1A1A1A"/>
                </a:solidFill>
                <a:latin typeface="Segoe UI"/>
              </a:rPr>
              <a:t>LoopAgent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099816"/>
            <a:ext cx="2606040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5B3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0">
                <a:solidFill>
                  <a:srgbClr val="1A1A1A"/>
                </a:solidFill>
                <a:latin typeface="Segoe UI"/>
              </a:rPr>
              <a:t>git worktrees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15400" y="1417320"/>
            <a:ext cx="2606040" cy="530352"/>
          </a:xfrm>
          <a:prstGeom prst="roundRect">
            <a:avLst>
              <a:gd name="adj" fmla="val 10000"/>
            </a:avLst>
          </a:prstGeom>
          <a:solidFill>
            <a:srgbClr val="F7ECD5"/>
          </a:solidFill>
          <a:ln w="12700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8A5A00"/>
                </a:solidFill>
                <a:latin typeface="Segoe UI"/>
              </a:rPr>
              <a:t>MEMORY + CODE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15400" y="2057400"/>
            <a:ext cx="2606040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0">
                <a:solidFill>
                  <a:srgbClr val="1A1A1A"/>
                </a:solidFill>
                <a:latin typeface="Segoe UI"/>
              </a:rPr>
              <a:t>SQLite + sqlite-vec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15400" y="2404872"/>
            <a:ext cx="2606040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0">
                <a:solidFill>
                  <a:srgbClr val="1A1A1A"/>
                </a:solidFill>
                <a:latin typeface="Segoe UI"/>
              </a:rPr>
              <a:t>tree-sitter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15400" y="2752344"/>
            <a:ext cx="2606040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0">
                <a:solidFill>
                  <a:srgbClr val="1A1A1A"/>
                </a:solidFill>
                <a:latin typeface="Segoe UI"/>
              </a:rPr>
              <a:t>vendored RepoMap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15400" y="3099816"/>
            <a:ext cx="2606040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0">
                <a:solidFill>
                  <a:srgbClr val="1A1A1A"/>
                </a:solidFill>
                <a:latin typeface="Segoe UI"/>
              </a:rPr>
              <a:t>model2vec embeddings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3611880"/>
            <a:ext cx="553212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E6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1E6B52"/>
                </a:solidFill>
                <a:latin typeface="Segoe UI"/>
              </a:rPr>
              <a:t>The ReAct loop is ours</a:t>
            </a:r>
          </a:p>
          <a:p>
            <a:pPr algn="ctr"/>
            <a:r>
              <a:rPr sz="1050" b="0">
                <a:solidFill>
                  <a:srgbClr val="1A1A1A"/>
                </a:solidFill>
                <a:latin typeface="Segoe UI"/>
              </a:rPr>
              <a:t>plain text THOUGHT / ACTION, not vendor function-calling —</a:t>
            </a:r>
          </a:p>
          <a:p>
            <a:pPr algn="ctr"/>
            <a:r>
              <a:rPr sz="1050" b="0">
                <a:solidFill>
                  <a:srgbClr val="1A1A1A"/>
                </a:solidFill>
                <a:latin typeface="Segoe UI"/>
              </a:rPr>
              <a:t>so a 4-bit local model drives the same 109 tools a frontier model does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46520" y="3611880"/>
            <a:ext cx="5093208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5B3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5B3A6E"/>
                </a:solidFill>
                <a:latin typeface="Segoe UI"/>
              </a:rPr>
              <a:t>ADK drives the 19-role pipeline</a:t>
            </a:r>
          </a:p>
          <a:p>
            <a:pPr algn="ctr"/>
            <a:r>
              <a:rPr sz="1050" b="0">
                <a:solidFill>
                  <a:srgbClr val="1A1A1A"/>
                </a:solidFill>
                <a:latin typeface="Segoe UI"/>
              </a:rPr>
              <a:t>SequentialAgent[ Planner, Verifier, LoopAgent[Doer, Feedback], Learner ]</a:t>
            </a:r>
          </a:p>
          <a:p>
            <a:pPr algn="ctr"/>
            <a:r>
              <a:rPr sz="1050" b="0">
                <a:solidFill>
                  <a:srgbClr val="1A1A1A"/>
                </a:solidFill>
                <a:latin typeface="Segoe UI"/>
              </a:rPr>
              <a:t>pinned &lt;2.2 — 2.3 added a Workflow validation that rejects the v6 graph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5029200"/>
            <a:ext cx="10853928" cy="868680"/>
          </a:xfrm>
          <a:prstGeom prst="roundRect">
            <a:avLst>
              <a:gd name="adj" fmla="val 10000"/>
            </a:avLst>
          </a:prstGeom>
          <a:solidFill>
            <a:srgbClr val="ECECEC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3A3A3A"/>
                </a:solidFill>
                <a:latin typeface="Segoe UI"/>
              </a:rPr>
              <a:t>How a library gets in</a:t>
            </a:r>
          </a:p>
          <a:p>
            <a:pPr algn="ctr"/>
            <a:r>
              <a:rPr sz="950" b="0">
                <a:solidFill>
                  <a:srgbClr val="1A1A1A"/>
                </a:solidFill>
                <a:latin typeface="Segoe UI"/>
              </a:rPr>
              <a:t>it earns its place or it goes: sqlite-vec is CORE, not an extra, because without it every memory write hit "no such module: vec0"  ·  aider-chat was dropped and its RepoMap vendored under Apache-2.0, proven by a differential render of 7,640 identical bytes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A1A1A"/>
                </a:solidFill>
                <a:latin typeface="Segoe UI"/>
              </a:rPr>
              <a:t>Integrations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41248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B6B6B"/>
                </a:solidFill>
                <a:latin typeface="Segoe UI"/>
              </a:rPr>
              <a:t>One HTTP integration layer. A tool with no credentials is hidden, not broken.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70432"/>
            <a:ext cx="11091672" cy="9525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27648"/>
            <a:ext cx="9692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B6B6B"/>
                </a:solidFill>
                <a:latin typeface="Segoe UI"/>
              </a:rPr>
              <a:t>Unconfigured tools return *_not_configured with a hint and drop out of the catalogue — a missing credential never crashes a turn.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32764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6B6B6B"/>
                </a:solidFill>
                <a:latin typeface="Segoe UI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17720" y="2788920"/>
            <a:ext cx="2926080" cy="914400"/>
          </a:xfrm>
          <a:prstGeom prst="roundRect">
            <a:avLst>
              <a:gd name="adj" fmla="val 10000"/>
            </a:avLst>
          </a:prstGeom>
          <a:solidFill>
            <a:srgbClr val="DCE7F2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1F4E79"/>
                </a:solidFill>
                <a:latin typeface="Segoe UI"/>
              </a:rPr>
              <a:t>AIForgeCrew</a:t>
            </a:r>
          </a:p>
          <a:p>
            <a:pPr algn="ctr"/>
            <a:r>
              <a:rPr sz="950" b="0">
                <a:solidFill>
                  <a:srgbClr val="1A1A1A"/>
                </a:solidFill>
                <a:latin typeface="Segoe UI"/>
              </a:rPr>
              <a:t>runtime/tools + integrations.json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81328"/>
            <a:ext cx="2377440" cy="868680"/>
          </a:xfrm>
          <a:prstGeom prst="roundRect">
            <a:avLst>
              <a:gd name="adj" fmla="val 10000"/>
            </a:avLst>
          </a:prstGeom>
          <a:solidFill>
            <a:srgbClr val="DCEEE7"/>
          </a:solidFill>
          <a:ln w="12700">
            <a:solidFill>
              <a:srgbClr val="1E6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1">
                <a:solidFill>
                  <a:srgbClr val="1E6B52"/>
                </a:solidFill>
                <a:latin typeface="Segoe UI"/>
              </a:rPr>
              <a:t>Jira</a:t>
            </a:r>
          </a:p>
          <a:p>
            <a:pPr algn="ctr"/>
            <a:r>
              <a:rPr sz="950" b="0">
                <a:solidFill>
                  <a:srgbClr val="1A1A1A"/>
                </a:solidFill>
                <a:latin typeface="Segoe UI"/>
              </a:rPr>
              <a:t>21 tools</a:t>
            </a:r>
          </a:p>
          <a:p>
            <a:pPr algn="ctr"/>
            <a:r>
              <a:rPr sz="950" b="0">
                <a:solidFill>
                  <a:srgbClr val="1A1A1A"/>
                </a:solidFill>
                <a:latin typeface="Segoe UI"/>
              </a:rPr>
              <a:t>issues · sprints · JQL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874519" y="2350008"/>
            <a:ext cx="4206241" cy="896112"/>
          </a:xfrm>
          <a:prstGeom prst="line">
            <a:avLst/>
          </a:prstGeom>
          <a:ln w="15875">
            <a:solidFill>
              <a:srgbClr val="C9C9C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291840" y="1481328"/>
            <a:ext cx="2377440" cy="868680"/>
          </a:xfrm>
          <a:prstGeom prst="roundRect">
            <a:avLst>
              <a:gd name="adj" fmla="val 10000"/>
            </a:avLst>
          </a:prstGeom>
          <a:solidFill>
            <a:srgbClr val="DCEEE7"/>
          </a:solidFill>
          <a:ln w="12700">
            <a:solidFill>
              <a:srgbClr val="1E6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1">
                <a:solidFill>
                  <a:srgbClr val="1E6B52"/>
                </a:solidFill>
                <a:latin typeface="Segoe UI"/>
              </a:rPr>
              <a:t>Confluence</a:t>
            </a:r>
          </a:p>
          <a:p>
            <a:pPr algn="ctr"/>
            <a:r>
              <a:rPr sz="950" b="0">
                <a:solidFill>
                  <a:srgbClr val="1A1A1A"/>
                </a:solidFill>
                <a:latin typeface="Segoe UI"/>
              </a:rPr>
              <a:t>14 tools</a:t>
            </a:r>
          </a:p>
          <a:p>
            <a:pPr algn="ctr"/>
            <a:r>
              <a:rPr sz="950" b="0">
                <a:solidFill>
                  <a:srgbClr val="1A1A1A"/>
                </a:solidFill>
                <a:latin typeface="Segoe UI"/>
              </a:rPr>
              <a:t>pages · attachments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480560" y="2350008"/>
            <a:ext cx="1600200" cy="896112"/>
          </a:xfrm>
          <a:prstGeom prst="line">
            <a:avLst/>
          </a:prstGeom>
          <a:ln w="15875">
            <a:solidFill>
              <a:srgbClr val="C9C9C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897880" y="1481328"/>
            <a:ext cx="2377440" cy="868680"/>
          </a:xfrm>
          <a:prstGeom prst="roundRect">
            <a:avLst>
              <a:gd name="adj" fmla="val 10000"/>
            </a:avLst>
          </a:prstGeom>
          <a:solidFill>
            <a:srgbClr val="DCEEE7"/>
          </a:solidFill>
          <a:ln w="12700">
            <a:solidFill>
              <a:srgbClr val="1E6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1">
                <a:solidFill>
                  <a:srgbClr val="1E6B52"/>
                </a:solidFill>
                <a:latin typeface="Segoe UI"/>
              </a:rPr>
              <a:t>GitLab</a:t>
            </a:r>
          </a:p>
          <a:p>
            <a:pPr algn="ctr"/>
            <a:r>
              <a:rPr sz="950" b="0">
                <a:solidFill>
                  <a:srgbClr val="1A1A1A"/>
                </a:solidFill>
                <a:latin typeface="Segoe UI"/>
              </a:rPr>
              <a:t>MRs · pipelines</a:t>
            </a:r>
          </a:p>
          <a:p>
            <a:pPr algn="ctr"/>
            <a:r>
              <a:rPr sz="950" b="0">
                <a:solidFill>
                  <a:srgbClr val="1A1A1A"/>
                </a:solidFill>
                <a:latin typeface="Segoe UI"/>
              </a:rPr>
              <a:t>jobs · files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6080760" y="2350008"/>
            <a:ext cx="1005840" cy="896112"/>
          </a:xfrm>
          <a:prstGeom prst="line">
            <a:avLst/>
          </a:prstGeom>
          <a:ln w="15875">
            <a:solidFill>
              <a:srgbClr val="C9C9C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503920" y="1481328"/>
            <a:ext cx="2377440" cy="868680"/>
          </a:xfrm>
          <a:prstGeom prst="roundRect">
            <a:avLst>
              <a:gd name="adj" fmla="val 10000"/>
            </a:avLst>
          </a:prstGeom>
          <a:solidFill>
            <a:srgbClr val="DCEEE7"/>
          </a:solidFill>
          <a:ln w="12700">
            <a:solidFill>
              <a:srgbClr val="1E6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1">
                <a:solidFill>
                  <a:srgbClr val="1E6B52"/>
                </a:solidFill>
                <a:latin typeface="Segoe UI"/>
              </a:rPr>
              <a:t>GitHub</a:t>
            </a:r>
          </a:p>
          <a:p>
            <a:pPr algn="ctr"/>
            <a:r>
              <a:rPr sz="950" b="0">
                <a:solidFill>
                  <a:srgbClr val="1A1A1A"/>
                </a:solidFill>
                <a:latin typeface="Segoe UI"/>
              </a:rPr>
              <a:t>pull requests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6080760" y="2350008"/>
            <a:ext cx="3611880" cy="896112"/>
          </a:xfrm>
          <a:prstGeom prst="line">
            <a:avLst/>
          </a:prstGeom>
          <a:ln w="15875">
            <a:solidFill>
              <a:srgbClr val="C9C9C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85800" y="4617720"/>
            <a:ext cx="2377440" cy="868680"/>
          </a:xfrm>
          <a:prstGeom prst="roundRect">
            <a:avLst>
              <a:gd name="adj" fmla="val 10000"/>
            </a:avLst>
          </a:prstGeom>
          <a:solidFill>
            <a:srgbClr val="F7ECD5"/>
          </a:solidFill>
          <a:ln w="12700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1">
                <a:solidFill>
                  <a:srgbClr val="8A5A00"/>
                </a:solidFill>
                <a:latin typeface="Segoe UI"/>
              </a:rPr>
              <a:t>Email</a:t>
            </a:r>
          </a:p>
          <a:p>
            <a:pPr algn="ctr"/>
            <a:r>
              <a:rPr sz="950" b="0">
                <a:solidFill>
                  <a:srgbClr val="1A1A1A"/>
                </a:solidFill>
                <a:latin typeface="Segoe UI"/>
              </a:rPr>
              <a:t>send · read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1874519" y="3703320"/>
            <a:ext cx="4206241" cy="914400"/>
          </a:xfrm>
          <a:prstGeom prst="line">
            <a:avLst/>
          </a:prstGeom>
          <a:ln w="15875">
            <a:solidFill>
              <a:srgbClr val="C9C9C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291840" y="4617720"/>
            <a:ext cx="2377440" cy="868680"/>
          </a:xfrm>
          <a:prstGeom prst="roundRect">
            <a:avLst>
              <a:gd name="adj" fmla="val 10000"/>
            </a:avLst>
          </a:prstGeom>
          <a:solidFill>
            <a:srgbClr val="F7ECD5"/>
          </a:solidFill>
          <a:ln w="12700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1">
                <a:solidFill>
                  <a:srgbClr val="8A5A00"/>
                </a:solidFill>
                <a:latin typeface="Segoe UI"/>
              </a:rPr>
              <a:t>Web</a:t>
            </a:r>
          </a:p>
          <a:p>
            <a:pPr algn="ctr"/>
            <a:r>
              <a:rPr sz="950" b="0">
                <a:solidFill>
                  <a:srgbClr val="1A1A1A"/>
                </a:solidFill>
                <a:latin typeface="Segoe UI"/>
              </a:rPr>
              <a:t>search · fetch</a:t>
            </a:r>
          </a:p>
          <a:p>
            <a:pPr algn="ctr"/>
            <a:r>
              <a:rPr sz="950" b="0">
                <a:solidFill>
                  <a:srgbClr val="1A1A1A"/>
                </a:solidFill>
                <a:latin typeface="Segoe UI"/>
              </a:rPr>
              <a:t>crawl · browser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4480560" y="3703320"/>
            <a:ext cx="1600200" cy="914400"/>
          </a:xfrm>
          <a:prstGeom prst="line">
            <a:avLst/>
          </a:prstGeom>
          <a:ln w="15875">
            <a:solidFill>
              <a:srgbClr val="C9C9C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897880" y="4617720"/>
            <a:ext cx="2377440" cy="868680"/>
          </a:xfrm>
          <a:prstGeom prst="roundRect">
            <a:avLst>
              <a:gd name="adj" fmla="val 10000"/>
            </a:avLst>
          </a:prstGeom>
          <a:solidFill>
            <a:srgbClr val="EAE1F0"/>
          </a:solidFill>
          <a:ln w="12700">
            <a:solidFill>
              <a:srgbClr val="5B3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1">
                <a:solidFill>
                  <a:srgbClr val="5B3A6E"/>
                </a:solidFill>
                <a:latin typeface="Segoe UI"/>
              </a:rPr>
              <a:t>MCP</a:t>
            </a:r>
          </a:p>
          <a:p>
            <a:pPr algn="ctr"/>
            <a:r>
              <a:rPr sz="950" b="0">
                <a:solidFill>
                  <a:srgbClr val="1A1A1A"/>
                </a:solidFill>
                <a:latin typeface="Segoe UI"/>
              </a:rPr>
              <a:t>any MCP server</a:t>
            </a:r>
          </a:p>
        </p:txBody>
      </p:sp>
      <p:cxnSp>
        <p:nvCxnSpPr>
          <p:cNvPr id="21" name="Connector 20"/>
          <p:cNvCxnSpPr/>
          <p:nvPr/>
        </p:nvCxnSpPr>
        <p:spPr>
          <a:xfrm flipH="1" flipV="1">
            <a:off x="6080760" y="3703320"/>
            <a:ext cx="1005840" cy="914400"/>
          </a:xfrm>
          <a:prstGeom prst="line">
            <a:avLst/>
          </a:prstGeom>
          <a:ln w="15875">
            <a:solidFill>
              <a:srgbClr val="C9C9C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503920" y="4617720"/>
            <a:ext cx="2377440" cy="868680"/>
          </a:xfrm>
          <a:prstGeom prst="roundRect">
            <a:avLst>
              <a:gd name="adj" fmla="val 10000"/>
            </a:avLst>
          </a:prstGeom>
          <a:solidFill>
            <a:srgbClr val="ECECEC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1">
                <a:solidFill>
                  <a:srgbClr val="3A3A3A"/>
                </a:solidFill>
                <a:latin typeface="Segoe UI"/>
              </a:rPr>
              <a:t>Local host</a:t>
            </a:r>
          </a:p>
          <a:p>
            <a:pPr algn="ctr"/>
            <a:r>
              <a:rPr sz="950" b="0">
                <a:solidFill>
                  <a:srgbClr val="1A1A1A"/>
                </a:solidFill>
                <a:latin typeface="Segoe UI"/>
              </a:rPr>
              <a:t>shell · LSP · tests</a:t>
            </a:r>
          </a:p>
          <a:p>
            <a:pPr algn="ctr"/>
            <a:r>
              <a:rPr sz="950" b="0">
                <a:solidFill>
                  <a:srgbClr val="1A1A1A"/>
                </a:solidFill>
                <a:latin typeface="Segoe UI"/>
              </a:rPr>
              <a:t>typecheck · IPython</a:t>
            </a:r>
          </a:p>
        </p:txBody>
      </p:sp>
      <p:cxnSp>
        <p:nvCxnSpPr>
          <p:cNvPr id="23" name="Connector 22"/>
          <p:cNvCxnSpPr/>
          <p:nvPr/>
        </p:nvCxnSpPr>
        <p:spPr>
          <a:xfrm flipH="1" flipV="1">
            <a:off x="6080760" y="3703320"/>
            <a:ext cx="3611880" cy="914400"/>
          </a:xfrm>
          <a:prstGeom prst="line">
            <a:avLst/>
          </a:prstGeom>
          <a:ln w="15875">
            <a:solidFill>
              <a:srgbClr val="C9C9C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85800" y="5897880"/>
            <a:ext cx="155448" cy="155448"/>
          </a:xfrm>
          <a:prstGeom prst="roundRect">
            <a:avLst/>
          </a:prstGeom>
          <a:solidFill>
            <a:srgbClr val="DCEEE7"/>
          </a:solidFill>
          <a:ln>
            <a:solidFill>
              <a:srgbClr val="1E6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" y="5879592"/>
            <a:ext cx="21031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B6B6B"/>
                </a:solidFill>
                <a:latin typeface="Segoe UI"/>
              </a:rPr>
              <a:t>work trackers / VCS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037283" y="5897880"/>
            <a:ext cx="155448" cy="155448"/>
          </a:xfrm>
          <a:prstGeom prst="roundRect">
            <a:avLst/>
          </a:prstGeom>
          <a:solidFill>
            <a:srgbClr val="F7ECD5"/>
          </a:solidFill>
          <a:ln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56739" y="5879592"/>
            <a:ext cx="21031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B6B6B"/>
                </a:solidFill>
                <a:latin typeface="Segoe UI"/>
              </a:rPr>
              <a:t>outside world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48609" y="5897880"/>
            <a:ext cx="155448" cy="155448"/>
          </a:xfrm>
          <a:prstGeom prst="roundRect">
            <a:avLst/>
          </a:prstGeom>
          <a:solidFill>
            <a:srgbClr val="EAE1F0"/>
          </a:solidFill>
          <a:ln>
            <a:solidFill>
              <a:srgbClr val="5B3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68065" y="5879592"/>
            <a:ext cx="21031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B6B6B"/>
                </a:solidFill>
                <a:latin typeface="Segoe UI"/>
              </a:rPr>
              <a:t>extensible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889857" y="5897880"/>
            <a:ext cx="155448" cy="155448"/>
          </a:xfrm>
          <a:prstGeom prst="roundRect">
            <a:avLst/>
          </a:prstGeom>
          <a:solidFill>
            <a:srgbClr val="ECECEC"/>
          </a:solidFill>
          <a:ln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09313" y="5879592"/>
            <a:ext cx="21031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B6B6B"/>
                </a:solidFill>
                <a:latin typeface="Segoe UI"/>
              </a:rPr>
              <a:t>the machine itself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A1A1A"/>
                </a:solidFill>
                <a:latin typeface="Segoe UI"/>
              </a:rPr>
              <a:t>How chat works — Simple, Plan,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41248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B6B6B"/>
                </a:solidFill>
                <a:latin typeface="Segoe UI"/>
              </a:rPr>
              <a:t>Three modes, one engine. The mode decides who runs and what may be written.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70432"/>
            <a:ext cx="11091672" cy="9525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27648"/>
            <a:ext cx="9692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B6B6B"/>
                </a:solidFill>
                <a:latin typeface="Segoe UI"/>
              </a:rPr>
              <a:t>Plain-text ReAct, so no vendor function-calling is required and any model can drive it. A turn can be stopped and resumed, not restarted.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32764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6B6B6B"/>
                </a:solidFill>
                <a:latin typeface="Segoe U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B6B6B"/>
                </a:solidFill>
                <a:latin typeface="Segoe UI"/>
              </a:rPr>
              <a:t>THE TURN LOOP  (all three modes)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00200"/>
            <a:ext cx="1673352" cy="685800"/>
          </a:xfrm>
          <a:prstGeom prst="roundRect">
            <a:avLst>
              <a:gd name="adj" fmla="val 10000"/>
            </a:avLst>
          </a:prstGeom>
          <a:solidFill>
            <a:srgbClr val="DCE7F2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>
                <a:solidFill>
                  <a:srgbClr val="1F4E79"/>
                </a:solidFill>
                <a:latin typeface="Segoe UI"/>
              </a:rPr>
              <a:t>Build context</a:t>
            </a:r>
          </a:p>
          <a:p>
            <a:pPr algn="ctr"/>
            <a:r>
              <a:rPr sz="850" b="0">
                <a:solidFill>
                  <a:srgbClr val="1A1A1A"/>
                </a:solidFill>
                <a:latin typeface="Segoe UI"/>
              </a:rPr>
              <a:t>context_bundle()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359152" y="1938528"/>
            <a:ext cx="182880" cy="0"/>
          </a:xfrm>
          <a:prstGeom prst="line">
            <a:avLst/>
          </a:prstGeom>
          <a:ln w="19050">
            <a:solidFill>
              <a:srgbClr val="C9C9C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542032" y="1600200"/>
            <a:ext cx="1673352" cy="685800"/>
          </a:xfrm>
          <a:prstGeom prst="roundRect">
            <a:avLst>
              <a:gd name="adj" fmla="val 10000"/>
            </a:avLst>
          </a:prstGeom>
          <a:solidFill>
            <a:srgbClr val="DCE7F2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>
                <a:solidFill>
                  <a:srgbClr val="1F4E79"/>
                </a:solidFill>
                <a:latin typeface="Segoe UI"/>
              </a:rPr>
              <a:t>Model call</a:t>
            </a:r>
          </a:p>
          <a:p>
            <a:pPr algn="ctr"/>
            <a:r>
              <a:rPr sz="850" b="0">
                <a:solidFill>
                  <a:srgbClr val="1A1A1A"/>
                </a:solidFill>
                <a:latin typeface="Segoe UI"/>
              </a:rPr>
              <a:t>THOUGHT / ACTION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215384" y="1938528"/>
            <a:ext cx="182880" cy="0"/>
          </a:xfrm>
          <a:prstGeom prst="line">
            <a:avLst/>
          </a:prstGeom>
          <a:ln w="19050">
            <a:solidFill>
              <a:srgbClr val="C9C9C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398264" y="1600200"/>
            <a:ext cx="1673352" cy="685800"/>
          </a:xfrm>
          <a:prstGeom prst="roundRect">
            <a:avLst>
              <a:gd name="adj" fmla="val 10000"/>
            </a:avLst>
          </a:prstGeom>
          <a:solidFill>
            <a:srgbClr val="DCE7F2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>
                <a:solidFill>
                  <a:srgbClr val="1F4E79"/>
                </a:solidFill>
                <a:latin typeface="Segoe UI"/>
              </a:rPr>
              <a:t>Gate</a:t>
            </a:r>
          </a:p>
          <a:p>
            <a:pPr algn="ctr"/>
            <a:r>
              <a:rPr sz="850" b="0">
                <a:solidFill>
                  <a:srgbClr val="1A1A1A"/>
                </a:solidFill>
                <a:latin typeface="Segoe UI"/>
              </a:rPr>
              <a:t>policy + risk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71616" y="1938528"/>
            <a:ext cx="182880" cy="0"/>
          </a:xfrm>
          <a:prstGeom prst="line">
            <a:avLst/>
          </a:prstGeom>
          <a:ln w="19050">
            <a:solidFill>
              <a:srgbClr val="C9C9C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254496" y="1600200"/>
            <a:ext cx="1673352" cy="685800"/>
          </a:xfrm>
          <a:prstGeom prst="roundRect">
            <a:avLst>
              <a:gd name="adj" fmla="val 10000"/>
            </a:avLst>
          </a:prstGeom>
          <a:solidFill>
            <a:srgbClr val="DCE7F2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>
                <a:solidFill>
                  <a:srgbClr val="1F4E79"/>
                </a:solidFill>
                <a:latin typeface="Segoe UI"/>
              </a:rPr>
              <a:t>Run tool</a:t>
            </a:r>
          </a:p>
          <a:p>
            <a:pPr algn="ctr"/>
            <a:r>
              <a:rPr sz="850" b="0">
                <a:solidFill>
                  <a:srgbClr val="1A1A1A"/>
                </a:solidFill>
                <a:latin typeface="Segoe UI"/>
              </a:rPr>
              <a:t>diff shown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927848" y="1938528"/>
            <a:ext cx="182880" cy="0"/>
          </a:xfrm>
          <a:prstGeom prst="line">
            <a:avLst/>
          </a:prstGeom>
          <a:ln w="19050">
            <a:solidFill>
              <a:srgbClr val="C9C9C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110728" y="1600200"/>
            <a:ext cx="1673352" cy="685800"/>
          </a:xfrm>
          <a:prstGeom prst="roundRect">
            <a:avLst>
              <a:gd name="adj" fmla="val 10000"/>
            </a:avLst>
          </a:prstGeom>
          <a:solidFill>
            <a:srgbClr val="DCE7F2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>
                <a:solidFill>
                  <a:srgbClr val="1F4E79"/>
                </a:solidFill>
                <a:latin typeface="Segoe UI"/>
              </a:rPr>
              <a:t>Observe</a:t>
            </a:r>
          </a:p>
          <a:p>
            <a:pPr algn="ctr"/>
            <a:r>
              <a:rPr sz="850" b="0">
                <a:solidFill>
                  <a:srgbClr val="1A1A1A"/>
                </a:solidFill>
                <a:latin typeface="Segoe UI"/>
              </a:rPr>
              <a:t>condense if near limit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784080" y="1938528"/>
            <a:ext cx="182880" cy="0"/>
          </a:xfrm>
          <a:prstGeom prst="line">
            <a:avLst/>
          </a:prstGeom>
          <a:ln w="19050">
            <a:solidFill>
              <a:srgbClr val="C9C9C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966960" y="1600200"/>
            <a:ext cx="1673352" cy="685800"/>
          </a:xfrm>
          <a:prstGeom prst="roundRect">
            <a:avLst>
              <a:gd name="adj" fmla="val 10000"/>
            </a:avLst>
          </a:prstGeom>
          <a:solidFill>
            <a:srgbClr val="DCE7F2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>
                <a:solidFill>
                  <a:srgbClr val="1F4E79"/>
                </a:solidFill>
                <a:latin typeface="Segoe UI"/>
              </a:rPr>
              <a:t>FINAL</a:t>
            </a:r>
          </a:p>
          <a:p>
            <a:pPr algn="ctr"/>
            <a:r>
              <a:rPr sz="850" b="0">
                <a:solidFill>
                  <a:srgbClr val="1A1A1A"/>
                </a:solidFill>
                <a:latin typeface="Segoe UI"/>
              </a:rPr>
              <a:t>+ next-step chip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2359152"/>
            <a:ext cx="108813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Segoe UI"/>
              </a:rPr>
              <a:t>loops until FINAL, the step cap, the turn deadline, or Stop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2761488"/>
            <a:ext cx="3502152" cy="566928"/>
          </a:xfrm>
          <a:prstGeom prst="roundRect">
            <a:avLst>
              <a:gd name="adj" fmla="val 10000"/>
            </a:avLst>
          </a:prstGeom>
          <a:solidFill>
            <a:srgbClr val="DCEEE7"/>
          </a:solidFill>
          <a:ln w="12700">
            <a:solidFill>
              <a:srgbClr val="1E6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1E6B52"/>
                </a:solidFill>
                <a:latin typeface="Segoe UI"/>
              </a:rPr>
              <a:t>SIMPLE</a:t>
            </a:r>
          </a:p>
          <a:p>
            <a:pPr algn="ctr"/>
            <a:r>
              <a:rPr sz="950" b="0">
                <a:solidFill>
                  <a:srgbClr val="1A1A1A"/>
                </a:solidFill>
                <a:latin typeface="Segoe UI"/>
              </a:rPr>
              <a:t>one agent, full tools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456432"/>
            <a:ext cx="3502152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0">
                <a:solidFill>
                  <a:srgbClr val="1A1A1A"/>
                </a:solidFill>
                <a:latin typeface="Segoe UI"/>
              </a:rPr>
              <a:t>Single ReAct agent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803904"/>
            <a:ext cx="3502152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0">
                <a:solidFill>
                  <a:srgbClr val="1A1A1A"/>
                </a:solidFill>
                <a:latin typeface="Segoe UI"/>
              </a:rPr>
              <a:t>Reads and WRITES files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151376"/>
            <a:ext cx="3502152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0">
                <a:solidFill>
                  <a:srgbClr val="1A1A1A"/>
                </a:solidFill>
                <a:latin typeface="Segoe UI"/>
              </a:rPr>
              <a:t>Quick mode caps steps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498848"/>
            <a:ext cx="3502152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0">
                <a:solidFill>
                  <a:srgbClr val="1A1A1A"/>
                </a:solidFill>
                <a:latin typeface="Segoe UI"/>
              </a:rPr>
              <a:t>Approvals: off by default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956048"/>
            <a:ext cx="3502152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E6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0">
                <a:solidFill>
                  <a:srgbClr val="1E6B52"/>
                </a:solidFill>
                <a:latin typeface="Segoe UI"/>
              </a:rPr>
              <a:t>Everyday edits, fixes, questions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70832" y="2761488"/>
            <a:ext cx="3502152" cy="566928"/>
          </a:xfrm>
          <a:prstGeom prst="roundRect">
            <a:avLst>
              <a:gd name="adj" fmla="val 10000"/>
            </a:avLst>
          </a:prstGeom>
          <a:solidFill>
            <a:srgbClr val="F7ECD5"/>
          </a:solidFill>
          <a:ln w="12700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8A5A00"/>
                </a:solidFill>
                <a:latin typeface="Segoe UI"/>
              </a:rPr>
              <a:t>PLAN</a:t>
            </a:r>
          </a:p>
          <a:p>
            <a:pPr algn="ctr"/>
            <a:r>
              <a:rPr sz="950" b="0">
                <a:solidFill>
                  <a:srgbClr val="1A1A1A"/>
                </a:solidFill>
                <a:latin typeface="Segoe UI"/>
              </a:rPr>
              <a:t>read-only, no writes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70832" y="3456432"/>
            <a:ext cx="3502152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0">
                <a:solidFill>
                  <a:srgbClr val="1A1A1A"/>
                </a:solidFill>
                <a:latin typeface="Segoe UI"/>
              </a:rPr>
              <a:t>Same loop, write tools removed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70832" y="3803904"/>
            <a:ext cx="3502152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0">
                <a:solidFill>
                  <a:srgbClr val="1A1A1A"/>
                </a:solidFill>
                <a:latin typeface="Segoe UI"/>
              </a:rPr>
              <a:t>Produces a plan, not a diff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70832" y="4151376"/>
            <a:ext cx="3502152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0">
                <a:solidFill>
                  <a:srgbClr val="1A1A1A"/>
                </a:solidFill>
                <a:latin typeface="Segoe UI"/>
              </a:rPr>
              <a:t>memory_lookup active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70832" y="4498848"/>
            <a:ext cx="3502152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0">
                <a:solidFill>
                  <a:srgbClr val="1A1A1A"/>
                </a:solidFill>
                <a:latin typeface="Segoe UI"/>
              </a:rPr>
              <a:t>Approvals: 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70832" y="4956048"/>
            <a:ext cx="3502152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0">
                <a:solidFill>
                  <a:srgbClr val="8A5A00"/>
                </a:solidFill>
                <a:latin typeface="Segoe UI"/>
              </a:rPr>
              <a:t>Decide before you spend tokens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55864" y="2761488"/>
            <a:ext cx="3502152" cy="566928"/>
          </a:xfrm>
          <a:prstGeom prst="roundRect">
            <a:avLst>
              <a:gd name="adj" fmla="val 10000"/>
            </a:avLst>
          </a:prstGeom>
          <a:solidFill>
            <a:srgbClr val="EAE1F0"/>
          </a:solidFill>
          <a:ln w="12700">
            <a:solidFill>
              <a:srgbClr val="5B3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5B3A6E"/>
                </a:solidFill>
                <a:latin typeface="Segoe UI"/>
              </a:rPr>
              <a:t>TEAM</a:t>
            </a:r>
          </a:p>
          <a:p>
            <a:pPr algn="ctr"/>
            <a:r>
              <a:rPr sz="950" b="0">
                <a:solidFill>
                  <a:srgbClr val="1A1A1A"/>
                </a:solidFill>
                <a:latin typeface="Segoe UI"/>
              </a:rPr>
              <a:t>the full 19-agent pipeline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55864" y="3456432"/>
            <a:ext cx="3502152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0">
                <a:solidFill>
                  <a:srgbClr val="1A1A1A"/>
                </a:solidFill>
                <a:latin typeface="Segoe UI"/>
              </a:rPr>
              <a:t>ADK pipeline without a ticket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55864" y="3803904"/>
            <a:ext cx="3502152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0">
                <a:solidFill>
                  <a:srgbClr val="1A1A1A"/>
                </a:solidFill>
                <a:latin typeface="Segoe UI"/>
              </a:rPr>
              <a:t>Fans out to 4 worktrees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55864" y="4151376"/>
            <a:ext cx="3502152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0">
                <a:solidFill>
                  <a:srgbClr val="1A1A1A"/>
                </a:solidFill>
                <a:latin typeface="Segoe UI"/>
              </a:rPr>
              <a:t>One SPEC.md, then reconciled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55864" y="4498848"/>
            <a:ext cx="3502152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0">
                <a:solidFill>
                  <a:srgbClr val="1A1A1A"/>
                </a:solidFill>
                <a:latin typeface="Segoe UI"/>
              </a:rPr>
              <a:t>Approvals: off by default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55864" y="4956048"/>
            <a:ext cx="3502152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5B3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0">
                <a:solidFill>
                  <a:srgbClr val="5B3A6E"/>
                </a:solidFill>
                <a:latin typeface="Segoe UI"/>
              </a:rPr>
              <a:t>Multi-file builds from one ask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5800" y="5623560"/>
            <a:ext cx="10881360" cy="502920"/>
          </a:xfrm>
          <a:prstGeom prst="roundRect">
            <a:avLst>
              <a:gd name="adj" fmla="val 10000"/>
            </a:avLst>
          </a:prstGeom>
          <a:solidFill>
            <a:srgbClr val="ECECEC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>
                <a:solidFill>
                  <a:srgbClr val="3A3A3A"/>
                </a:solidFill>
                <a:latin typeface="Segoe UI"/>
              </a:rPr>
              <a:t>Team mode = the ticket pipeline with the ticket removed</a:t>
            </a:r>
          </a:p>
          <a:p>
            <a:pPr algn="ctr"/>
            <a:r>
              <a:rPr sz="950" b="0">
                <a:solidFill>
                  <a:srgbClr val="1A1A1A"/>
                </a:solidFill>
                <a:latin typeface="Segoe UI"/>
              </a:rPr>
              <a:t>Triage → Enhancer → Architect → Planner → Verifier → Doer ↔ Refiner ↔ Feedback → Validator → Live-verifier → Learner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A1A1A"/>
                </a:solidFill>
                <a:latin typeface="Segoe UI"/>
              </a:rPr>
              <a:t>What happens when you type a message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41248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B6B6B"/>
                </a:solidFill>
                <a:latin typeface="Segoe UI"/>
              </a:rPr>
              <a:t>Two passes, opposite directions — then the loop.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70432"/>
            <a:ext cx="11091672" cy="9525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27648"/>
            <a:ext cx="9692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B6B6B"/>
                </a:solidFill>
                <a:latin typeface="Segoe UI"/>
              </a:rPr>
              <a:t>Most messages skip the save step entirely: a cheap keyword pre-check decides, so an ordinary turn costs no extra model call.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32764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6B6B6B"/>
                </a:solidFill>
                <a:latin typeface="Segoe UI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178308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A1A1A"/>
                </a:solidFill>
                <a:latin typeface="Segoe UI"/>
              </a:rPr>
              <a:t>message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68880" y="1737360"/>
            <a:ext cx="320040" cy="0"/>
          </a:xfrm>
          <a:prstGeom prst="line">
            <a:avLst/>
          </a:prstGeom>
          <a:ln w="19050">
            <a:solidFill>
              <a:srgbClr val="C9C9C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788920" y="1298448"/>
            <a:ext cx="8750808" cy="877824"/>
          </a:xfrm>
          <a:prstGeom prst="roundRect">
            <a:avLst>
              <a:gd name="adj" fmla="val 10000"/>
            </a:avLst>
          </a:prstGeom>
          <a:solidFill>
            <a:srgbClr val="F7ECD5"/>
          </a:solidFill>
          <a:ln w="12700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8A5A00"/>
                </a:solidFill>
                <a:latin typeface="Segoe UI"/>
              </a:rPr>
              <a:t>1.  SAVE   —   anything here worth remembering?</a:t>
            </a:r>
          </a:p>
          <a:p>
            <a:pPr algn="ctr"/>
            <a:r>
              <a:rPr sz="950" b="0">
                <a:solidFill>
                  <a:srgbClr val="1A1A1A"/>
                </a:solidFill>
                <a:latin typeface="Segoe UI"/>
              </a:rPr>
              <a:t>pre-filter (free)  -&gt;  classify  -&gt;  rule | memory | feedback | none  +  scope  -&gt;  store</a:t>
            </a:r>
          </a:p>
          <a:p>
            <a:pPr algn="ctr"/>
            <a:r>
              <a:rPr sz="950" b="0">
                <a:solidFill>
                  <a:srgbClr val="1A1A1A"/>
                </a:solidFill>
                <a:latin typeface="Segoe UI"/>
              </a:rPr>
              <a:t>pure directive with no task?  -&gt;  "Got it, saved."  and the agent never runs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132320" y="2176272"/>
            <a:ext cx="0" cy="219456"/>
          </a:xfrm>
          <a:prstGeom prst="line">
            <a:avLst/>
          </a:prstGeom>
          <a:ln w="19050">
            <a:solidFill>
              <a:srgbClr val="C9C9C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788920" y="2395728"/>
            <a:ext cx="8750808" cy="877824"/>
          </a:xfrm>
          <a:prstGeom prst="roundRect">
            <a:avLst>
              <a:gd name="adj" fmla="val 10000"/>
            </a:avLst>
          </a:prstGeom>
          <a:solidFill>
            <a:srgbClr val="DCEEE7"/>
          </a:solidFill>
          <a:ln w="12700">
            <a:solidFill>
              <a:srgbClr val="1E6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E6B52"/>
                </a:solidFill>
                <a:latin typeface="Segoe UI"/>
              </a:rPr>
              <a:t>2.  GATHER   —   what do I already know that applies?</a:t>
            </a:r>
          </a:p>
          <a:p>
            <a:pPr algn="ctr"/>
            <a:r>
              <a:rPr sz="950" b="0">
                <a:solidFill>
                  <a:srgbClr val="1A1A1A"/>
                </a:solidFill>
                <a:latin typeface="Segoe UI"/>
              </a:rPr>
              <a:t>preferences  ·  rules (glob-matched)  ·  skills + workflows (relevance)  ·  repo map  ·  memory recall</a:t>
            </a:r>
          </a:p>
          <a:p>
            <a:pPr algn="ctr"/>
            <a:r>
              <a:rPr sz="950" b="0">
                <a:solidFill>
                  <a:srgbClr val="1A1A1A"/>
                </a:solidFill>
                <a:latin typeface="Segoe UI"/>
              </a:rPr>
              <a:t>assembled in ONE place, so adding a context source touches one function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132320" y="3273552"/>
            <a:ext cx="0" cy="219456"/>
          </a:xfrm>
          <a:prstGeom prst="line">
            <a:avLst/>
          </a:prstGeom>
          <a:ln w="19050">
            <a:solidFill>
              <a:srgbClr val="C9C9C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788920" y="3493008"/>
            <a:ext cx="8750808" cy="566928"/>
          </a:xfrm>
          <a:prstGeom prst="roundRect">
            <a:avLst>
              <a:gd name="adj" fmla="val 10000"/>
            </a:avLst>
          </a:prstGeom>
          <a:solidFill>
            <a:srgbClr val="DCE7F2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F4E79"/>
                </a:solidFill>
                <a:latin typeface="Segoe UI"/>
              </a:rPr>
              <a:t>3.  THE LOOP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88920" y="4160520"/>
            <a:ext cx="1664208" cy="621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1F4E79"/>
                </a:solidFill>
                <a:latin typeface="Segoe UI"/>
              </a:rPr>
              <a:t>think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453128" y="4471416"/>
            <a:ext cx="100584" cy="0"/>
          </a:xfrm>
          <a:prstGeom prst="line">
            <a:avLst/>
          </a:prstGeom>
          <a:ln w="19050">
            <a:solidFill>
              <a:srgbClr val="C9C9C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553712" y="4160520"/>
            <a:ext cx="1664208" cy="621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1F4E79"/>
                </a:solidFill>
                <a:latin typeface="Segoe UI"/>
              </a:rPr>
              <a:t>pick a tool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217920" y="4471416"/>
            <a:ext cx="100584" cy="0"/>
          </a:xfrm>
          <a:prstGeom prst="line">
            <a:avLst/>
          </a:prstGeom>
          <a:ln w="19050">
            <a:solidFill>
              <a:srgbClr val="C9C9C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318504" y="4160520"/>
            <a:ext cx="1664208" cy="621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1F4E79"/>
                </a:solidFill>
                <a:latin typeface="Segoe UI"/>
              </a:rPr>
              <a:t>safety gate</a:t>
            </a:r>
          </a:p>
          <a:p>
            <a:pPr algn="ctr"/>
            <a:r>
              <a:rPr sz="800" b="0">
                <a:solidFill>
                  <a:srgbClr val="1A1A1A"/>
                </a:solidFill>
                <a:latin typeface="Segoe UI"/>
              </a:rPr>
              <a:t>approve / reject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982712" y="4471416"/>
            <a:ext cx="100584" cy="0"/>
          </a:xfrm>
          <a:prstGeom prst="line">
            <a:avLst/>
          </a:prstGeom>
          <a:ln w="19050">
            <a:solidFill>
              <a:srgbClr val="C9C9C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083296" y="4160520"/>
            <a:ext cx="1664208" cy="621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1F4E79"/>
                </a:solidFill>
                <a:latin typeface="Segoe UI"/>
              </a:rPr>
              <a:t>run it</a:t>
            </a:r>
          </a:p>
          <a:p>
            <a:pPr algn="ctr"/>
            <a:r>
              <a:rPr sz="800" b="0">
                <a:solidFill>
                  <a:srgbClr val="1A1A1A"/>
                </a:solidFill>
                <a:latin typeface="Segoe UI"/>
              </a:rPr>
              <a:t>diff shown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747504" y="4471416"/>
            <a:ext cx="100584" cy="0"/>
          </a:xfrm>
          <a:prstGeom prst="line">
            <a:avLst/>
          </a:prstGeom>
          <a:ln w="19050">
            <a:solidFill>
              <a:srgbClr val="C9C9C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848088" y="4160520"/>
            <a:ext cx="1664208" cy="621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1F4E79"/>
                </a:solidFill>
                <a:latin typeface="Segoe UI"/>
              </a:rPr>
              <a:t>observe</a:t>
            </a:r>
          </a:p>
          <a:p>
            <a:pPr algn="ctr"/>
            <a:r>
              <a:rPr sz="800" b="0">
                <a:solidFill>
                  <a:srgbClr val="1A1A1A"/>
                </a:solidFill>
                <a:latin typeface="Segoe UI"/>
              </a:rPr>
              <a:t>condense if full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8920" y="4846320"/>
            <a:ext cx="875080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6B6B6B"/>
                </a:solidFill>
                <a:latin typeface="Segoe UI"/>
              </a:rPr>
              <a:t>repeats until FINAL, the step cap, the turn deadline, or Stop  —  a stopped turn RESUMES, it does not restart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132320" y="5102352"/>
            <a:ext cx="0" cy="219456"/>
          </a:xfrm>
          <a:prstGeom prst="line">
            <a:avLst/>
          </a:prstGeom>
          <a:ln w="19050">
            <a:solidFill>
              <a:srgbClr val="C9C9C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2788920" y="5321808"/>
            <a:ext cx="8750808" cy="640080"/>
          </a:xfrm>
          <a:prstGeom prst="roundRect">
            <a:avLst>
              <a:gd name="adj" fmla="val 10000"/>
            </a:avLst>
          </a:prstGeom>
          <a:solidFill>
            <a:srgbClr val="ECECEC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3A3A3A"/>
                </a:solidFill>
                <a:latin typeface="Segoe UI"/>
              </a:rPr>
              <a:t>4.  REPLY   +   predicted next step</a:t>
            </a:r>
          </a:p>
          <a:p>
            <a:pPr algn="ctr"/>
            <a:r>
              <a:rPr sz="950" b="0">
                <a:solidFill>
                  <a:srgbClr val="1A1A1A"/>
                </a:solidFill>
                <a:latin typeface="Segoe UI"/>
              </a:rPr>
              <a:t>it ACTS on that prediction only inside the blast-radius table — otherwise it offers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A1A1A"/>
                </a:solidFill>
                <a:latin typeface="Segoe UI"/>
              </a:rPr>
              <a:t>How a ticket becomes a PR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41248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B6B6B"/>
                </a:solidFill>
                <a:latin typeface="Segoe UI"/>
              </a:rPr>
              <a:t>The same tools, driven by 19 specialised roles instead of one.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70432"/>
            <a:ext cx="11091672" cy="9525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27648"/>
            <a:ext cx="9692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B6B6B"/>
                </a:solidFill>
                <a:latin typeface="Segoe UI"/>
              </a:rPr>
              <a:t>Context gatherers run in parallel — researcher, repo-map (tree-sitter + PageRank over the AST), conventions.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32764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6B6B6B"/>
                </a:solidFill>
                <a:latin typeface="Segoe UI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63040"/>
            <a:ext cx="2011680" cy="658368"/>
          </a:xfrm>
          <a:prstGeom prst="roundRect">
            <a:avLst>
              <a:gd name="adj" fmla="val 10000"/>
            </a:avLst>
          </a:prstGeom>
          <a:solidFill>
            <a:srgbClr val="DCE7F2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F4E79"/>
                </a:solidFill>
                <a:latin typeface="Segoe UI"/>
              </a:rPr>
              <a:t>Triage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97480" y="1792224"/>
            <a:ext cx="182880" cy="0"/>
          </a:xfrm>
          <a:prstGeom prst="line">
            <a:avLst/>
          </a:prstGeom>
          <a:ln w="19050">
            <a:solidFill>
              <a:srgbClr val="C9C9C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80360" y="1463040"/>
            <a:ext cx="2011680" cy="658368"/>
          </a:xfrm>
          <a:prstGeom prst="roundRect">
            <a:avLst>
              <a:gd name="adj" fmla="val 10000"/>
            </a:avLst>
          </a:prstGeom>
          <a:solidFill>
            <a:srgbClr val="DCE7F2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F4E79"/>
                </a:solidFill>
                <a:latin typeface="Segoe UI"/>
              </a:rPr>
              <a:t>Enhancer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892040" y="1792224"/>
            <a:ext cx="182880" cy="0"/>
          </a:xfrm>
          <a:prstGeom prst="line">
            <a:avLst/>
          </a:prstGeom>
          <a:ln w="19050">
            <a:solidFill>
              <a:srgbClr val="C9C9C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074920" y="1463040"/>
            <a:ext cx="2011680" cy="658368"/>
          </a:xfrm>
          <a:prstGeom prst="roundRect">
            <a:avLst>
              <a:gd name="adj" fmla="val 10000"/>
            </a:avLst>
          </a:prstGeom>
          <a:solidFill>
            <a:srgbClr val="DCE7F2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F4E79"/>
                </a:solidFill>
                <a:latin typeface="Segoe UI"/>
              </a:rPr>
              <a:t>Architect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086600" y="1792224"/>
            <a:ext cx="182880" cy="0"/>
          </a:xfrm>
          <a:prstGeom prst="line">
            <a:avLst/>
          </a:prstGeom>
          <a:ln w="19050">
            <a:solidFill>
              <a:srgbClr val="C9C9C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269480" y="1463040"/>
            <a:ext cx="2011680" cy="658368"/>
          </a:xfrm>
          <a:prstGeom prst="roundRect">
            <a:avLst>
              <a:gd name="adj" fmla="val 10000"/>
            </a:avLst>
          </a:prstGeom>
          <a:solidFill>
            <a:srgbClr val="DCE7F2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F4E79"/>
                </a:solidFill>
                <a:latin typeface="Segoe UI"/>
              </a:rPr>
              <a:t>Planner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281160" y="1792224"/>
            <a:ext cx="182880" cy="0"/>
          </a:xfrm>
          <a:prstGeom prst="line">
            <a:avLst/>
          </a:prstGeom>
          <a:ln w="19050">
            <a:solidFill>
              <a:srgbClr val="C9C9C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464040" y="1463040"/>
            <a:ext cx="2011680" cy="658368"/>
          </a:xfrm>
          <a:prstGeom prst="roundRect">
            <a:avLst>
              <a:gd name="adj" fmla="val 10000"/>
            </a:avLst>
          </a:prstGeom>
          <a:solidFill>
            <a:srgbClr val="DCE7F2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F4E79"/>
                </a:solidFill>
                <a:latin typeface="Segoe UI"/>
              </a:rPr>
              <a:t>Verifier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514600"/>
            <a:ext cx="10835640" cy="1417320"/>
          </a:xfrm>
          <a:prstGeom prst="roundRect">
            <a:avLst>
              <a:gd name="adj" fmla="val 10000"/>
            </a:avLst>
          </a:prstGeom>
          <a:solidFill>
            <a:srgbClr val="DCEEE7"/>
          </a:solidFill>
          <a:ln w="12700">
            <a:solidFill>
              <a:srgbClr val="1E6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E6B52"/>
                </a:solidFill>
                <a:latin typeface="Segoe UI"/>
              </a:rPr>
              <a:t>Build loop  —  up to 4 parallel subtasks, each in its own git worktree</a:t>
            </a:r>
          </a:p>
          <a:p>
            <a:pPr algn="ctr"/>
            <a:r>
              <a:rPr sz="1000" b="0">
                <a:solidFill>
                  <a:srgbClr val="1A1A1A"/>
                </a:solidFill>
                <a:latin typeface="Segoe UI"/>
              </a:rPr>
              <a:t>Doer edits  ↔  tests run  ↔  Feedback reads the failures  ↔  Refiner fixes</a:t>
            </a:r>
          </a:p>
          <a:p>
            <a:pPr algn="ctr"/>
            <a:r>
              <a:rPr sz="1000" b="0">
                <a:solidFill>
                  <a:srgbClr val="1A1A1A"/>
                </a:solidFill>
                <a:latin typeface="Segoe UI"/>
              </a:rPr>
              <a:t>all building against one SPEC.md written up front, then reconciled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377440" y="3931920"/>
            <a:ext cx="0" cy="292608"/>
          </a:xfrm>
          <a:prstGeom prst="line">
            <a:avLst/>
          </a:prstGeom>
          <a:ln w="19050">
            <a:solidFill>
              <a:srgbClr val="C9C9C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85800" y="4224528"/>
            <a:ext cx="3383280" cy="777240"/>
          </a:xfrm>
          <a:prstGeom prst="roundRect">
            <a:avLst>
              <a:gd name="adj" fmla="val 10000"/>
            </a:avLst>
          </a:prstGeom>
          <a:solidFill>
            <a:srgbClr val="EAE1F0"/>
          </a:solidFill>
          <a:ln w="12700">
            <a:solidFill>
              <a:srgbClr val="5B3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5B3A6E"/>
                </a:solidFill>
                <a:latin typeface="Segoe UI"/>
              </a:rPr>
              <a:t>Validator</a:t>
            </a:r>
          </a:p>
          <a:p>
            <a:pPr algn="ctr"/>
            <a:r>
              <a:rPr sz="950" b="0">
                <a:solidFill>
                  <a:srgbClr val="1A1A1A"/>
                </a:solidFill>
                <a:latin typeface="Segoe UI"/>
              </a:rPr>
              <a:t>gates the result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53327" y="3931920"/>
            <a:ext cx="0" cy="292608"/>
          </a:xfrm>
          <a:prstGeom prst="line">
            <a:avLst/>
          </a:prstGeom>
          <a:ln w="19050">
            <a:solidFill>
              <a:srgbClr val="C9C9C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361687" y="4224528"/>
            <a:ext cx="3383280" cy="777240"/>
          </a:xfrm>
          <a:prstGeom prst="roundRect">
            <a:avLst>
              <a:gd name="adj" fmla="val 10000"/>
            </a:avLst>
          </a:prstGeom>
          <a:solidFill>
            <a:srgbClr val="EAE1F0"/>
          </a:solidFill>
          <a:ln w="12700">
            <a:solidFill>
              <a:srgbClr val="5B3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5B3A6E"/>
                </a:solidFill>
                <a:latin typeface="Segoe UI"/>
              </a:rPr>
              <a:t>Live-verifier</a:t>
            </a:r>
          </a:p>
          <a:p>
            <a:pPr algn="ctr"/>
            <a:r>
              <a:rPr sz="950" b="0">
                <a:solidFill>
                  <a:srgbClr val="1A1A1A"/>
                </a:solidFill>
                <a:latin typeface="Segoe UI"/>
              </a:rPr>
              <a:t>runs the real recipe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729214" y="3931920"/>
            <a:ext cx="0" cy="292608"/>
          </a:xfrm>
          <a:prstGeom prst="line">
            <a:avLst/>
          </a:prstGeom>
          <a:ln w="19050">
            <a:solidFill>
              <a:srgbClr val="C9C9C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037574" y="4224528"/>
            <a:ext cx="3383280" cy="777240"/>
          </a:xfrm>
          <a:prstGeom prst="roundRect">
            <a:avLst>
              <a:gd name="adj" fmla="val 10000"/>
            </a:avLst>
          </a:prstGeom>
          <a:solidFill>
            <a:srgbClr val="EAE1F0"/>
          </a:solidFill>
          <a:ln w="12700">
            <a:solidFill>
              <a:srgbClr val="5B3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5B3A6E"/>
                </a:solidFill>
                <a:latin typeface="Segoe UI"/>
              </a:rPr>
              <a:t>Learner</a:t>
            </a:r>
          </a:p>
          <a:p>
            <a:pPr algn="ctr"/>
            <a:r>
              <a:rPr sz="950" b="0">
                <a:solidFill>
                  <a:srgbClr val="1A1A1A"/>
                </a:solidFill>
                <a:latin typeface="Segoe UI"/>
              </a:rPr>
              <a:t>writes memory back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5257800"/>
            <a:ext cx="10835640" cy="548640"/>
          </a:xfrm>
          <a:prstGeom prst="roundRect">
            <a:avLst>
              <a:gd name="adj" fmla="val 10000"/>
            </a:avLst>
          </a:prstGeom>
          <a:solidFill>
            <a:srgbClr val="ECECEC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3A3A3A"/>
                </a:solidFill>
                <a:latin typeface="Segoe UI"/>
              </a:rPr>
              <a:t>Pull request</a:t>
            </a:r>
          </a:p>
          <a:p>
            <a:pPr algn="ctr"/>
            <a:r>
              <a:rPr sz="950" b="0">
                <a:solidFill>
                  <a:srgbClr val="1A1A1A"/>
                </a:solidFill>
                <a:latin typeface="Segoe UI"/>
              </a:rPr>
              <a:t>the Learner's objectives, key results and learnings are LLM-verified before they are saved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A1A1A"/>
                </a:solidFill>
                <a:latin typeface="Segoe UI"/>
              </a:rPr>
              <a:t>The tool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41248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B6B6B"/>
                </a:solidFill>
                <a:latin typeface="Segoe UI"/>
              </a:rPr>
              <a:t>109 tools in the chat registry; per-agent allowlists in the pipeline.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70432"/>
            <a:ext cx="11091672" cy="9525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27648"/>
            <a:ext cx="9692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B6B6B"/>
                </a:solidFill>
                <a:latin typeface="Segoe UI"/>
              </a:rPr>
              <a:t>Two registries on purpose — the chat agent and the pipeline Doer are separate engines; drift between them fails a parity test and a startup check.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32764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6B6B6B"/>
                </a:solidFill>
                <a:latin typeface="Segoe UI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63040"/>
            <a:ext cx="1783080" cy="566928"/>
          </a:xfrm>
          <a:prstGeom prst="roundRect">
            <a:avLst>
              <a:gd name="adj" fmla="val 10000"/>
            </a:avLst>
          </a:prstGeom>
          <a:solidFill>
            <a:srgbClr val="DCEEE7"/>
          </a:solidFill>
          <a:ln w="12700">
            <a:solidFill>
              <a:srgbClr val="1E6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1">
                <a:solidFill>
                  <a:srgbClr val="1E6B52"/>
                </a:solidFill>
                <a:latin typeface="Segoe UI"/>
              </a:rPr>
              <a:t>Files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06040" y="1609344"/>
            <a:ext cx="1083564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E6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0">
                <a:solidFill>
                  <a:srgbClr val="1E6B52"/>
                </a:solidFill>
                <a:latin typeface="Segoe UI"/>
              </a:rPr>
              <a:t>file_read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99332" y="1609344"/>
            <a:ext cx="1161288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E6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0">
                <a:solidFill>
                  <a:srgbClr val="1E6B52"/>
                </a:solidFill>
                <a:latin typeface="Segoe UI"/>
              </a:rPr>
              <a:t>file_write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70348" y="1609344"/>
            <a:ext cx="1161288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E6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0">
                <a:solidFill>
                  <a:srgbClr val="1E6B52"/>
                </a:solidFill>
                <a:latin typeface="Segoe UI"/>
              </a:rPr>
              <a:t>file_patch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41364" y="1609344"/>
            <a:ext cx="850392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E6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0">
                <a:solidFill>
                  <a:srgbClr val="1E6B52"/>
                </a:solidFill>
                <a:latin typeface="Segoe UI"/>
              </a:rPr>
              <a:t>editor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01484" y="1609344"/>
            <a:ext cx="1161288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E6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0">
                <a:solidFill>
                  <a:srgbClr val="1E6B52"/>
                </a:solidFill>
                <a:latin typeface="Segoe UI"/>
              </a:rPr>
              <a:t>multi_edit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72500" y="1609344"/>
            <a:ext cx="1005840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E6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0">
                <a:solidFill>
                  <a:srgbClr val="1E6B52"/>
                </a:solidFill>
                <a:latin typeface="Segoe UI"/>
              </a:rPr>
              <a:t>list_dir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194560"/>
            <a:ext cx="1783080" cy="566928"/>
          </a:xfrm>
          <a:prstGeom prst="roundRect">
            <a:avLst>
              <a:gd name="adj" fmla="val 10000"/>
            </a:avLst>
          </a:prstGeom>
          <a:solidFill>
            <a:srgbClr val="DCE7F2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1">
                <a:solidFill>
                  <a:srgbClr val="1F4E79"/>
                </a:solidFill>
                <a:latin typeface="Segoe UI"/>
              </a:rPr>
              <a:t>Code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06040" y="2340864"/>
            <a:ext cx="694944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0">
                <a:solidFill>
                  <a:srgbClr val="1F4E79"/>
                </a:solidFill>
                <a:latin typeface="Segoe UI"/>
              </a:rPr>
              <a:t>grep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10712" y="2340864"/>
            <a:ext cx="694944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0">
                <a:solidFill>
                  <a:srgbClr val="1F4E79"/>
                </a:solidFill>
                <a:latin typeface="Segoe UI"/>
              </a:rPr>
              <a:t>find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15384" y="2340864"/>
            <a:ext cx="617220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0">
                <a:solidFill>
                  <a:srgbClr val="1F4E79"/>
                </a:solidFill>
                <a:latin typeface="Segoe UI"/>
              </a:rPr>
              <a:t>lsp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42332" y="2340864"/>
            <a:ext cx="1239012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0">
                <a:solidFill>
                  <a:srgbClr val="1F4E79"/>
                </a:solidFill>
                <a:latin typeface="Segoe UI"/>
              </a:rPr>
              <a:t>run_command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91072" y="2340864"/>
            <a:ext cx="1083564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0">
                <a:solidFill>
                  <a:srgbClr val="1F4E79"/>
                </a:solidFill>
                <a:latin typeface="Segoe UI"/>
              </a:rPr>
              <a:t>run_tests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84364" y="2340864"/>
            <a:ext cx="1083564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0">
                <a:solidFill>
                  <a:srgbClr val="1F4E79"/>
                </a:solidFill>
                <a:latin typeface="Segoe UI"/>
              </a:rPr>
              <a:t>typecheck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77656" y="2340864"/>
            <a:ext cx="850392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0">
                <a:solidFill>
                  <a:srgbClr val="1F4E79"/>
                </a:solidFill>
                <a:latin typeface="Segoe UI"/>
              </a:rPr>
              <a:t>format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37776" y="2340864"/>
            <a:ext cx="928116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0">
                <a:solidFill>
                  <a:srgbClr val="1F4E79"/>
                </a:solidFill>
                <a:latin typeface="Segoe UI"/>
              </a:rPr>
              <a:t>ipython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675620" y="2340864"/>
            <a:ext cx="772668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0">
                <a:solidFill>
                  <a:srgbClr val="1F4E79"/>
                </a:solidFill>
                <a:latin typeface="Segoe UI"/>
              </a:rPr>
              <a:t>serve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2926080"/>
            <a:ext cx="1783080" cy="566928"/>
          </a:xfrm>
          <a:prstGeom prst="roundRect">
            <a:avLst>
              <a:gd name="adj" fmla="val 10000"/>
            </a:avLst>
          </a:prstGeom>
          <a:solidFill>
            <a:srgbClr val="F7ECD5"/>
          </a:solidFill>
          <a:ln w="12700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1">
                <a:solidFill>
                  <a:srgbClr val="8A5A00"/>
                </a:solidFill>
                <a:latin typeface="Segoe UI"/>
              </a:rPr>
              <a:t>VCS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06040" y="3072384"/>
            <a:ext cx="1472184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0">
                <a:solidFill>
                  <a:srgbClr val="8A5A00"/>
                </a:solidFill>
                <a:latin typeface="Segoe UI"/>
              </a:rPr>
              <a:t>git (targeted)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87952" y="3072384"/>
            <a:ext cx="1083564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0">
                <a:solidFill>
                  <a:srgbClr val="8A5A00"/>
                </a:solidFill>
                <a:latin typeface="Segoe UI"/>
              </a:rPr>
              <a:t>github_pr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81244" y="3072384"/>
            <a:ext cx="1161288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0">
                <a:solidFill>
                  <a:srgbClr val="8A5A00"/>
                </a:solidFill>
                <a:latin typeface="Segoe UI"/>
              </a:rPr>
              <a:t>gitlab MRs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3657600"/>
            <a:ext cx="1783080" cy="566928"/>
          </a:xfrm>
          <a:prstGeom prst="roundRect">
            <a:avLst>
              <a:gd name="adj" fmla="val 10000"/>
            </a:avLst>
          </a:prstGeom>
          <a:solidFill>
            <a:srgbClr val="EAE1F0"/>
          </a:solidFill>
          <a:ln w="12700">
            <a:solidFill>
              <a:srgbClr val="5B3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1">
                <a:solidFill>
                  <a:srgbClr val="5B3A6E"/>
                </a:solidFill>
                <a:latin typeface="Segoe UI"/>
              </a:rPr>
              <a:t>Integrations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606040" y="3803904"/>
            <a:ext cx="1239012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5B3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0">
                <a:solidFill>
                  <a:srgbClr val="5B3A6E"/>
                </a:solidFill>
                <a:latin typeface="Segoe UI"/>
              </a:rPr>
              <a:t>jira_* (21)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954780" y="3803904"/>
            <a:ext cx="1705356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5B3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0">
                <a:solidFill>
                  <a:srgbClr val="5B3A6E"/>
                </a:solidFill>
                <a:latin typeface="Segoe UI"/>
              </a:rPr>
              <a:t>confluence_* (14)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69864" y="3803904"/>
            <a:ext cx="1005840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5B3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0">
                <a:solidFill>
                  <a:srgbClr val="5B3A6E"/>
                </a:solidFill>
                <a:latin typeface="Segoe UI"/>
              </a:rPr>
              <a:t>gitlab_*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85432" y="3803904"/>
            <a:ext cx="772668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5B3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0">
                <a:solidFill>
                  <a:srgbClr val="5B3A6E"/>
                </a:solidFill>
                <a:latin typeface="Segoe UI"/>
              </a:rPr>
              <a:t>email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67828" y="3803904"/>
            <a:ext cx="1161288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5B3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0">
                <a:solidFill>
                  <a:srgbClr val="5B3A6E"/>
                </a:solidFill>
                <a:latin typeface="Segoe UI"/>
              </a:rPr>
              <a:t>web_search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38844" y="3803904"/>
            <a:ext cx="772668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5B3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0">
                <a:solidFill>
                  <a:srgbClr val="5B3A6E"/>
                </a:solidFill>
                <a:latin typeface="Segoe UI"/>
              </a:rPr>
              <a:t>crawl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921240" y="3803904"/>
            <a:ext cx="928116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5B3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0">
                <a:solidFill>
                  <a:srgbClr val="5B3A6E"/>
                </a:solidFill>
                <a:latin typeface="Segoe UI"/>
              </a:rPr>
              <a:t>browser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959084" y="3803904"/>
            <a:ext cx="617220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5B3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0">
                <a:solidFill>
                  <a:srgbClr val="5B3A6E"/>
                </a:solidFill>
                <a:latin typeface="Segoe UI"/>
              </a:rPr>
              <a:t>MCP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5800" y="4389120"/>
            <a:ext cx="1783080" cy="566928"/>
          </a:xfrm>
          <a:prstGeom prst="roundRect">
            <a:avLst>
              <a:gd name="adj" fmla="val 10000"/>
            </a:avLst>
          </a:prstGeom>
          <a:solidFill>
            <a:srgbClr val="F7ECD5"/>
          </a:solidFill>
          <a:ln w="12700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1">
                <a:solidFill>
                  <a:srgbClr val="8A5A00"/>
                </a:solidFill>
                <a:latin typeface="Segoe UI"/>
              </a:rPr>
              <a:t>Memory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606040" y="4535424"/>
            <a:ext cx="1394460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0">
                <a:solidFill>
                  <a:srgbClr val="8A5A00"/>
                </a:solidFill>
                <a:latin typeface="Segoe UI"/>
              </a:rPr>
              <a:t>memory_lookup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110228" y="4535424"/>
            <a:ext cx="1316736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0">
                <a:solidFill>
                  <a:srgbClr val="8A5A00"/>
                </a:solidFill>
                <a:latin typeface="Segoe UI"/>
              </a:rPr>
              <a:t>memory_write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536692" y="4535424"/>
            <a:ext cx="1394460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0">
                <a:solidFill>
                  <a:srgbClr val="8A5A00"/>
                </a:solidFill>
                <a:latin typeface="Segoe UI"/>
              </a:rPr>
              <a:t>remember_rule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040880" y="4535424"/>
            <a:ext cx="1316736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0">
                <a:solidFill>
                  <a:srgbClr val="8A5A00"/>
                </a:solidFill>
                <a:latin typeface="Segoe UI"/>
              </a:rPr>
              <a:t>skill search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85800" y="5120640"/>
            <a:ext cx="1783080" cy="566928"/>
          </a:xfrm>
          <a:prstGeom prst="roundRect">
            <a:avLst>
              <a:gd name="adj" fmla="val 10000"/>
            </a:avLst>
          </a:prstGeom>
          <a:solidFill>
            <a:srgbClr val="ECECEC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1">
                <a:solidFill>
                  <a:srgbClr val="3A3A3A"/>
                </a:solidFill>
                <a:latin typeface="Segoe UI"/>
              </a:rPr>
              <a:t>Long-running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606040" y="5266944"/>
            <a:ext cx="1239012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0">
                <a:solidFill>
                  <a:srgbClr val="3A3A3A"/>
                </a:solidFill>
                <a:latin typeface="Segoe UI"/>
              </a:rPr>
              <a:t>watch_until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954780" y="5266944"/>
            <a:ext cx="1394460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0">
                <a:solidFill>
                  <a:srgbClr val="3A3A3A"/>
                </a:solidFill>
                <a:latin typeface="Segoe UI"/>
              </a:rPr>
              <a:t>schedule_task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58968" y="5266944"/>
            <a:ext cx="772668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0">
                <a:solidFill>
                  <a:srgbClr val="3A3A3A"/>
                </a:solidFill>
                <a:latin typeface="Segoe UI"/>
              </a:rPr>
              <a:t>serve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341364" y="5266944"/>
            <a:ext cx="1394460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0">
                <a:solidFill>
                  <a:srgbClr val="3A3A3A"/>
                </a:solidFill>
                <a:latin typeface="Segoe UI"/>
              </a:rPr>
              <a:t>plan_progress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85800" y="5532120"/>
            <a:ext cx="10853928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1A1A1A"/>
                </a:solidFill>
                <a:latin typeface="Segoe UI"/>
              </a:rPr>
              <a:t>Unconfigured is not broken</a:t>
            </a:r>
          </a:p>
          <a:p>
            <a:pPr algn="ctr"/>
            <a:r>
              <a:rPr sz="950" b="0">
                <a:solidFill>
                  <a:srgbClr val="1A1A1A"/>
                </a:solidFill>
                <a:latin typeface="Segoe UI"/>
              </a:rPr>
              <a:t>a tool with no credentials returns *_not_configured plus a hint and is hidden from the catalogue  ·  `aiforge-tool &lt;name&gt; '&lt;json&gt;'` gives scripts the same registry, read-only by default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A1A1A"/>
                </a:solidFill>
                <a:latin typeface="Segoe UI"/>
              </a:rPr>
              <a:t>Rules, skills and workflows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41248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B6B6B"/>
                </a:solidFill>
                <a:latin typeface="Segoe UI"/>
              </a:rPr>
              <a:t>How the agent is taught — and how it teaches itself.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70432"/>
            <a:ext cx="11091672" cy="9525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27648"/>
            <a:ext cx="9692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B6B6B"/>
                </a:solidFill>
                <a:latin typeface="Segoe UI"/>
              </a:rPr>
              <a:t>All three are markdown on disk, repo-local overriding global by name. Ships with 3 rules, 4 skills and 1 workflow; the rest you write, or it writes.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32764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6B6B6B"/>
                </a:solidFill>
                <a:latin typeface="Segoe UI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3502152" cy="621792"/>
          </a:xfrm>
          <a:prstGeom prst="roundRect">
            <a:avLst>
              <a:gd name="adj" fmla="val 10000"/>
            </a:avLst>
          </a:prstGeom>
          <a:solidFill>
            <a:srgbClr val="DCE7F2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1F4E79"/>
                </a:solidFill>
                <a:latin typeface="Segoe UI"/>
              </a:rPr>
              <a:t>RULES</a:t>
            </a:r>
          </a:p>
          <a:p>
            <a:pPr algn="ctr"/>
            <a:r>
              <a:rPr sz="900" b="0">
                <a:solidFill>
                  <a:srgbClr val="1A1A1A"/>
                </a:solidFill>
                <a:latin typeface="Segoe UI"/>
              </a:rPr>
              <a:t>glob-scoped, deterministic</a:t>
            </a:r>
          </a:p>
          <a:p>
            <a:pPr algn="ctr"/>
            <a:r>
              <a:rPr sz="900" b="0">
                <a:solidFill>
                  <a:srgbClr val="1A1A1A"/>
                </a:solidFill>
                <a:latin typeface="Segoe UI"/>
              </a:rPr>
              <a:t>zero LLM cost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148840"/>
            <a:ext cx="3502152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0">
                <a:solidFill>
                  <a:srgbClr val="1A1A1A"/>
                </a:solidFill>
                <a:latin typeface="Segoe UI"/>
              </a:rPr>
              <a:t>.aiforge/rules/*.md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478024"/>
            <a:ext cx="3502152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0">
                <a:solidFill>
                  <a:srgbClr val="1A1A1A"/>
                </a:solidFill>
                <a:latin typeface="Segoe UI"/>
              </a:rPr>
              <a:t>.cursor/rules/*.mdc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807208"/>
            <a:ext cx="3502152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0">
                <a:solidFill>
                  <a:srgbClr val="1A1A1A"/>
                </a:solidFill>
                <a:latin typeface="Segoe UI"/>
              </a:rPr>
              <a:t>.cursorrules  (always)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136392"/>
            <a:ext cx="3502152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0">
                <a:solidFill>
                  <a:srgbClr val="1A1A1A"/>
                </a:solidFill>
                <a:latin typeface="Segoe UI"/>
              </a:rPr>
              <a:t>AGENTS.md  (always)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520440"/>
            <a:ext cx="341071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Segoe UI"/>
              </a:rPr>
              <a:t>matched against the ticket's scope globs — in BOTH directions, so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Segoe UI"/>
              </a:rPr>
              <a:t>src/** matches src/a/** — then rendered as one capped block into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Segoe UI"/>
              </a:rPr>
              <a:t>the planner and doer prompts, replacing a paid LLM gathering call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1417320"/>
            <a:ext cx="3502152" cy="621792"/>
          </a:xfrm>
          <a:prstGeom prst="roundRect">
            <a:avLst>
              <a:gd name="adj" fmla="val 10000"/>
            </a:avLst>
          </a:prstGeom>
          <a:solidFill>
            <a:srgbClr val="DCEEE7"/>
          </a:solidFill>
          <a:ln w="12700">
            <a:solidFill>
              <a:srgbClr val="1E6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1E6B52"/>
                </a:solidFill>
                <a:latin typeface="Segoe UI"/>
              </a:rPr>
              <a:t>SKILLS</a:t>
            </a:r>
          </a:p>
          <a:p>
            <a:pPr algn="ctr"/>
            <a:r>
              <a:rPr sz="900" b="0">
                <a:solidFill>
                  <a:srgbClr val="1A1A1A"/>
                </a:solidFill>
                <a:latin typeface="Segoe UI"/>
              </a:rPr>
              <a:t>SKILL.md</a:t>
            </a:r>
          </a:p>
          <a:p>
            <a:pPr algn="ctr"/>
            <a:r>
              <a:rPr sz="900" b="0">
                <a:solidFill>
                  <a:srgbClr val="1A1A1A"/>
                </a:solidFill>
                <a:latin typeface="Segoe UI"/>
              </a:rPr>
              <a:t>agentskills.io convention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0832" y="2148840"/>
            <a:ext cx="3502152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E6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0">
                <a:solidFill>
                  <a:srgbClr val="1A1A1A"/>
                </a:solidFill>
                <a:latin typeface="Segoe UI"/>
              </a:rPr>
              <a:t>~/.aiforge/skills/&lt;name&gt;/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2478024"/>
            <a:ext cx="3502152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E6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0">
                <a:solidFill>
                  <a:srgbClr val="1A1A1A"/>
                </a:solidFill>
                <a:latin typeface="Segoe UI"/>
              </a:rPr>
              <a:t>&lt;repo&gt;/.aiforge/skills/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70832" y="2807208"/>
            <a:ext cx="3502152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E6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0">
                <a:solidFill>
                  <a:srgbClr val="1A1A1A"/>
                </a:solidFill>
                <a:latin typeface="Segoe UI"/>
              </a:rPr>
              <a:t>&lt;repo&gt;/.claude/skills/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70832" y="3136392"/>
            <a:ext cx="3502152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E6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0">
                <a:solidFill>
                  <a:srgbClr val="1A1A1A"/>
                </a:solidFill>
                <a:latin typeface="Segoe UI"/>
              </a:rPr>
              <a:t>frontmatter + markdown body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6552" y="3520440"/>
            <a:ext cx="341071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Segoe UI"/>
              </a:rPr>
              <a:t>searched by RELEVANCE — description and trigger overlap, not a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Segoe UI"/>
              </a:rPr>
              <a:t>substring match — so the right skill is discovered rather than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Segoe UI"/>
              </a:rPr>
              <a:t>named. write_skill() authors one the moment something hard is solved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55864" y="1417320"/>
            <a:ext cx="3502152" cy="621792"/>
          </a:xfrm>
          <a:prstGeom prst="roundRect">
            <a:avLst>
              <a:gd name="adj" fmla="val 10000"/>
            </a:avLst>
          </a:prstGeom>
          <a:solidFill>
            <a:srgbClr val="EAE1F0"/>
          </a:solidFill>
          <a:ln w="12700">
            <a:solidFill>
              <a:srgbClr val="5B3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5B3A6E"/>
                </a:solidFill>
                <a:latin typeface="Segoe UI"/>
              </a:rPr>
              <a:t>WORKFLOWS</a:t>
            </a:r>
          </a:p>
          <a:p>
            <a:pPr algn="ctr"/>
            <a:r>
              <a:rPr sz="900" b="0">
                <a:solidFill>
                  <a:srgbClr val="1A1A1A"/>
                </a:solidFill>
                <a:latin typeface="Segoe UI"/>
              </a:rPr>
              <a:t>WORKFLOW.md</a:t>
            </a:r>
          </a:p>
          <a:p>
            <a:pPr algn="ctr"/>
            <a:r>
              <a:rPr sz="900" b="0">
                <a:solidFill>
                  <a:srgbClr val="1A1A1A"/>
                </a:solidFill>
                <a:latin typeface="Segoe UI"/>
              </a:rPr>
              <a:t>same machinery, own folder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55864" y="2148840"/>
            <a:ext cx="3502152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5B3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0">
                <a:solidFill>
                  <a:srgbClr val="1A1A1A"/>
                </a:solidFill>
                <a:latin typeface="Segoe UI"/>
              </a:rPr>
              <a:t>~/.aiforge/workflows/&lt;name&gt;/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55864" y="2478024"/>
            <a:ext cx="3502152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5B3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0">
                <a:solidFill>
                  <a:srgbClr val="1A1A1A"/>
                </a:solidFill>
                <a:latin typeface="Segoe UI"/>
              </a:rPr>
              <a:t>&lt;repo&gt;/.aiforge/workflows/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55864" y="2807208"/>
            <a:ext cx="3502152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5B3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0">
                <a:solidFill>
                  <a:srgbClr val="1A1A1A"/>
                </a:solidFill>
                <a:latin typeface="Segoe UI"/>
              </a:rPr>
              <a:t>&lt;repo&gt;/.claude/workflows/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55864" y="3136392"/>
            <a:ext cx="3502152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5B3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0">
                <a:solidFill>
                  <a:srgbClr val="1A1A1A"/>
                </a:solidFill>
                <a:latin typeface="Segoe UI"/>
              </a:rPr>
              <a:t>end-to-end procedures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01584" y="3520440"/>
            <a:ext cx="341071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Segoe UI"/>
              </a:rPr>
              <a:t>skills are small reusable how-tos; workflows are the longer recipe —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Segoe UI"/>
              </a:rPr>
              <a:t>"how we cut a release", "how we triage a flaky test". Added by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Segoe UI"/>
              </a:rPr>
              <a:t>write_workflow(), or by dropping a file in by hand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498848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B6B6B"/>
                </a:solidFill>
                <a:latin typeface="Segoe UI"/>
              </a:rPr>
              <a:t>ALWAYS-ON CAPTURE  —  runs BEFORE the agent, on every chat message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773168"/>
            <a:ext cx="2468880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>
                <a:solidFill>
                  <a:srgbClr val="1A1A1A"/>
                </a:solidFill>
                <a:latin typeface="Segoe UI"/>
              </a:rPr>
              <a:t>user message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154680" y="5129784"/>
            <a:ext cx="256032" cy="0"/>
          </a:xfrm>
          <a:prstGeom prst="line">
            <a:avLst/>
          </a:prstGeom>
          <a:ln w="19050">
            <a:solidFill>
              <a:srgbClr val="C9C9C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3410712" y="4773168"/>
            <a:ext cx="2468880" cy="713232"/>
          </a:xfrm>
          <a:prstGeom prst="roundRect">
            <a:avLst>
              <a:gd name="adj" fmla="val 10000"/>
            </a:avLst>
          </a:prstGeom>
          <a:solidFill>
            <a:srgbClr val="F7ECD5"/>
          </a:solidFill>
          <a:ln w="12700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>
                <a:solidFill>
                  <a:srgbClr val="8A5A00"/>
                </a:solidFill>
                <a:latin typeface="Segoe UI"/>
              </a:rPr>
              <a:t>classify</a:t>
            </a:r>
          </a:p>
          <a:p>
            <a:pPr algn="ctr"/>
            <a:r>
              <a:rPr sz="850" b="0">
                <a:solidFill>
                  <a:srgbClr val="1A1A1A"/>
                </a:solidFill>
                <a:latin typeface="Segoe UI"/>
              </a:rPr>
              <a:t>ONE capped LLM pass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879592" y="5129784"/>
            <a:ext cx="256032" cy="0"/>
          </a:xfrm>
          <a:prstGeom prst="line">
            <a:avLst/>
          </a:prstGeom>
          <a:ln w="19050">
            <a:solidFill>
              <a:srgbClr val="C9C9C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6135624" y="4773168"/>
            <a:ext cx="2468880" cy="713232"/>
          </a:xfrm>
          <a:prstGeom prst="roundRect">
            <a:avLst>
              <a:gd name="adj" fmla="val 10000"/>
            </a:avLst>
          </a:prstGeom>
          <a:solidFill>
            <a:srgbClr val="F7ECD5"/>
          </a:solidFill>
          <a:ln w="12700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>
                <a:solidFill>
                  <a:srgbClr val="8A5A00"/>
                </a:solidFill>
                <a:latin typeface="Segoe UI"/>
              </a:rPr>
              <a:t>rule | memory</a:t>
            </a:r>
          </a:p>
          <a:p>
            <a:r>
              <a:t>feedback | none</a:t>
            </a:r>
          </a:p>
          <a:p>
            <a:pPr algn="ctr"/>
            <a:r>
              <a:rPr sz="850" b="0">
                <a:solidFill>
                  <a:srgbClr val="1A1A1A"/>
                </a:solidFill>
                <a:latin typeface="Segoe UI"/>
              </a:rPr>
              <a:t>+ scope, confidence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604504" y="5129784"/>
            <a:ext cx="256032" cy="0"/>
          </a:xfrm>
          <a:prstGeom prst="line">
            <a:avLst/>
          </a:prstGeom>
          <a:ln w="19050">
            <a:solidFill>
              <a:srgbClr val="C9C9C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860536" y="4773168"/>
            <a:ext cx="2468880" cy="713232"/>
          </a:xfrm>
          <a:prstGeom prst="roundRect">
            <a:avLst>
              <a:gd name="adj" fmla="val 10000"/>
            </a:avLst>
          </a:prstGeom>
          <a:solidFill>
            <a:srgbClr val="F7ECD5"/>
          </a:solidFill>
          <a:ln w="12700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>
                <a:solidFill>
                  <a:srgbClr val="8A5A00"/>
                </a:solidFill>
                <a:latin typeface="Segoe UI"/>
              </a:rPr>
              <a:t>route + store</a:t>
            </a:r>
          </a:p>
          <a:p>
            <a:pPr algn="ctr"/>
            <a:r>
              <a:rPr sz="850" b="0">
                <a:solidFill>
                  <a:srgbClr val="1A1A1A"/>
                </a:solidFill>
                <a:latin typeface="Segoe UI"/>
              </a:rPr>
              <a:t>repo rules · md_store</a:t>
            </a:r>
          </a:p>
          <a:p>
            <a:pPr algn="ctr"/>
            <a:r>
              <a:rPr sz="850" b="0">
                <a:solidFill>
                  <a:srgbClr val="1A1A1A"/>
                </a:solidFill>
                <a:latin typeface="Segoe UI"/>
              </a:rPr>
              <a:t>memory · in-session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5623560"/>
            <a:ext cx="10853928" cy="502920"/>
          </a:xfrm>
          <a:prstGeom prst="roundRect">
            <a:avLst>
              <a:gd name="adj" fmla="val 10000"/>
            </a:avLst>
          </a:prstGeom>
          <a:solidFill>
            <a:srgbClr val="F7DFDF"/>
          </a:solidFill>
          <a:ln w="12700">
            <a:solidFill>
              <a:srgbClr val="8C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>
                <a:solidFill>
                  <a:srgbClr val="8C2F2F"/>
                </a:solidFill>
                <a:latin typeface="Segoe UI"/>
              </a:rPr>
              <a:t>A gate is NEVER disabled by the classifier</a:t>
            </a:r>
          </a:p>
          <a:p>
            <a:pPr algn="ctr"/>
            <a:r>
              <a:rPr sz="950" b="0">
                <a:solidFill>
                  <a:srgbClr val="1A1A1A"/>
                </a:solidFill>
                <a:latin typeface="Segoe UI"/>
              </a:rPr>
              <a:t>a directive stated in passing is captured deterministically instead of hoping the model calls remember_rule — but disabling a commit or delete gate stays a separate, scoped, revocable opt-in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A1A1A"/>
                </a:solidFill>
                <a:latin typeface="Segoe UI"/>
              </a:rPr>
              <a:t>Memory — markdown files, not a database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41248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B6B6B"/>
                </a:solidFill>
                <a:latin typeface="Segoe UI"/>
              </a:rPr>
              <a:t>The whole store is a folder you can read, grep, diff and delete.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70432"/>
            <a:ext cx="11091672" cy="9525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27648"/>
            <a:ext cx="9692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B6B6B"/>
                </a:solidFill>
                <a:latin typeface="Segoe UI"/>
              </a:rPr>
              <a:t>Recall works with nothing installed: keyword + spell-correction by default; semantic KNN is one opt-in flag (static embeddings ~30 MB, sqlite-vec, no torch).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32764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6B6B6B"/>
                </a:solidFill>
                <a:latin typeface="Segoe U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B6B6B"/>
                </a:solidFill>
                <a:latin typeface="Segoe UI"/>
              </a:rPr>
              <a:t>WRITE PATH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00200"/>
            <a:ext cx="2057400" cy="777240"/>
          </a:xfrm>
          <a:prstGeom prst="roundRect">
            <a:avLst>
              <a:gd name="adj" fmla="val 10000"/>
            </a:avLst>
          </a:prstGeom>
          <a:solidFill>
            <a:srgbClr val="DCEEE7"/>
          </a:solidFill>
          <a:ln w="12700">
            <a:solidFill>
              <a:srgbClr val="1E6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1E6B52"/>
                </a:solidFill>
                <a:latin typeface="Segoe UI"/>
              </a:rPr>
              <a:t>capture()</a:t>
            </a:r>
          </a:p>
          <a:p>
            <a:pPr algn="ctr"/>
            <a:r>
              <a:rPr sz="850" b="0">
                <a:solidFill>
                  <a:srgbClr val="1A1A1A"/>
                </a:solidFill>
                <a:latin typeface="Segoe UI"/>
              </a:rPr>
              <a:t>tagged by topic</a:t>
            </a:r>
          </a:p>
          <a:p>
            <a:pPr algn="ctr"/>
            <a:r>
              <a:rPr sz="850" b="0">
                <a:solidFill>
                  <a:srgbClr val="1A1A1A"/>
                </a:solidFill>
                <a:latin typeface="Segoe UI"/>
              </a:rPr>
              <a:t>+ which agent wrote it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0" y="1984248"/>
            <a:ext cx="274320" cy="0"/>
          </a:xfrm>
          <a:prstGeom prst="line">
            <a:avLst/>
          </a:prstGeom>
          <a:ln w="19050">
            <a:solidFill>
              <a:srgbClr val="C9C9C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017520" y="1600200"/>
            <a:ext cx="2057400" cy="777240"/>
          </a:xfrm>
          <a:prstGeom prst="roundRect">
            <a:avLst>
              <a:gd name="adj" fmla="val 10000"/>
            </a:avLst>
          </a:prstGeom>
          <a:solidFill>
            <a:srgbClr val="DCEEE7"/>
          </a:solidFill>
          <a:ln w="12700">
            <a:solidFill>
              <a:srgbClr val="1E6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1E6B52"/>
                </a:solidFill>
                <a:latin typeface="Segoe UI"/>
              </a:rPr>
              <a:t>topic brief</a:t>
            </a:r>
          </a:p>
          <a:p>
            <a:pPr algn="ctr"/>
            <a:r>
              <a:rPr sz="850" b="0">
                <a:solidFill>
                  <a:srgbClr val="1A1A1A"/>
                </a:solidFill>
                <a:latin typeface="Segoe UI"/>
              </a:rPr>
              <a:t>LLM dedupe + merge</a:t>
            </a:r>
          </a:p>
          <a:p>
            <a:pPr algn="ctr"/>
            <a:r>
              <a:rPr sz="850" b="0">
                <a:solidFill>
                  <a:srgbClr val="1A1A1A"/>
                </a:solidFill>
                <a:latin typeface="Segoe UI"/>
              </a:rPr>
              <a:t>split on oversize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074920" y="1984248"/>
            <a:ext cx="274320" cy="0"/>
          </a:xfrm>
          <a:prstGeom prst="line">
            <a:avLst/>
          </a:prstGeom>
          <a:ln w="19050">
            <a:solidFill>
              <a:srgbClr val="C9C9C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349240" y="1600200"/>
            <a:ext cx="2057400" cy="777240"/>
          </a:xfrm>
          <a:prstGeom prst="roundRect">
            <a:avLst>
              <a:gd name="adj" fmla="val 10000"/>
            </a:avLst>
          </a:prstGeom>
          <a:solidFill>
            <a:srgbClr val="DCEEE7"/>
          </a:solidFill>
          <a:ln w="12700">
            <a:solidFill>
              <a:srgbClr val="1E6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1E6B52"/>
                </a:solidFill>
                <a:latin typeface="Segoe UI"/>
              </a:rPr>
              <a:t>OKF node</a:t>
            </a:r>
          </a:p>
          <a:p>
            <a:pPr algn="ctr"/>
            <a:r>
              <a:rPr sz="850" b="0">
                <a:solidFill>
                  <a:srgbClr val="1A1A1A"/>
                </a:solidFill>
                <a:latin typeface="Segoe UI"/>
              </a:rPr>
              <a:t>markdown + frontmatter</a:t>
            </a:r>
          </a:p>
          <a:p>
            <a:pPr algn="ctr"/>
            <a:r>
              <a:rPr sz="850" b="0">
                <a:solidFill>
                  <a:srgbClr val="1A1A1A"/>
                </a:solidFill>
                <a:latin typeface="Segoe UI"/>
              </a:rPr>
              <a:t>typed edges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743200"/>
            <a:ext cx="3246120" cy="2331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1">
                <a:solidFill>
                  <a:srgbClr val="8A5A00"/>
                </a:solidFill>
                <a:latin typeface="Segoe UI"/>
              </a:rPr>
              <a:t>~/.aiforge/memory/okf/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24612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Segoe UI"/>
              </a:rPr>
              <a:t>objectives/   — why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630168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Segoe UI"/>
              </a:rPr>
              <a:t>key_results/  — what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014216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Segoe UI"/>
              </a:rPr>
              <a:t>learnings/    — how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398264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Segoe UI"/>
              </a:rPr>
              <a:t>sessions/     — already ran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736592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Segoe UI"/>
              </a:rPr>
              <a:t>+ aiforge.db  (SQLite: FTS, vectors)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931920" y="3913632"/>
            <a:ext cx="384048" cy="0"/>
          </a:xfrm>
          <a:prstGeom prst="line">
            <a:avLst/>
          </a:prstGeom>
          <a:ln w="19050">
            <a:solidFill>
              <a:srgbClr val="C9C9C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315968" y="2743200"/>
            <a:ext cx="3246120" cy="2331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1">
                <a:solidFill>
                  <a:srgbClr val="1F4E79"/>
                </a:solidFill>
                <a:latin typeface="Segoe UI"/>
              </a:rPr>
              <a:t>In-memory graph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4568" y="324612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Segoe UI"/>
              </a:rPr>
              <a:t>· typed frontmatter edges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44568" y="3630168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Segoe UI"/>
              </a:rPr>
              <a:t>· plain dicts, built at load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44568" y="4014216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Segoe UI"/>
              </a:rPr>
              <a:t>· no DB server, no daemon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44568" y="4398264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Segoe UI"/>
              </a:rPr>
              <a:t>· git-diffable, greppable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562088" y="3913632"/>
            <a:ext cx="384048" cy="0"/>
          </a:xfrm>
          <a:prstGeom prst="line">
            <a:avLst/>
          </a:prstGeom>
          <a:ln w="19050">
            <a:solidFill>
              <a:srgbClr val="C9C9C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946136" y="2743200"/>
            <a:ext cx="3566160" cy="2331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5B3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1">
                <a:solidFill>
                  <a:srgbClr val="5B3A6E"/>
                </a:solidFill>
                <a:latin typeface="Segoe UI"/>
              </a:rPr>
              <a:t>Surgical retrieval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74736" y="324612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Segoe UI"/>
              </a:rPr>
              <a:t>ascend → the objective (why)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74736" y="3593592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Segoe UI"/>
              </a:rPr>
              <a:t>descend → the key result (what)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74736" y="3941064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Segoe UI"/>
              </a:rPr>
              <a:t>constraints + recent activity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74736" y="4288536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Segoe UI"/>
              </a:rPr>
              <a:t>raw code chunks demoted so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74736" y="4636008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Segoe UI"/>
              </a:rPr>
              <a:t>   curated knowledge outranks RAG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680960" y="1600200"/>
            <a:ext cx="3858768" cy="777240"/>
          </a:xfrm>
          <a:prstGeom prst="roundRect">
            <a:avLst>
              <a:gd name="adj" fmla="val 10000"/>
            </a:avLst>
          </a:prstGeom>
          <a:solidFill>
            <a:srgbClr val="ECECEC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3A3A3A"/>
                </a:solidFill>
                <a:latin typeface="Segoe UI"/>
              </a:rPr>
              <a:t>Why it is simpler</a:t>
            </a:r>
          </a:p>
          <a:p>
            <a:pPr algn="ctr"/>
            <a:r>
              <a:rPr sz="900" b="0">
                <a:solidFill>
                  <a:srgbClr val="1A1A1A"/>
                </a:solidFill>
                <a:latin typeface="Segoe UI"/>
              </a:rPr>
              <a:t>no vector-DB service to install, tune or back up</a:t>
            </a:r>
          </a:p>
          <a:p>
            <a:pPr algn="ctr"/>
            <a:r>
              <a:rPr sz="900" b="0">
                <a:solidFill>
                  <a:srgbClr val="1A1A1A"/>
                </a:solidFill>
                <a:latin typeface="Segoe UI"/>
              </a:rPr>
              <a:t>inspect with cat and grep  ·  move a machine by copying a folder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A1A1A"/>
                </a:solidFill>
                <a:latin typeface="Segoe UI"/>
              </a:rPr>
              <a:t>Central memory and groups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41248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B6B6B"/>
                </a:solidFill>
                <a:latin typeface="Segoe UI"/>
              </a:rPr>
              <a:t>One admin hub serves several independent fleets. Only durable knowledge travels.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70432"/>
            <a:ext cx="11091672" cy="9525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27648"/>
            <a:ext cx="9692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B6B6B"/>
                </a:solidFill>
                <a:latin typeface="Segoe UI"/>
              </a:rPr>
              <a:t>Spokes initiate in both directions, so only the admin needs a reachable address — laptops behind NAT just work. Unset AIFORGE_ADMIN_URL = this box IS the admin.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32764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6B6B6B"/>
                </a:solidFill>
                <a:latin typeface="Segoe UI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54480"/>
            <a:ext cx="2286000" cy="777240"/>
          </a:xfrm>
          <a:prstGeom prst="roundRect">
            <a:avLst>
              <a:gd name="adj" fmla="val 10000"/>
            </a:avLst>
          </a:prstGeom>
          <a:solidFill>
            <a:srgbClr val="DCEEE7"/>
          </a:solidFill>
          <a:ln w="12700">
            <a:solidFill>
              <a:srgbClr val="1E6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1">
                <a:solidFill>
                  <a:srgbClr val="1E6B52"/>
                </a:solidFill>
                <a:latin typeface="Segoe UI"/>
              </a:rPr>
              <a:t>Laptop A</a:t>
            </a:r>
          </a:p>
          <a:p>
            <a:pPr algn="ctr"/>
            <a:r>
              <a:rPr sz="950" b="0">
                <a:solidFill>
                  <a:srgbClr val="1A1A1A"/>
                </a:solidFill>
                <a:latin typeface="Segoe UI"/>
              </a:rPr>
              <a:t>compacts locally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71800" y="1938528"/>
            <a:ext cx="640080" cy="0"/>
          </a:xfrm>
          <a:prstGeom prst="line">
            <a:avLst/>
          </a:prstGeom>
          <a:ln w="19050">
            <a:solidFill>
              <a:srgbClr val="C9C9C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85800" y="2606040"/>
            <a:ext cx="2286000" cy="777240"/>
          </a:xfrm>
          <a:prstGeom prst="roundRect">
            <a:avLst>
              <a:gd name="adj" fmla="val 10000"/>
            </a:avLst>
          </a:prstGeom>
          <a:solidFill>
            <a:srgbClr val="DCEEE7"/>
          </a:solidFill>
          <a:ln w="12700">
            <a:solidFill>
              <a:srgbClr val="1E6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1">
                <a:solidFill>
                  <a:srgbClr val="1E6B52"/>
                </a:solidFill>
                <a:latin typeface="Segoe UI"/>
              </a:rPr>
              <a:t>NUC / server</a:t>
            </a:r>
          </a:p>
          <a:p>
            <a:pPr algn="ctr"/>
            <a:r>
              <a:rPr sz="950" b="0">
                <a:solidFill>
                  <a:srgbClr val="1A1A1A"/>
                </a:solidFill>
                <a:latin typeface="Segoe UI"/>
              </a:rPr>
              <a:t>compacts locally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971800" y="2990088"/>
            <a:ext cx="640080" cy="0"/>
          </a:xfrm>
          <a:prstGeom prst="line">
            <a:avLst/>
          </a:prstGeom>
          <a:ln w="19050">
            <a:solidFill>
              <a:srgbClr val="C9C9C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85800" y="3657600"/>
            <a:ext cx="2286000" cy="777240"/>
          </a:xfrm>
          <a:prstGeom prst="roundRect">
            <a:avLst>
              <a:gd name="adj" fmla="val 10000"/>
            </a:avLst>
          </a:prstGeom>
          <a:solidFill>
            <a:srgbClr val="DCEEE7"/>
          </a:solidFill>
          <a:ln w="12700">
            <a:solidFill>
              <a:srgbClr val="1E6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1">
                <a:solidFill>
                  <a:srgbClr val="1E6B52"/>
                </a:solidFill>
                <a:latin typeface="Segoe UI"/>
              </a:rPr>
              <a:t>Laptop B</a:t>
            </a:r>
          </a:p>
          <a:p>
            <a:pPr algn="ctr"/>
            <a:r>
              <a:rPr sz="950" b="0">
                <a:solidFill>
                  <a:srgbClr val="1A1A1A"/>
                </a:solidFill>
                <a:latin typeface="Segoe UI"/>
              </a:rPr>
              <a:t>compacts locally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971800" y="4041648"/>
            <a:ext cx="640080" cy="0"/>
          </a:xfrm>
          <a:prstGeom prst="line">
            <a:avLst/>
          </a:prstGeom>
          <a:ln w="19050">
            <a:solidFill>
              <a:srgbClr val="C9C9C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611880" y="1554480"/>
            <a:ext cx="2057400" cy="2880360"/>
          </a:xfrm>
          <a:prstGeom prst="roundRect">
            <a:avLst>
              <a:gd name="adj" fmla="val 10000"/>
            </a:avLst>
          </a:prstGeom>
          <a:solidFill>
            <a:srgbClr val="F7DFDF"/>
          </a:solidFill>
          <a:ln w="12700">
            <a:solidFill>
              <a:srgbClr val="8C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8C2F2F"/>
                </a:solidFill>
                <a:latin typeface="Segoe UI"/>
              </a:rPr>
              <a:t>redact</a:t>
            </a:r>
          </a:p>
          <a:p>
            <a:r>
              <a:t>(on the client)</a:t>
            </a:r>
          </a:p>
          <a:p>
            <a:pPr algn="ctr"/>
          </a:p>
          <a:p>
            <a:pPr algn="ctr"/>
            <a:r>
              <a:rPr sz="950" b="0">
                <a:solidFill>
                  <a:srgbClr val="1A1A1A"/>
                </a:solidFill>
                <a:latin typeface="Segoe UI"/>
              </a:rPr>
              <a:t>secrets</a:t>
            </a:r>
          </a:p>
          <a:p>
            <a:pPr algn="ctr"/>
            <a:r>
              <a:rPr sz="950" b="0">
                <a:solidFill>
                  <a:srgbClr val="1A1A1A"/>
                </a:solidFill>
                <a:latin typeface="Segoe UI"/>
              </a:rPr>
              <a:t>private</a:t>
            </a:r>
          </a:p>
          <a:p>
            <a:pPr algn="ctr"/>
            <a:r>
              <a:rPr sz="950" b="0">
                <a:solidFill>
                  <a:srgbClr val="1A1A1A"/>
                </a:solidFill>
                <a:latin typeface="Segoe UI"/>
              </a:rPr>
              <a:t>noise</a:t>
            </a:r>
          </a:p>
          <a:p>
            <a:pPr algn="ctr"/>
          </a:p>
          <a:p>
            <a:pPr algn="ctr"/>
            <a:r>
              <a:rPr sz="950" b="0">
                <a:solidFill>
                  <a:srgbClr val="1A1A1A"/>
                </a:solidFill>
                <a:latin typeface="Segoe UI"/>
              </a:rPr>
              <a:t>blocks a note WHOLE,</a:t>
            </a:r>
          </a:p>
          <a:p>
            <a:pPr algn="ctr"/>
            <a:r>
              <a:rPr sz="950" b="0">
                <a:solidFill>
                  <a:srgbClr val="1A1A1A"/>
                </a:solidFill>
                <a:latin typeface="Segoe UI"/>
              </a:rPr>
              <a:t>never edits it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669280" y="2990088"/>
            <a:ext cx="685800" cy="0"/>
          </a:xfrm>
          <a:prstGeom prst="line">
            <a:avLst/>
          </a:prstGeom>
          <a:ln w="19050">
            <a:solidFill>
              <a:srgbClr val="C9C9C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355080" y="1554480"/>
            <a:ext cx="2377440" cy="1234440"/>
          </a:xfrm>
          <a:prstGeom prst="roundRect">
            <a:avLst>
              <a:gd name="adj" fmla="val 10000"/>
            </a:avLst>
          </a:prstGeom>
          <a:solidFill>
            <a:srgbClr val="DCE7F2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1F4E79"/>
                </a:solidFill>
                <a:latin typeface="Segoe UI"/>
              </a:rPr>
              <a:t>Admin hub</a:t>
            </a:r>
          </a:p>
          <a:p>
            <a:pPr algn="ctr"/>
            <a:r>
              <a:rPr sz="950" b="0">
                <a:solidFill>
                  <a:srgbClr val="1A1A1A"/>
                </a:solidFill>
                <a:latin typeface="Segoe UI"/>
              </a:rPr>
              <a:t>merges only</a:t>
            </a:r>
          </a:p>
          <a:p>
            <a:pPr algn="ctr"/>
            <a:r>
              <a:rPr sz="950" b="0">
                <a:solidFill>
                  <a:srgbClr val="1A1A1A"/>
                </a:solidFill>
                <a:latin typeface="Segoe UI"/>
              </a:rPr>
              <a:t>never compacts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543800" y="2788920"/>
            <a:ext cx="0" cy="320040"/>
          </a:xfrm>
          <a:prstGeom prst="line">
            <a:avLst/>
          </a:prstGeom>
          <a:ln w="19050">
            <a:solidFill>
              <a:srgbClr val="C9C9C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355080" y="3108960"/>
            <a:ext cx="237744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1">
                <a:solidFill>
                  <a:srgbClr val="1F4E79"/>
                </a:solidFill>
                <a:latin typeface="Segoe UI"/>
              </a:rPr>
              <a:t>groups/&lt;g&gt;/</a:t>
            </a:r>
          </a:p>
          <a:p>
            <a:pPr algn="ctr"/>
            <a:r>
              <a:rPr sz="950" b="0">
                <a:solidFill>
                  <a:srgbClr val="1A1A1A"/>
                </a:solidFill>
                <a:latin typeface="Segoe UI"/>
              </a:rPr>
              <a:t>peers/  mesh/</a:t>
            </a:r>
          </a:p>
          <a:p>
            <a:pPr algn="ctr"/>
            <a:r>
              <a:rPr sz="950" b="0">
                <a:solidFill>
                  <a:srgbClr val="1A1A1A"/>
                </a:solidFill>
                <a:latin typeface="Segoe UI"/>
              </a:rPr>
              <a:t>okf/  .snapshots/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1554480"/>
            <a:ext cx="2331720" cy="2880360"/>
          </a:xfrm>
          <a:prstGeom prst="roundRect">
            <a:avLst>
              <a:gd name="adj" fmla="val 10000"/>
            </a:avLst>
          </a:prstGeom>
          <a:solidFill>
            <a:srgbClr val="EAE1F0"/>
          </a:solidFill>
          <a:ln w="12700">
            <a:solidFill>
              <a:srgbClr val="5B3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1">
                <a:solidFill>
                  <a:srgbClr val="5B3A6E"/>
                </a:solidFill>
                <a:latin typeface="Segoe UI"/>
              </a:rPr>
              <a:t>Group isolation</a:t>
            </a:r>
          </a:p>
          <a:p>
            <a:pPr algn="ctr"/>
          </a:p>
          <a:p>
            <a:pPr algn="ctr"/>
            <a:r>
              <a:rPr sz="900" b="0">
                <a:solidFill>
                  <a:srgbClr val="1A1A1A"/>
                </a:solidFill>
                <a:latin typeface="Segoe UI"/>
              </a:rPr>
              <a:t>ContextVar in the path root</a:t>
            </a:r>
          </a:p>
          <a:p>
            <a:pPr algn="ctr"/>
            <a:r>
              <a:rPr sz="900" b="0">
                <a:solidFill>
                  <a:srgbClr val="1A1A1A"/>
                </a:solidFill>
                <a:latin typeface="Segoe UI"/>
              </a:rPr>
              <a:t>repoints the whole tree</a:t>
            </a:r>
          </a:p>
          <a:p>
            <a:pPr algn="ctr"/>
          </a:p>
          <a:p>
            <a:pPr algn="ctr"/>
            <a:r>
              <a:rPr sz="900" b="0">
                <a:solidFill>
                  <a:srgbClr val="1A1A1A"/>
                </a:solidFill>
                <a:latin typeface="Segoe UI"/>
              </a:rPr>
              <a:t>manifests · merges ·</a:t>
            </a:r>
          </a:p>
          <a:p>
            <a:pPr algn="ctr"/>
            <a:r>
              <a:rPr sz="900" b="0">
                <a:solidFill>
                  <a:srgbClr val="1A1A1A"/>
                </a:solidFill>
                <a:latin typeface="Segoe UI"/>
              </a:rPr>
              <a:t>snapshots follow without</a:t>
            </a:r>
          </a:p>
          <a:p>
            <a:pPr algn="ctr"/>
            <a:r>
              <a:rPr sz="900" b="0">
                <a:solidFill>
                  <a:srgbClr val="1A1A1A"/>
                </a:solidFill>
                <a:latin typeface="Segoe UI"/>
              </a:rPr>
              <a:t>knowing groups exist</a:t>
            </a:r>
          </a:p>
          <a:p>
            <a:pPr algn="ctr"/>
          </a:p>
          <a:p>
            <a:pPr algn="ctr"/>
            <a:r>
              <a:rPr sz="900" b="0">
                <a:solidFill>
                  <a:srgbClr val="1A1A1A"/>
                </a:solidFill>
                <a:latin typeface="Segoe UI"/>
              </a:rPr>
              <a:t>one fold per group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66344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A1A1A"/>
                </a:solidFill>
                <a:latin typeface="Segoe UI"/>
              </a:rPr>
              <a:t>· Discovered, not configured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4663440"/>
            <a:ext cx="7680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Segoe UI"/>
              </a:rPr>
              <a:t>client reads the group list from the admin URL; one group = auto-join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065776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A1A1A"/>
                </a:solidFill>
                <a:latin typeface="Segoe UI"/>
              </a:rPr>
              <a:t>· okf/ is unwritable by sync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5065776"/>
            <a:ext cx="7680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Segoe UI"/>
              </a:rPr>
              <a:t>any network-driven write below it raises; destination set is provably {peers/, mesh/, okf/.tomb/}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46811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A1A1A"/>
                </a:solidFill>
                <a:latin typeface="Segoe UI"/>
              </a:rPr>
              <a:t>· Revert is an endpoint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5468112"/>
            <a:ext cx="7680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Segoe UI"/>
              </a:rPr>
              <a:t>hardlink snapshot before every fold and every pull — and the revert is itself revertible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87044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A1A1A"/>
                </a:solidFill>
                <a:latin typeface="Segoe UI"/>
              </a:rPr>
              <a:t>· Ordering is a per-node counter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5870448"/>
            <a:ext cx="7680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Segoe UI"/>
              </a:rPr>
              <a:t>not a timestamp: a clock-based last-writer-wins hands every conflict to the worst clock in the fleet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A1A1A"/>
                </a:solidFill>
                <a:latin typeface="Segoe UI"/>
              </a:rPr>
              <a:t>Context, cost and long-running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41248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B6B6B"/>
                </a:solidFill>
                <a:latin typeface="Segoe UI"/>
              </a:rPr>
              <a:t>The three things that break an agent in production, each with a rail.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70432"/>
            <a:ext cx="11091672" cy="9525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27648"/>
            <a:ext cx="9692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B6B6B"/>
                </a:solidFill>
                <a:latin typeface="Segoe UI"/>
              </a:rPr>
              <a:t>0 = no limit is the shipped default for the budgets; the rate ceiling is always on because a 429 is not a budget question.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32764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6B6B6B"/>
                </a:solidFill>
                <a:latin typeface="Segoe UI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81328"/>
            <a:ext cx="3383280" cy="594360"/>
          </a:xfrm>
          <a:prstGeom prst="roundRect">
            <a:avLst>
              <a:gd name="adj" fmla="val 10000"/>
            </a:avLst>
          </a:prstGeom>
          <a:solidFill>
            <a:srgbClr val="DCE7F2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1F4E79"/>
                </a:solidFill>
                <a:latin typeface="Segoe UI"/>
              </a:rPr>
              <a:t>Context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12848"/>
            <a:ext cx="3383280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0">
                <a:solidFill>
                  <a:srgbClr val="1A1A1A"/>
                </a:solidFill>
                <a:latin typeface="Segoe UI"/>
              </a:rPr>
              <a:t>condense when near the limit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633472"/>
            <a:ext cx="3383280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0">
                <a:solidFill>
                  <a:srgbClr val="1A1A1A"/>
                </a:solidFill>
                <a:latin typeface="Segoe UI"/>
              </a:rPr>
              <a:t>one assembly seam: context_bundle()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54096"/>
            <a:ext cx="3383280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0">
                <a:solidFill>
                  <a:srgbClr val="1A1A1A"/>
                </a:solidFill>
                <a:latin typeface="Segoe UI"/>
              </a:rPr>
              <a:t>compaction runs once a day, 18:00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474720"/>
            <a:ext cx="3383280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0">
                <a:solidFill>
                  <a:srgbClr val="1A1A1A"/>
                </a:solidFill>
                <a:latin typeface="Segoe UI"/>
              </a:rPr>
              <a:t>Cave mode trims for small models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1687" y="1481328"/>
            <a:ext cx="3383280" cy="594360"/>
          </a:xfrm>
          <a:prstGeom prst="roundRect">
            <a:avLst>
              <a:gd name="adj" fmla="val 10000"/>
            </a:avLst>
          </a:prstGeom>
          <a:solidFill>
            <a:srgbClr val="F7ECD5"/>
          </a:solidFill>
          <a:ln w="12700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8A5A00"/>
                </a:solidFill>
                <a:latin typeface="Segoe UI"/>
              </a:rPr>
              <a:t>Cost and rate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1687" y="2212848"/>
            <a:ext cx="3383280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0">
                <a:solidFill>
                  <a:srgbClr val="1A1A1A"/>
                </a:solidFill>
                <a:latin typeface="Segoe UI"/>
              </a:rPr>
              <a:t>sliding-window rpm ceiling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61687" y="2633472"/>
            <a:ext cx="3383280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0">
                <a:solidFill>
                  <a:srgbClr val="1A1A1A"/>
                </a:solidFill>
                <a:latin typeface="Segoe UI"/>
              </a:rPr>
              <a:t>monotonic clock, never starts full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61687" y="3054096"/>
            <a:ext cx="3383280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0">
                <a:solidFill>
                  <a:srgbClr val="1A1A1A"/>
                </a:solidFill>
                <a:latin typeface="Segoe UI"/>
              </a:rPr>
              <a:t>request meter in the toolbar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61687" y="3474720"/>
            <a:ext cx="3383280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0">
                <a:solidFill>
                  <a:srgbClr val="1A1A1A"/>
                </a:solidFill>
                <a:latin typeface="Segoe UI"/>
              </a:rPr>
              <a:t>structured path obeys it too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37574" y="1481328"/>
            <a:ext cx="3383280" cy="594360"/>
          </a:xfrm>
          <a:prstGeom prst="roundRect">
            <a:avLst>
              <a:gd name="adj" fmla="val 10000"/>
            </a:avLst>
          </a:prstGeom>
          <a:solidFill>
            <a:srgbClr val="DCEEE7"/>
          </a:solidFill>
          <a:ln w="12700">
            <a:solidFill>
              <a:srgbClr val="1E6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1E6B52"/>
                </a:solidFill>
                <a:latin typeface="Segoe UI"/>
              </a:rPr>
              <a:t>Long-running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37574" y="2212848"/>
            <a:ext cx="3383280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E6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0">
                <a:solidFill>
                  <a:srgbClr val="1A1A1A"/>
                </a:solidFill>
                <a:latin typeface="Segoe UI"/>
              </a:rPr>
              <a:t>a turn extends its own runaway cap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37574" y="2633472"/>
            <a:ext cx="3383280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E6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0">
                <a:solidFill>
                  <a:srgbClr val="1A1A1A"/>
                </a:solidFill>
                <a:latin typeface="Segoe UI"/>
              </a:rPr>
              <a:t>progress = new reads + edits + tree change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37574" y="3054096"/>
            <a:ext cx="3383280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E6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0">
                <a:solidFill>
                  <a:srgbClr val="1A1A1A"/>
                </a:solidFill>
                <a:latin typeface="Segoe UI"/>
              </a:rPr>
              <a:t>watch_until · schedule_task · serve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37574" y="3474720"/>
            <a:ext cx="3383280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E6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0">
                <a:solidFill>
                  <a:srgbClr val="1A1A1A"/>
                </a:solidFill>
                <a:latin typeface="Segoe UI"/>
              </a:rPr>
              <a:t>a stopped turn resumes, not restarts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160520"/>
            <a:ext cx="10853928" cy="777240"/>
          </a:xfrm>
          <a:prstGeom prst="roundRect">
            <a:avLst>
              <a:gd name="adj" fmla="val 10000"/>
            </a:avLst>
          </a:prstGeom>
          <a:solidFill>
            <a:srgbClr val="ECECEC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1">
                <a:solidFill>
                  <a:srgbClr val="3A3A3A"/>
                </a:solidFill>
                <a:latin typeface="Segoe UI"/>
              </a:rPr>
              <a:t>The trap each rail exists for</a:t>
            </a:r>
          </a:p>
          <a:p>
            <a:pPr algn="ctr"/>
            <a:r>
              <a:rPr sz="1000" b="0">
                <a:solidFill>
                  <a:srgbClr val="1A1A1A"/>
                </a:solidFill>
                <a:latin typeface="Segoe UI"/>
              </a:rPr>
              <a:t>a token-bucket that starts full delivers 2N in the first minute  ·  a boot-time fold leaked compaction into the working day  ·  "distinct tool args" counted a retry as progress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5120640"/>
            <a:ext cx="10853928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F4E79"/>
                </a:solidFill>
                <a:latin typeface="Segoe UI"/>
              </a:rPr>
              <a:t>Escalation</a:t>
            </a:r>
          </a:p>
          <a:p>
            <a:pPr algn="ctr"/>
            <a:r>
              <a:rPr sz="1050" b="0">
                <a:solidFill>
                  <a:srgbClr val="1A1A1A"/>
                </a:solidFill>
                <a:latin typeface="Segoe UI"/>
              </a:rPr>
              <a:t>the LLM client carries a model registry and escalates to a cloud model only when the local one has actually failed the step — not on a timer, and never silently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A1A1A"/>
                </a:solidFill>
                <a:latin typeface="Segoe UI"/>
              </a:rPr>
              <a:t>Safety rails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41248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B6B6B"/>
                </a:solidFill>
                <a:latin typeface="Segoe UI"/>
              </a:rPr>
              <a:t>Autonomy is a table over blast radius, not a confidence threshold.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70432"/>
            <a:ext cx="11091672" cy="9525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27648"/>
            <a:ext cx="9692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B6B6B"/>
                </a:solidFill>
                <a:latin typeface="Segoe UI"/>
              </a:rPr>
              <a:t>A high-confidence prediction never buys its way up a tier: tier 3 never acts, at any confidence.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32764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6B6B6B"/>
                </a:solidFill>
                <a:latin typeface="Segoe UI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81328"/>
            <a:ext cx="1600200" cy="987552"/>
          </a:xfrm>
          <a:prstGeom prst="roundRect">
            <a:avLst>
              <a:gd name="adj" fmla="val 10000"/>
            </a:avLst>
          </a:prstGeom>
          <a:solidFill>
            <a:srgbClr val="DCEEE7"/>
          </a:solidFill>
          <a:ln w="12700">
            <a:solidFill>
              <a:srgbClr val="1E6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1E6B52"/>
                </a:solidFill>
                <a:latin typeface="Segoe UI"/>
              </a:rPr>
              <a:t>TIER 1</a:t>
            </a:r>
          </a:p>
          <a:p>
            <a:pPr algn="ctr"/>
            <a:r>
              <a:rPr sz="900" b="0">
                <a:solidFill>
                  <a:srgbClr val="1A1A1A"/>
                </a:solidFill>
                <a:latin typeface="Segoe UI"/>
              </a:rPr>
              <a:t>reversible, local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68880" y="1481328"/>
            <a:ext cx="2788920" cy="9875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E6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1">
                <a:solidFill>
                  <a:srgbClr val="1E6B52"/>
                </a:solidFill>
                <a:latin typeface="Segoe UI"/>
              </a:rPr>
              <a:t>acts on its own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81328"/>
            <a:ext cx="6099048" cy="9875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</a:p>
          <a:p>
            <a:pPr algn="ctr"/>
            <a:r>
              <a:rPr sz="1100" b="0">
                <a:solidFill>
                  <a:srgbClr val="1A1A1A"/>
                </a:solidFill>
                <a:latin typeface="Segoe UI"/>
              </a:rPr>
              <a:t>read a file · grep · run tests · typecheck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88336"/>
            <a:ext cx="1600200" cy="987552"/>
          </a:xfrm>
          <a:prstGeom prst="roundRect">
            <a:avLst>
              <a:gd name="adj" fmla="val 10000"/>
            </a:avLst>
          </a:prstGeom>
          <a:solidFill>
            <a:srgbClr val="F7ECD5"/>
          </a:solidFill>
          <a:ln w="12700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8A5A00"/>
                </a:solidFill>
                <a:latin typeface="Segoe UI"/>
              </a:rPr>
              <a:t>TIER 2</a:t>
            </a:r>
          </a:p>
          <a:p>
            <a:pPr algn="ctr"/>
            <a:r>
              <a:rPr sz="900" b="0">
                <a:solidFill>
                  <a:srgbClr val="1A1A1A"/>
                </a:solidFill>
                <a:latin typeface="Segoe UI"/>
              </a:rPr>
              <a:t>writes inside the workspace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68880" y="2688336"/>
            <a:ext cx="2788920" cy="9875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1">
                <a:solidFill>
                  <a:srgbClr val="8A5A00"/>
                </a:solidFill>
                <a:latin typeface="Segoe UI"/>
              </a:rPr>
              <a:t>acts, shows the diff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40680" y="2688336"/>
            <a:ext cx="6099048" cy="9875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</a:p>
          <a:p>
            <a:pPr algn="ctr"/>
            <a:r>
              <a:rPr sz="1100" b="0">
                <a:solidFill>
                  <a:srgbClr val="1A1A1A"/>
                </a:solidFill>
                <a:latin typeface="Segoe UI"/>
              </a:rPr>
              <a:t>edit a file · run a command · git add -p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895344"/>
            <a:ext cx="1600200" cy="987552"/>
          </a:xfrm>
          <a:prstGeom prst="roundRect">
            <a:avLst>
              <a:gd name="adj" fmla="val 10000"/>
            </a:avLst>
          </a:prstGeom>
          <a:solidFill>
            <a:srgbClr val="F7DFDF"/>
          </a:solidFill>
          <a:ln w="12700">
            <a:solidFill>
              <a:srgbClr val="8C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8C2F2F"/>
                </a:solidFill>
                <a:latin typeface="Segoe UI"/>
              </a:rPr>
              <a:t>TIER 3</a:t>
            </a:r>
          </a:p>
          <a:p>
            <a:pPr algn="ctr"/>
            <a:r>
              <a:rPr sz="900" b="0">
                <a:solidFill>
                  <a:srgbClr val="1A1A1A"/>
                </a:solidFill>
                <a:latin typeface="Segoe UI"/>
              </a:rPr>
              <a:t>outside, or hard to undo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68880" y="3895344"/>
            <a:ext cx="2788920" cy="9875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8C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1">
                <a:solidFill>
                  <a:srgbClr val="8C2F2F"/>
                </a:solidFill>
                <a:latin typeface="Segoe UI"/>
              </a:rPr>
              <a:t>OFFERS — never acts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895344"/>
            <a:ext cx="6099048" cy="9875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</a:p>
          <a:p>
            <a:pPr algn="ctr"/>
            <a:r>
              <a:rPr sz="1100" b="0">
                <a:solidFill>
                  <a:srgbClr val="1A1A1A"/>
                </a:solidFill>
                <a:latin typeface="Segoe UI"/>
              </a:rPr>
              <a:t>push · deploy · delete · post to Jira / Confluence / email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166360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A1A1A"/>
                </a:solidFill>
                <a:latin typeface="Segoe UI"/>
              </a:rPr>
              <a:t>· Every write shows a diff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516636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Segoe UI"/>
              </a:rPr>
              <a:t>risky commands pause for Approve / Reject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166360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A1A1A"/>
                </a:solidFill>
                <a:latin typeface="Segoe UI"/>
              </a:rPr>
              <a:t>· `git add -A` is refused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516636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Segoe UI"/>
              </a:rPr>
              <a:t>blanket staging is never what was meant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550408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A1A1A"/>
                </a:solidFill>
                <a:latin typeface="Segoe UI"/>
              </a:rPr>
              <a:t>· DELETE has its own floor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5550408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Segoe UI"/>
              </a:rPr>
              <a:t>the delete guard fires even with approvals off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5550408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A1A1A"/>
                </a:solidFill>
                <a:latin typeface="Segoe UI"/>
              </a:rPr>
              <a:t>· Workspace jail on by default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5550408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Segoe UI"/>
              </a:rPr>
              <a:t>AIFORGE_WORKSPACE_DIR clamps file and exec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A1A1A"/>
                </a:solidFill>
                <a:latin typeface="Segoe UI"/>
              </a:rPr>
              <a:t>Security and supply 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41248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B6B6B"/>
                </a:solidFill>
                <a:latin typeface="Segoe UI"/>
              </a:rPr>
              <a:t>No telemetry. Nothing leaves the machine unless you point it somewhere.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70432"/>
            <a:ext cx="11091672" cy="9525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27648"/>
            <a:ext cx="9692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B6B6B"/>
                </a:solidFill>
                <a:latin typeface="Segoe UI"/>
              </a:rPr>
              <a:t>Stated plainly: by default the chat agent has full, unsandboxed shell access on the host. The workspace jail guards file tools, not arbitrary shell — run untrusted work in container mode.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32764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6B6B6B"/>
                </a:solidFill>
                <a:latin typeface="Segoe U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B6B6B"/>
                </a:solidFill>
                <a:latin typeface="Segoe UI"/>
              </a:rPr>
              <a:t>SCANNED AND TRIAGED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00200"/>
            <a:ext cx="1691640" cy="1051560"/>
          </a:xfrm>
          <a:prstGeom prst="roundRect">
            <a:avLst>
              <a:gd name="adj" fmla="val 10000"/>
            </a:avLst>
          </a:prstGeom>
          <a:solidFill>
            <a:srgbClr val="DCEEE7"/>
          </a:solidFill>
          <a:ln w="12700">
            <a:solidFill>
              <a:srgbClr val="1E6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200" b="1">
                <a:solidFill>
                  <a:srgbClr val="1E6B52"/>
                </a:solidFill>
                <a:latin typeface="Segoe UI"/>
              </a:rPr>
              <a:t>0</a:t>
            </a:r>
          </a:p>
          <a:p>
            <a:pPr algn="ctr"/>
            <a:r>
              <a:rPr sz="850" b="0">
                <a:solidFill>
                  <a:srgbClr val="1A1A1A"/>
                </a:solidFill>
                <a:latin typeface="Segoe UI"/>
              </a:rPr>
              <a:t>Sonar bugs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32888" y="1600200"/>
            <a:ext cx="1691640" cy="1051560"/>
          </a:xfrm>
          <a:prstGeom prst="roundRect">
            <a:avLst>
              <a:gd name="adj" fmla="val 10000"/>
            </a:avLst>
          </a:prstGeom>
          <a:solidFill>
            <a:srgbClr val="DCEEE7"/>
          </a:solidFill>
          <a:ln w="12700">
            <a:solidFill>
              <a:srgbClr val="1E6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200" b="1">
                <a:solidFill>
                  <a:srgbClr val="1E6B52"/>
                </a:solidFill>
                <a:latin typeface="Segoe UI"/>
              </a:rPr>
              <a:t>0</a:t>
            </a:r>
          </a:p>
          <a:p>
            <a:pPr algn="ctr"/>
            <a:r>
              <a:rPr sz="850" b="0">
                <a:solidFill>
                  <a:srgbClr val="1A1A1A"/>
                </a:solidFill>
                <a:latin typeface="Segoe UI"/>
              </a:rPr>
              <a:t>Trivy findings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9976" y="1600200"/>
            <a:ext cx="1691640" cy="1051560"/>
          </a:xfrm>
          <a:prstGeom prst="roundRect">
            <a:avLst>
              <a:gd name="adj" fmla="val 10000"/>
            </a:avLst>
          </a:prstGeom>
          <a:solidFill>
            <a:srgbClr val="F7ECD5"/>
          </a:solidFill>
          <a:ln w="12700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200" b="1">
                <a:solidFill>
                  <a:srgbClr val="8A5A00"/>
                </a:solidFill>
                <a:latin typeface="Segoe UI"/>
              </a:rPr>
              <a:t>9</a:t>
            </a:r>
          </a:p>
          <a:p>
            <a:pPr algn="ctr"/>
            <a:r>
              <a:rPr sz="850" b="0">
                <a:solidFill>
                  <a:srgbClr val="1A1A1A"/>
                </a:solidFill>
                <a:latin typeface="Segoe UI"/>
              </a:rPr>
              <a:t>vulns — all</a:t>
            </a:r>
          </a:p>
          <a:p>
            <a:pPr algn="ctr"/>
            <a:r>
              <a:rPr sz="850" b="0">
                <a:solidFill>
                  <a:srgbClr val="1A1A1A"/>
                </a:solidFill>
                <a:latin typeface="Segoe UI"/>
              </a:rPr>
              <a:t>documented TLS</a:t>
            </a:r>
          </a:p>
          <a:p>
            <a:pPr algn="ctr"/>
            <a:r>
              <a:rPr sz="850" b="0">
                <a:solidFill>
                  <a:srgbClr val="1A1A1A"/>
                </a:solidFill>
                <a:latin typeface="Segoe UI"/>
              </a:rPr>
              <a:t>opt-outs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27064" y="1600200"/>
            <a:ext cx="1691640" cy="1051560"/>
          </a:xfrm>
          <a:prstGeom prst="roundRect">
            <a:avLst>
              <a:gd name="adj" fmla="val 10000"/>
            </a:avLst>
          </a:prstGeom>
          <a:solidFill>
            <a:srgbClr val="ECECEC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200" b="1">
                <a:solidFill>
                  <a:srgbClr val="3A3A3A"/>
                </a:solidFill>
                <a:latin typeface="Segoe UI"/>
              </a:rPr>
              <a:t>186</a:t>
            </a:r>
          </a:p>
          <a:p>
            <a:pPr algn="ctr"/>
            <a:r>
              <a:rPr sz="850" b="0">
                <a:solidFill>
                  <a:srgbClr val="1A1A1A"/>
                </a:solidFill>
                <a:latin typeface="Segoe UI"/>
              </a:rPr>
              <a:t>dependency</a:t>
            </a:r>
          </a:p>
          <a:p>
            <a:pPr algn="ctr"/>
            <a:r>
              <a:rPr sz="850" b="0">
                <a:solidFill>
                  <a:srgbClr val="1A1A1A"/>
                </a:solidFill>
                <a:latin typeface="Segoe UI"/>
              </a:rPr>
              <a:t>packages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4152" y="1600200"/>
            <a:ext cx="1691640" cy="1051560"/>
          </a:xfrm>
          <a:prstGeom prst="roundRect">
            <a:avLst>
              <a:gd name="adj" fmla="val 10000"/>
            </a:avLst>
          </a:prstGeom>
          <a:solidFill>
            <a:srgbClr val="DCEEE7"/>
          </a:solidFill>
          <a:ln w="12700">
            <a:solidFill>
              <a:srgbClr val="1E6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200" b="1">
                <a:solidFill>
                  <a:srgbClr val="1E6B52"/>
                </a:solidFill>
                <a:latin typeface="Segoe UI"/>
              </a:rPr>
              <a:t>86%</a:t>
            </a:r>
          </a:p>
          <a:p>
            <a:pPr algn="ctr"/>
            <a:r>
              <a:rPr sz="850" b="0">
                <a:solidFill>
                  <a:srgbClr val="1A1A1A"/>
                </a:solidFill>
                <a:latin typeface="Segoe UI"/>
              </a:rPr>
              <a:t>line coverage</a:t>
            </a:r>
          </a:p>
          <a:p>
            <a:pPr algn="ctr"/>
            <a:r>
              <a:rPr sz="850" b="0">
                <a:solidFill>
                  <a:srgbClr val="1A1A1A"/>
                </a:solidFill>
                <a:latin typeface="Segoe UI"/>
              </a:rPr>
              <a:t>~4,000 tests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21240" y="1600200"/>
            <a:ext cx="1691640" cy="1051560"/>
          </a:xfrm>
          <a:prstGeom prst="roundRect">
            <a:avLst>
              <a:gd name="adj" fmla="val 10000"/>
            </a:avLst>
          </a:prstGeom>
          <a:solidFill>
            <a:srgbClr val="DCEEE7"/>
          </a:solidFill>
          <a:ln w="12700">
            <a:solidFill>
              <a:srgbClr val="1E6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200" b="1">
                <a:solidFill>
                  <a:srgbClr val="1E6B52"/>
                </a:solidFill>
                <a:latin typeface="Segoe UI"/>
              </a:rPr>
              <a:t>≤15</a:t>
            </a:r>
          </a:p>
          <a:p>
            <a:pPr algn="ctr"/>
            <a:r>
              <a:rPr sz="850" b="0">
                <a:solidFill>
                  <a:srgbClr val="1A1A1A"/>
                </a:solidFill>
                <a:latin typeface="Segoe UI"/>
              </a:rPr>
              <a:t>cognitive</a:t>
            </a:r>
          </a:p>
          <a:p>
            <a:pPr algn="ctr"/>
            <a:r>
              <a:rPr sz="850" b="0">
                <a:solidFill>
                  <a:srgbClr val="1A1A1A"/>
                </a:solidFill>
                <a:latin typeface="Segoe UI"/>
              </a:rPr>
              <a:t>complexity, every</a:t>
            </a:r>
          </a:p>
          <a:p>
            <a:pPr algn="ctr"/>
            <a:r>
              <a:rPr sz="850" b="0">
                <a:solidFill>
                  <a:srgbClr val="1A1A1A"/>
                </a:solidFill>
                <a:latin typeface="Segoe UI"/>
              </a:rPr>
              <a:t>function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88036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B6B6B"/>
                </a:solidFill>
                <a:latin typeface="Segoe UI"/>
              </a:rPr>
              <a:t>CI SCAN PIPELINE  (.gitlab-ci.yml)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154680"/>
            <a:ext cx="2103120" cy="868680"/>
          </a:xfrm>
          <a:prstGeom prst="roundRect">
            <a:avLst>
              <a:gd name="adj" fmla="val 10000"/>
            </a:avLst>
          </a:prstGeom>
          <a:solidFill>
            <a:srgbClr val="DCE7F2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1">
                <a:solidFill>
                  <a:srgbClr val="1F4E79"/>
                </a:solidFill>
                <a:latin typeface="Segoe UI"/>
              </a:rPr>
              <a:t>build</a:t>
            </a:r>
          </a:p>
          <a:p>
            <a:pPr algn="ctr"/>
            <a:r>
              <a:rPr sz="850" b="0">
                <a:solidFill>
                  <a:srgbClr val="1A1A1A"/>
                </a:solidFill>
                <a:latin typeface="Segoe UI"/>
              </a:rPr>
              <a:t>uv sync --frozen</a:t>
            </a:r>
          </a:p>
          <a:p>
            <a:pPr algn="ctr"/>
            <a:r>
              <a:rPr sz="850" b="0">
                <a:solidFill>
                  <a:srgbClr val="1A1A1A"/>
                </a:solidFill>
                <a:latin typeface="Segoe UI"/>
              </a:rPr>
              <a:t>uv.lock decides versions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88920" y="3584448"/>
            <a:ext cx="365760" cy="0"/>
          </a:xfrm>
          <a:prstGeom prst="line">
            <a:avLst/>
          </a:prstGeom>
          <a:ln w="19050">
            <a:solidFill>
              <a:srgbClr val="C9C9C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154680" y="3154680"/>
            <a:ext cx="2103120" cy="868680"/>
          </a:xfrm>
          <a:prstGeom prst="roundRect">
            <a:avLst>
              <a:gd name="adj" fmla="val 10000"/>
            </a:avLst>
          </a:prstGeom>
          <a:solidFill>
            <a:srgbClr val="DCEEE7"/>
          </a:solidFill>
          <a:ln w="12700">
            <a:solidFill>
              <a:srgbClr val="1E6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1">
                <a:solidFill>
                  <a:srgbClr val="1E6B52"/>
                </a:solidFill>
                <a:latin typeface="Segoe UI"/>
              </a:rPr>
              <a:t>sonar/</a:t>
            </a:r>
          </a:p>
          <a:p>
            <a:pPr algn="ctr"/>
            <a:r>
              <a:rPr sz="850" b="0">
                <a:solidFill>
                  <a:srgbClr val="1A1A1A"/>
                </a:solidFill>
                <a:latin typeface="Segoe UI"/>
              </a:rPr>
              <a:t>coverage.xml · junit.xml</a:t>
            </a:r>
          </a:p>
          <a:p>
            <a:pPr algn="ctr"/>
            <a:r>
              <a:rPr sz="850" b="0">
                <a:solidFill>
                  <a:srgbClr val="1A1A1A"/>
                </a:solidFill>
                <a:latin typeface="Segoe UI"/>
              </a:rPr>
              <a:t>+ web/src included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54680" y="4160520"/>
            <a:ext cx="2103120" cy="868680"/>
          </a:xfrm>
          <a:prstGeom prst="roundRect">
            <a:avLst>
              <a:gd name="adj" fmla="val 10000"/>
            </a:avLst>
          </a:prstGeom>
          <a:solidFill>
            <a:srgbClr val="EAE1F0"/>
          </a:solidFill>
          <a:ln w="12700">
            <a:solidFill>
              <a:srgbClr val="5B3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1">
                <a:solidFill>
                  <a:srgbClr val="5B3A6E"/>
                </a:solidFill>
                <a:latin typeface="Segoe UI"/>
              </a:rPr>
              <a:t>blackduck/</a:t>
            </a:r>
          </a:p>
          <a:p>
            <a:pPr algn="ctr"/>
            <a:r>
              <a:rPr sz="850" b="0">
                <a:solidFill>
                  <a:srgbClr val="1A1A1A"/>
                </a:solidFill>
                <a:latin typeface="Segoe UI"/>
              </a:rPr>
              <a:t>pinned requirements</a:t>
            </a:r>
          </a:p>
          <a:p>
            <a:pPr algn="ctr"/>
            <a:r>
              <a:rPr sz="850" b="0">
                <a:solidFill>
                  <a:srgbClr val="1A1A1A"/>
                </a:solidFill>
                <a:latin typeface="Segoe UI"/>
              </a:rPr>
              <a:t>CycloneDX SBOM · wheels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788920" y="3584448"/>
            <a:ext cx="365760" cy="1005840"/>
          </a:xfrm>
          <a:prstGeom prst="line">
            <a:avLst/>
          </a:prstGeom>
          <a:ln w="19050">
            <a:solidFill>
              <a:srgbClr val="C9C9C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257800" y="3584448"/>
            <a:ext cx="365760" cy="0"/>
          </a:xfrm>
          <a:prstGeom prst="line">
            <a:avLst/>
          </a:prstGeom>
          <a:ln w="19050">
            <a:solidFill>
              <a:srgbClr val="C9C9C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623560" y="3154680"/>
            <a:ext cx="201168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E6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1">
                <a:solidFill>
                  <a:srgbClr val="1E6B52"/>
                </a:solidFill>
                <a:latin typeface="Segoe UI"/>
              </a:rPr>
              <a:t>SonarQube</a:t>
            </a:r>
          </a:p>
          <a:p>
            <a:pPr algn="ctr"/>
            <a:r>
              <a:rPr sz="850" b="0">
                <a:solidFill>
                  <a:srgbClr val="1A1A1A"/>
                </a:solidFill>
                <a:latin typeface="Segoe UI"/>
              </a:rPr>
              <a:t>scanner-cli</a:t>
            </a:r>
          </a:p>
          <a:p>
            <a:pPr algn="ctr"/>
            <a:r>
              <a:rPr sz="850" b="0">
                <a:solidFill>
                  <a:srgbClr val="1A1A1A"/>
                </a:solidFill>
                <a:latin typeface="Segoe UI"/>
              </a:rPr>
              <a:t>GIT_DEPTH 0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257800" y="4590288"/>
            <a:ext cx="365760" cy="0"/>
          </a:xfrm>
          <a:prstGeom prst="line">
            <a:avLst/>
          </a:prstGeom>
          <a:ln w="19050">
            <a:solidFill>
              <a:srgbClr val="C9C9C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623560" y="4160520"/>
            <a:ext cx="201168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5B3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1">
                <a:solidFill>
                  <a:srgbClr val="5B3A6E"/>
                </a:solidFill>
                <a:latin typeface="Segoe UI"/>
              </a:rPr>
              <a:t>Black Duck</a:t>
            </a:r>
          </a:p>
          <a:p>
            <a:pPr algn="ctr"/>
            <a:r>
              <a:rPr sz="850" b="0">
                <a:solidFill>
                  <a:srgbClr val="1A1A1A"/>
                </a:solidFill>
                <a:latin typeface="Segoe UI"/>
              </a:rPr>
              <a:t>detect10.sh</a:t>
            </a:r>
          </a:p>
          <a:p>
            <a:pPr algn="ctr"/>
            <a:r>
              <a:rPr sz="850" b="0">
                <a:solidFill>
                  <a:srgbClr val="1A1A1A"/>
                </a:solidFill>
                <a:latin typeface="Segoe UI"/>
              </a:rPr>
              <a:t>ships SHIPPED pins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01000" y="3154680"/>
            <a:ext cx="3520440" cy="187451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1">
                <a:solidFill>
                  <a:srgbClr val="3A3A3A"/>
                </a:solidFill>
                <a:latin typeface="Segoe UI"/>
              </a:rPr>
              <a:t>Data control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79" y="3566160"/>
            <a:ext cx="3246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A1A1A"/>
                </a:solidFill>
                <a:latin typeface="Segoe UI"/>
              </a:rPr>
              <a:t>· Telemetry: none, and none in the lock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79" y="3803904"/>
            <a:ext cx="3246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A1A1A"/>
                </a:solidFill>
                <a:latin typeface="Segoe UI"/>
              </a:rPr>
              <a:t>· Prompts go only to YOUR endpoint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79" y="4041648"/>
            <a:ext cx="3246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A1A1A"/>
                </a:solidFill>
                <a:latin typeface="Segoe UI"/>
              </a:rPr>
              <a:t>· At rest: ~/.aiforge/ — delete it, it is gone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79" y="4279392"/>
            <a:ext cx="3246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A1A1A"/>
                </a:solidFill>
                <a:latin typeface="Segoe UI"/>
              </a:rPr>
              <a:t>· Loopback by default; loud warning if not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79" y="4517136"/>
            <a:ext cx="3246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A1A1A"/>
                </a:solidFill>
                <a:latin typeface="Segoe UI"/>
              </a:rPr>
              <a:t>· SSRF guard on fetch and crawl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83879" y="4754880"/>
            <a:ext cx="3246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A1A1A"/>
                </a:solidFill>
                <a:latin typeface="Segoe UI"/>
              </a:rPr>
              <a:t>· Workspace jail on by default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5230368"/>
            <a:ext cx="10853928" cy="548640"/>
          </a:xfrm>
          <a:prstGeom prst="roundRect">
            <a:avLst>
              <a:gd name="adj" fmla="val 10000"/>
            </a:avLst>
          </a:prstGeom>
          <a:solidFill>
            <a:srgbClr val="F7ECD5"/>
          </a:solidFill>
          <a:ln w="12700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8A5A00"/>
                </a:solidFill>
                <a:latin typeface="Segoe UI"/>
              </a:rPr>
              <a:t>The 9 vulnerabilities are decisions, not debt</a:t>
            </a:r>
          </a:p>
          <a:p>
            <a:pPr algn="ctr"/>
            <a:r>
              <a:rPr sz="950" b="0">
                <a:solidFill>
                  <a:srgbClr val="1A1A1A"/>
                </a:solidFill>
                <a:latin typeface="Segoe UI"/>
              </a:rPr>
              <a:t>TLS verification is disabled only per endpoint, opt-in, for self-signed internal hosts (Jira / Confluence / GitLab) — each one individually triaged and documented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A1A1A"/>
                </a:solidFill>
                <a:latin typeface="Segoe UI"/>
              </a:rPr>
              <a:t>Where it differs from the other agent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41248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B6B6B"/>
                </a:solidFill>
                <a:latin typeface="Segoe UI"/>
              </a:rPr>
              <a:t>It adopts their formats rather than replacing them — then adds the two things none of them do.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70432"/>
            <a:ext cx="11091672" cy="9525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27648"/>
            <a:ext cx="9692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B6B6B"/>
                </a:solidFill>
                <a:latin typeface="Segoe UI"/>
              </a:rPr>
              <a:t>Named comparisons are the ones the codebase itself cites: the SKILL.md gaps vs Hermes Agent / OpenClaw, and Cursor's glob-scoped rule format.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32764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6B6B6B"/>
                </a:solidFill>
                <a:latin typeface="Segoe UI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89888"/>
            <a:ext cx="10853928" cy="713232"/>
          </a:xfrm>
          <a:prstGeom prst="roundRect">
            <a:avLst>
              <a:gd name="adj" fmla="val 10000"/>
            </a:avLst>
          </a:prstGeom>
          <a:solidFill>
            <a:srgbClr val="DCEEE7"/>
          </a:solidFill>
          <a:ln w="12700">
            <a:solidFill>
              <a:srgbClr val="1E6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1E6B52"/>
                </a:solidFill>
                <a:latin typeface="Segoe UI"/>
              </a:rPr>
              <a:t>Reads what your repo already has</a:t>
            </a:r>
          </a:p>
          <a:p>
            <a:pPr algn="ctr"/>
            <a:r>
              <a:rPr sz="1050" b="0">
                <a:solidFill>
                  <a:srgbClr val="1A1A1A"/>
                </a:solidFill>
                <a:latin typeface="Segoe UI"/>
              </a:rPr>
              <a:t>.cursor/rules/*.mdc  ·  .cursorrules  ·  AGENTS.md  ·  SKILL.md (agentskills.io)  —  no migration, no lock-in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267712"/>
            <a:ext cx="10853928" cy="475488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9572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1A1A"/>
                </a:solidFill>
                <a:latin typeface="Segoe UI"/>
              </a:rPr>
              <a:t>Ticket → PR AND chat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23957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Segoe UI"/>
              </a:rPr>
              <a:t>usually one or the other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2395728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Segoe UI"/>
              </a:rPr>
              <a:t>▸ one service does both, on the same tool registry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798064"/>
            <a:ext cx="10853928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92608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1A1A"/>
                </a:solidFill>
                <a:latin typeface="Segoe UI"/>
              </a:rPr>
              <a:t>Model requirement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292608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Segoe UI"/>
              </a:rPr>
              <a:t>vendor function-calling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2926080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Segoe UI"/>
              </a:rPr>
              <a:t>▸ plain-text ReAct — a 4-bit local model drives 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328416"/>
            <a:ext cx="10853928" cy="475488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456432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1A1A"/>
                </a:solidFill>
                <a:latin typeface="Segoe UI"/>
              </a:rPr>
              <a:t>Memory store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345643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Segoe UI"/>
              </a:rPr>
              <a:t>a vector DB to install, tune, back 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3456432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Segoe UI"/>
              </a:rPr>
              <a:t>▸ markdown + one SQLite file; grep it, delete 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3858768"/>
            <a:ext cx="10853928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98678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1A1A"/>
                </a:solidFill>
                <a:latin typeface="Segoe UI"/>
              </a:rPr>
              <a:t>Skill discovery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46120" y="398678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Segoe UI"/>
              </a:rPr>
              <a:t>trigger substring match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3986784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Segoe UI"/>
              </a:rPr>
              <a:t>▸ searched by RELEVANCE, so the right one is found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4389120"/>
            <a:ext cx="10853928" cy="475488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517136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1A1A"/>
                </a:solidFill>
                <a:latin typeface="Segoe UI"/>
              </a:rPr>
              <a:t>Gets better how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46120" y="451713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Segoe UI"/>
              </a:rPr>
              <a:t>you write the prompts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4517136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Segoe UI"/>
              </a:rPr>
              <a:t>▸ write_skill() / write_workflow() — it authors its own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4919472"/>
            <a:ext cx="10853928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04748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1A1A"/>
                </a:solidFill>
                <a:latin typeface="Segoe UI"/>
              </a:rPr>
              <a:t>Across machines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46120" y="504748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Segoe UI"/>
              </a:rPr>
              <a:t>per-machine, or a vendor cloud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5047488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Segoe UI"/>
              </a:rPr>
              <a:t>▸ fleet sync: groups, redaction, snapshot + revert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" y="5449824"/>
            <a:ext cx="10853928" cy="475488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557784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1A1A"/>
                </a:solidFill>
                <a:latin typeface="Segoe UI"/>
              </a:rPr>
              <a:t>Telemetry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46120" y="55778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Segoe UI"/>
              </a:rPr>
              <a:t>usually on by default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0" y="5577840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Segoe UI"/>
              </a:rPr>
              <a:t>▸ none, and none in the lock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46120" y="2011680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B6B6B"/>
                </a:solidFill>
                <a:latin typeface="Segoe UI"/>
              </a:rPr>
              <a:t>typical agent tool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0880" y="2011680"/>
            <a:ext cx="4389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4E79"/>
                </a:solidFill>
                <a:latin typeface="Segoe UI"/>
              </a:rPr>
              <a:t>AIForgeCrew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A1A1A"/>
                </a:solidFill>
                <a:latin typeface="Segoe UI"/>
              </a:rPr>
              <a:t>Compared with the usual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41248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B6B6B"/>
                </a:solidFill>
                <a:latin typeface="Segoe UI"/>
              </a:rPr>
              <a:t>Every operational burden a vector-database stack adds, removed.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70432"/>
            <a:ext cx="11091672" cy="9525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632764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6B6B6B"/>
                </a:solidFill>
                <a:latin typeface="Segoe UI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88920" y="141732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B6B6B"/>
                </a:solidFill>
                <a:latin typeface="Segoe UI"/>
              </a:rPr>
              <a:t>Typical agent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6600" y="1417320"/>
            <a:ext cx="44531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4E79"/>
                </a:solidFill>
                <a:latin typeface="Segoe UI"/>
              </a:rPr>
              <a:t>AIForgeCrew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783080"/>
            <a:ext cx="10853928" cy="54864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38528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1A1A"/>
                </a:solidFill>
                <a:latin typeface="Segoe UI"/>
              </a:rPr>
              <a:t>Storage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1938528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Segoe UI"/>
              </a:rPr>
              <a:t>vector DB service to install, tune, back 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1938528"/>
            <a:ext cx="4297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Segoe UI"/>
              </a:rPr>
              <a:t>markdown files + one SQLite under ~/.aiforge/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386584"/>
            <a:ext cx="10853928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542032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1A1A"/>
                </a:solidFill>
                <a:latin typeface="Segoe UI"/>
              </a:rPr>
              <a:t>Inspect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2542032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Segoe UI"/>
              </a:rPr>
              <a:t>query the DB, decode embeddings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2542032"/>
            <a:ext cx="4297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Segoe UI"/>
              </a:rPr>
              <a:t>cat · grep · an editor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2990088"/>
            <a:ext cx="10853928" cy="54864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145536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1A1A"/>
                </a:solidFill>
                <a:latin typeface="Segoe UI"/>
              </a:rPr>
              <a:t>Version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3145536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Segoe UI"/>
              </a:rPr>
              <a:t>opaque rows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3145536"/>
            <a:ext cx="4297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Segoe UI"/>
              </a:rPr>
              <a:t>git-diffable; hardlink snapshots + revert endpoint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3593592"/>
            <a:ext cx="10853928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749040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1A1A"/>
                </a:solidFill>
                <a:latin typeface="Segoe UI"/>
              </a:rPr>
              <a:t>Move a machine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88920" y="374904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Segoe UI"/>
              </a:rPr>
              <a:t>dump and restore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3749040"/>
            <a:ext cx="4297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Segoe UI"/>
              </a:rPr>
              <a:t>copy a folder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4197096"/>
            <a:ext cx="10853928" cy="54864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352544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1A1A"/>
                </a:solidFill>
                <a:latin typeface="Segoe UI"/>
              </a:rPr>
              <a:t>Delete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88920" y="4352544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Segoe UI"/>
              </a:rPr>
              <a:t>hope the rows are gone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4352544"/>
            <a:ext cx="4297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Segoe UI"/>
              </a:rPr>
              <a:t>delete the folder — there is no second copy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4800600"/>
            <a:ext cx="10853928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4956048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1A1A"/>
                </a:solidFill>
                <a:latin typeface="Segoe UI"/>
              </a:rPr>
              <a:t>Model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88920" y="4956048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Segoe UI"/>
              </a:rPr>
              <a:t>vendor function-calling required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86600" y="4956048"/>
            <a:ext cx="4297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Segoe UI"/>
              </a:rPr>
              <a:t>plain-text ReAct — any model drives it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" y="5404104"/>
            <a:ext cx="10853928" cy="54864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5559552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1A1A"/>
                </a:solidFill>
                <a:latin typeface="Segoe UI"/>
              </a:rPr>
              <a:t>Telemetry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88920" y="5559552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Segoe UI"/>
              </a:rPr>
              <a:t>usually on by default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86600" y="5559552"/>
            <a:ext cx="4297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Segoe UI"/>
              </a:rPr>
              <a:t>none, and none in the lock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A1A1A"/>
                </a:solidFill>
                <a:latin typeface="Segoe UI"/>
              </a:rPr>
              <a:t>How to deploy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41248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B6B6B"/>
                </a:solidFill>
                <a:latin typeface="Segoe UI"/>
              </a:rPr>
              <a:t>Zero-Docker is a first-class mode, not a degraded one.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70432"/>
            <a:ext cx="11091672" cy="9525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27648"/>
            <a:ext cx="9692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B6B6B"/>
                </a:solidFill>
                <a:latin typeface="Segoe UI"/>
              </a:rPr>
              <a:t>One service, one port, one folder of state. Moving a machine is copying ~/.aiforge/.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32764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6B6B6B"/>
                </a:solidFill>
                <a:latin typeface="Segoe UI"/>
              </a:rP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54480"/>
            <a:ext cx="3383280" cy="1737360"/>
          </a:xfrm>
          <a:prstGeom prst="roundRect">
            <a:avLst>
              <a:gd name="adj" fmla="val 10000"/>
            </a:avLst>
          </a:prstGeom>
          <a:solidFill>
            <a:srgbClr val="DCEEE7"/>
          </a:solidFill>
          <a:ln w="12700">
            <a:solidFill>
              <a:srgbClr val="1E6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700" b="1">
                <a:solidFill>
                  <a:srgbClr val="1E6B52"/>
                </a:solidFill>
                <a:latin typeface="Segoe UI"/>
              </a:rPr>
              <a:t>Laptop</a:t>
            </a:r>
          </a:p>
          <a:p>
            <a:pPr algn="ctr"/>
          </a:p>
          <a:p>
            <a:pPr algn="ctr"/>
            <a:r>
              <a:rPr sz="1050" b="0">
                <a:solidFill>
                  <a:srgbClr val="1A1A1A"/>
                </a:solidFill>
                <a:latin typeface="Segoe UI"/>
              </a:rPr>
              <a:t>./run.sh</a:t>
            </a:r>
          </a:p>
          <a:p>
            <a:pPr algn="ctr"/>
          </a:p>
          <a:p>
            <a:pPr algn="ctr"/>
            <a:r>
              <a:rPr sz="1050" b="0">
                <a:solidFill>
                  <a:srgbClr val="1A1A1A"/>
                </a:solidFill>
                <a:latin typeface="Segoe UI"/>
              </a:rPr>
              <a:t>everything local</a:t>
            </a:r>
          </a:p>
          <a:p>
            <a:pPr algn="ctr"/>
            <a:r>
              <a:rPr sz="1050" b="0">
                <a:solidFill>
                  <a:srgbClr val="1A1A1A"/>
                </a:solidFill>
                <a:latin typeface="Segoe UI"/>
              </a:rPr>
              <a:t>unset admin URL = you are the admin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1687" y="1554480"/>
            <a:ext cx="3383280" cy="1737360"/>
          </a:xfrm>
          <a:prstGeom prst="roundRect">
            <a:avLst>
              <a:gd name="adj" fmla="val 10000"/>
            </a:avLst>
          </a:prstGeom>
          <a:solidFill>
            <a:srgbClr val="DCE7F2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700" b="1">
                <a:solidFill>
                  <a:srgbClr val="1F4E79"/>
                </a:solidFill>
                <a:latin typeface="Segoe UI"/>
              </a:rPr>
              <a:t>NUC / server</a:t>
            </a:r>
          </a:p>
          <a:p>
            <a:pPr algn="ctr"/>
          </a:p>
          <a:p>
            <a:pPr algn="ctr"/>
            <a:r>
              <a:rPr sz="1050" b="0">
                <a:solidFill>
                  <a:srgbClr val="1A1A1A"/>
                </a:solidFill>
                <a:latin typeface="Segoe UI"/>
              </a:rPr>
              <a:t>systemd user unit</a:t>
            </a:r>
          </a:p>
          <a:p>
            <a:pPr algn="ctr"/>
          </a:p>
          <a:p>
            <a:pPr algn="ctr"/>
            <a:r>
              <a:rPr sz="1050" b="0">
                <a:solidFill>
                  <a:srgbClr val="1A1A1A"/>
                </a:solidFill>
                <a:latin typeface="Segoe UI"/>
              </a:rPr>
              <a:t>always-on admin hub</a:t>
            </a:r>
          </a:p>
          <a:p>
            <a:pPr algn="ctr"/>
            <a:r>
              <a:rPr sz="1050" b="0">
                <a:solidFill>
                  <a:srgbClr val="1A1A1A"/>
                </a:solidFill>
                <a:latin typeface="Segoe UI"/>
              </a:rPr>
              <a:t>spokes sync to 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37574" y="1554480"/>
            <a:ext cx="3383280" cy="1737360"/>
          </a:xfrm>
          <a:prstGeom prst="roundRect">
            <a:avLst>
              <a:gd name="adj" fmla="val 10000"/>
            </a:avLst>
          </a:prstGeom>
          <a:solidFill>
            <a:srgbClr val="EAE1F0"/>
          </a:solidFill>
          <a:ln w="12700">
            <a:solidFill>
              <a:srgbClr val="5B3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700" b="1">
                <a:solidFill>
                  <a:srgbClr val="5B3A6E"/>
                </a:solidFill>
                <a:latin typeface="Segoe UI"/>
              </a:rPr>
              <a:t>Container</a:t>
            </a:r>
          </a:p>
          <a:p>
            <a:pPr algn="ctr"/>
          </a:p>
          <a:p>
            <a:pPr algn="ctr"/>
            <a:r>
              <a:rPr sz="1050" b="0">
                <a:solidFill>
                  <a:srgbClr val="1A1A1A"/>
                </a:solidFill>
                <a:latin typeface="Segoe UI"/>
              </a:rPr>
              <a:t>docker compose</a:t>
            </a:r>
          </a:p>
          <a:p>
            <a:pPr algn="ctr"/>
          </a:p>
          <a:p>
            <a:pPr algn="ctr"/>
            <a:r>
              <a:rPr sz="1050" b="0">
                <a:solidFill>
                  <a:srgbClr val="1A1A1A"/>
                </a:solidFill>
                <a:latin typeface="Segoe UI"/>
              </a:rPr>
              <a:t>for untrusted work</a:t>
            </a:r>
          </a:p>
          <a:p>
            <a:pPr algn="ctr"/>
            <a:r>
              <a:rPr sz="1050" b="0">
                <a:solidFill>
                  <a:srgbClr val="1A1A1A"/>
                </a:solidFill>
                <a:latin typeface="Segoe UI"/>
              </a:rPr>
              <a:t>the jail you actually want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611880"/>
            <a:ext cx="1083564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A1A1A"/>
                </a:solidFill>
                <a:latin typeface="Segoe UI"/>
              </a:rPr>
              <a:t>Requires</a:t>
            </a:r>
          </a:p>
          <a:p>
            <a:pPr algn="ctr"/>
            <a:r>
              <a:rPr sz="1050" b="0">
                <a:solidFill>
                  <a:srgbClr val="1A1A1A"/>
                </a:solidFill>
                <a:latin typeface="Segoe UI"/>
              </a:rPr>
              <a:t>Python 3.12  ·  one OpenAI-compatible endpoint  ·  no GPU, no torch, no Postgres, no Neo4j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389120"/>
            <a:ext cx="10835640" cy="1234440"/>
          </a:xfrm>
          <a:prstGeom prst="roundRect">
            <a:avLst>
              <a:gd name="adj" fmla="val 10000"/>
            </a:avLst>
          </a:prstGeom>
          <a:solidFill>
            <a:srgbClr val="ECECEC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3A3A3A"/>
                </a:solidFill>
                <a:latin typeface="Segoe UI"/>
              </a:rPr>
              <a:t>Kept honest</a:t>
            </a:r>
          </a:p>
          <a:p>
            <a:pPr algn="ctr"/>
            <a:r>
              <a:rPr sz="1050" b="0">
                <a:solidFill>
                  <a:srgbClr val="1A1A1A"/>
                </a:solidFill>
                <a:latin typeface="Segoe UI"/>
              </a:rPr>
              <a:t>~4,000 tests, 0 failing  ·  86% line coverage  ·  Sonar 0 bugs, every function under cognitive complexity 15</a:t>
            </a:r>
          </a:p>
          <a:p>
            <a:pPr algn="ctr"/>
            <a:r>
              <a:rPr sz="1050" b="0">
                <a:solidFill>
                  <a:srgbClr val="1A1A1A"/>
                </a:solidFill>
                <a:latin typeface="Segoe UI"/>
              </a:rPr>
              <a:t>chat and pipeline tool registries are parity-tested  ·  uv.lock pinned and shipped  ·  CycloneDX SBOM in CI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A1A1A"/>
                </a:solidFill>
                <a:latin typeface="Segoe UI"/>
              </a:rPr>
              <a:t>In one slide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1091672" cy="9525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18520" y="632764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6B6B6B"/>
                </a:solidFill>
                <a:latin typeface="Segoe UI"/>
              </a:rPr>
              <a:t>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54480"/>
            <a:ext cx="5321808" cy="1143000"/>
          </a:xfrm>
          <a:prstGeom prst="roundRect">
            <a:avLst>
              <a:gd name="adj" fmla="val 10000"/>
            </a:avLst>
          </a:prstGeom>
          <a:solidFill>
            <a:srgbClr val="DCE7F2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1F4E79"/>
                </a:solidFill>
                <a:latin typeface="Segoe UI"/>
              </a:rPr>
              <a:t>One process</a:t>
            </a:r>
          </a:p>
          <a:p>
            <a:pPr algn="ctr"/>
          </a:p>
          <a:p>
            <a:pPr algn="ctr"/>
            <a:r>
              <a:rPr sz="1100" b="0">
                <a:solidFill>
                  <a:srgbClr val="1A1A1A"/>
                </a:solidFill>
                <a:latin typeface="Segoe UI"/>
              </a:rPr>
              <a:t>FastAPI on 8799; every engine is a library inside 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321808" cy="1143000"/>
          </a:xfrm>
          <a:prstGeom prst="roundRect">
            <a:avLst>
              <a:gd name="adj" fmla="val 10000"/>
            </a:avLst>
          </a:prstGeom>
          <a:solidFill>
            <a:srgbClr val="DCEEE7"/>
          </a:solidFill>
          <a:ln w="12700">
            <a:solidFill>
              <a:srgbClr val="1E6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1E6B52"/>
                </a:solidFill>
                <a:latin typeface="Segoe UI"/>
              </a:rPr>
              <a:t>Two ways in</a:t>
            </a:r>
          </a:p>
          <a:p>
            <a:pPr algn="ctr"/>
          </a:p>
          <a:p>
            <a:pPr algn="ctr"/>
            <a:r>
              <a:rPr sz="1100" b="0">
                <a:solidFill>
                  <a:srgbClr val="1A1A1A"/>
                </a:solidFill>
                <a:latin typeface="Segoe UI"/>
              </a:rPr>
              <a:t>a ticket becomes a PR, or you chat with the filesystem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971800"/>
            <a:ext cx="5321808" cy="1143000"/>
          </a:xfrm>
          <a:prstGeom prst="roundRect">
            <a:avLst>
              <a:gd name="adj" fmla="val 10000"/>
            </a:avLst>
          </a:prstGeom>
          <a:solidFill>
            <a:srgbClr val="DCEEE7"/>
          </a:solidFill>
          <a:ln w="12700">
            <a:solidFill>
              <a:srgbClr val="1E6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1E6B52"/>
                </a:solidFill>
                <a:latin typeface="Segoe UI"/>
              </a:rPr>
              <a:t>Three chat modes</a:t>
            </a:r>
          </a:p>
          <a:p>
            <a:pPr algn="ctr"/>
          </a:p>
          <a:p>
            <a:pPr algn="ctr"/>
            <a:r>
              <a:rPr sz="1100" b="0">
                <a:solidFill>
                  <a:srgbClr val="1A1A1A"/>
                </a:solidFill>
                <a:latin typeface="Segoe UI"/>
              </a:rPr>
              <a:t>Simple writes, Plan is read-only, Team is the pipeline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971800"/>
            <a:ext cx="5321808" cy="1143000"/>
          </a:xfrm>
          <a:prstGeom prst="roundRect">
            <a:avLst>
              <a:gd name="adj" fmla="val 10000"/>
            </a:avLst>
          </a:prstGeom>
          <a:solidFill>
            <a:srgbClr val="F7ECD5"/>
          </a:solidFill>
          <a:ln w="12700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8A5A00"/>
                </a:solidFill>
                <a:latin typeface="Segoe UI"/>
              </a:rPr>
              <a:t>Memory is a folder</a:t>
            </a:r>
          </a:p>
          <a:p>
            <a:pPr algn="ctr"/>
          </a:p>
          <a:p>
            <a:pPr algn="ctr"/>
            <a:r>
              <a:rPr sz="1100" b="0">
                <a:solidFill>
                  <a:srgbClr val="1A1A1A"/>
                </a:solidFill>
                <a:latin typeface="Segoe UI"/>
              </a:rPr>
              <a:t>markdown + one SQLite; grep it, diff it, delete 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389120"/>
            <a:ext cx="5321808" cy="1143000"/>
          </a:xfrm>
          <a:prstGeom prst="roundRect">
            <a:avLst>
              <a:gd name="adj" fmla="val 10000"/>
            </a:avLst>
          </a:prstGeom>
          <a:solidFill>
            <a:srgbClr val="EAE1F0"/>
          </a:solidFill>
          <a:ln w="12700">
            <a:solidFill>
              <a:srgbClr val="5B3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5B3A6E"/>
                </a:solidFill>
                <a:latin typeface="Segoe UI"/>
              </a:rPr>
              <a:t>One admin merges</a:t>
            </a:r>
          </a:p>
          <a:p>
            <a:pPr algn="ctr"/>
          </a:p>
          <a:p>
            <a:pPr algn="ctr"/>
            <a:r>
              <a:rPr sz="1100" b="0">
                <a:solidFill>
                  <a:srgbClr val="1A1A1A"/>
                </a:solidFill>
                <a:latin typeface="Segoe UI"/>
              </a:rPr>
              <a:t>spokes compact locally; redaction runs before a note is advertised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389120"/>
            <a:ext cx="5321808" cy="1143000"/>
          </a:xfrm>
          <a:prstGeom prst="roundRect">
            <a:avLst>
              <a:gd name="adj" fmla="val 10000"/>
            </a:avLst>
          </a:prstGeom>
          <a:solidFill>
            <a:srgbClr val="F7DFDF"/>
          </a:solidFill>
          <a:ln w="12700">
            <a:solidFill>
              <a:srgbClr val="8C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8C2F2F"/>
                </a:solidFill>
                <a:latin typeface="Segoe UI"/>
              </a:rPr>
              <a:t>Nothing phones home</a:t>
            </a:r>
          </a:p>
          <a:p>
            <a:pPr algn="ctr"/>
          </a:p>
          <a:p>
            <a:pPr algn="ctr"/>
            <a:r>
              <a:rPr sz="1100" b="0">
                <a:solidFill>
                  <a:srgbClr val="1A1A1A"/>
                </a:solidFill>
                <a:latin typeface="Segoe UI"/>
              </a:rPr>
              <a:t>no telemetry; prompts go only to the endpoint you 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870448"/>
            <a:ext cx="108539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Segoe UI"/>
              </a:rPr>
              <a:t>Self-hosted · no database to operate · ~4,000 tests, 0 failing · 86% coverage · Sonar 0 bugs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