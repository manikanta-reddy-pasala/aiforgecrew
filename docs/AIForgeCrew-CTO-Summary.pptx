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1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Slides/_rels/notesSlide4.xml.rels" ContentType="application/vnd.openxmlformats-package.relationships+xml"/>
  <Override PartName="/ppt/notesSlides/_rels/notesSlide3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notesMasterIdLst>
    <p:notesMasterId r:id="rId13"/>
  </p:notesMasterIdLst>
  <p:sldIdLst>
    <p:sldId id="256" r:id="rId14"/>
    <p:sldId id="257" r:id="rId15"/>
    <p:sldId id="258" r:id="rId16"/>
    <p:sldId id="259" r:id="rId17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slide" Target="slides/slide4.xml"/><Relationship Id="rId18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move the slide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9631CA6F-3251-418E-B9B7-9C9747995108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32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The argument, in the order the page makes it.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1. Standing still is now the expensive option. The teams we compete with are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shipping with AI in the loop, and our own engineers already know it — the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demand is not hypothetical, it is here and it is being met somewhere else.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Choosing not to decide is still a decision, and it is the one that costs the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most.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2. It is already in the building, just not through us. People are using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personal accounts, browser extensions and free tiers, and pasting whatever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they are working on into them. We cannot say which tools are in use, what left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with them, what it costs, or what a customer would be told if they asked.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There is no allow-list to enforce and no log to produce. This is the control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problem, and it gets worse every month we leave it alone.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3. The gain is real but uneven. Whoever found a tool got faster; nobody else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did. None of that speed is shared, repeatable or measurable, so we cannot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plan around it or prove it.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The answer: one platform we run ourselves. Our own model on our own hardware,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so the code and the customer data never leave. Every call through one gate, so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there is a log and an allow-list. Tools scoped to a role, with approval before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anything reaches outside. And the same capability for every engineer, not just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the ones who went looking.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The following pages describe what that platform is, how it is contained, and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what it measurably does today.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215774A-B794-4E49-AE85-90550602BE4D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32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One FastAPI process, one port, one folder of state (measured on main @ 7d9e60ae, 2026-09-06). Chat engine,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agent pipeline, memory, integrations and job scheduler are libraries inside it.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Python 3.12 and one model endpoint; no GPU, torch, Postgres, Neo4j, vector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store or message broker. Runs on a desktop, a NUC, a server under systemd or a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container — the same single command. Upgrades pull and restart; the data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migrates in place. Backup is copying one folder.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The pipeline in full: Triage, Enhancer, Architect, Planner, Verifier, then a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build loop of up to four parallel subtasks each in its own git worktree (Doer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edits, tests run, Feedback reads failures, Refiner fixes), then Validator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gates, Live-verifier runs the real recipe, Learner writes memory back, and the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result is a merge request a human reviews. Reasoning is plain text, so any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model drives it — no vendor function-calling. Simple mode writes, Plan mode is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read-only, Team mode runs the whole pipeline.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108 tools in the chat catalogue, 19 agent roles, 71,204 lines of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production code, 8,606 tests, zero findings of any kind from the scanner.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Integrations: Jira 21 tools, Confluence 14, GitLab 10, plus GitHub, e-mail and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any MCP server; a tool with no credentials hides itself. A tree-sitter and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PageRank repo map plus 5 knowledge-graph tools choose context instead of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pasting it. Persistent shell, language server, type-checker, test runner and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an IPython kernel are all real, not simulated. A local vision model can look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at the running app.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Where we go beyond the open-source terminal agents (OpenCode, Aider, Cline):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they stop at one developer's machine and one chat loop, and leave the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enterprise plumbing to you — shared team memory, one egress gate across tool,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shell and notebook, our own certificate authority, and approvals before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anything reaches outside.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DCBCE99F-1349-489B-9578-7E779BEF505C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32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The incident that set the bar: a fetch the tool refused was rerouted through a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shell curl, then through a notebook cell, and it worked. A boundary you can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walk around by changing transport is a suggestion, so one module —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net/egress.py — answers on all three paths and after every redirect, and a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missing allow-list entry is DENIED rather than escalated to a human. Every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control here began as a bypass that WORKED in testing, and each is pinned by a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test verified to fail on the tree before the fix (measured on main @ 7d9e60ae, 2026-09-06).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Refused outbound: scp, rsync, sftp, ssh host 'cmd', curl -d/-F/-T, aws s3 cp,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docker push, npm publish, git push to a URL, and bash's own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&gt; /dev/tcp/host/port. Inbound: web fetch, crawl, headless browser, @mention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expansion. Web SEARCH was deleted outright because the query string is our own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data leaving the box. AIFORGE_EGRESS_OFF closes everything in one switch;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per-class switches cover integrations, e-mail, telemetry, MCP and fleet sync.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Loopback, LAN, a local registry and a push to a named remote stay allowed on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purpose — a control that blocks ordinary work gets switched off.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Access: a token is required on every API route but health; a non-loopback bind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with NO token refuses to boot. Loopback trust must be declared, because behind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 same-host reverse proxy every request looks like 127.0.0.1 — which was a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full auth bypass. CORS is an allow-list, never a wildcard. Limits: one shared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token, so no per-user identity or SSO yet.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Untrusted input: a ticket description or a fetched page reaches the model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beside our own instruction and we do not classify it. So the answer is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containment: 20 external-write tools ask a human, file tools are clamped to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the workspace, Plan mode cannot write, and unattended runs refuse writes.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Certificates: one bundle covers the model endpoint, Jira, Confluence, GitLab,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our own HTTP and every subprocess (git, curl, npm). Roots and intermediates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are added in Settings, listed with what each one is, and take hold with no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restart. No CERT_NONE anywhere in the tree.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Stated limits, printed in the product's own docs: the notebook guard is a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guard and not a sandbox; a shell can open a socket the policy never sees;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fleet sync is unauthenticated by default; role tool filters fail OPEN so a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typo cannot brick an agent.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6C79820E-83C8-4DE1-8C1A-FC09CF489D9C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33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Memory in detail (measured on main @ 7d9e60ae, 2026-09-06). Each machine compacts what it learned locally. A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redaction filter runs on the CLIENT before anything is advertised: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credential-shaped and private notes are BLOCKED, never quietly edited. One team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admin is the only merger, folding into per-group trees so two teams cannot mix,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and one admin can serve many independent fleets — groups are discovered from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the admin rather than hardcoded. Only distilled knowledge nodes travel;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transcripts, captures and working notes never leave the machine that made them.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Every merge is snapshotted and a revert endpoint restores it. Sync is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spoke-initiated, so laptops behind NAT just work, and moving a machine is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copying a directory. Deploy note: the admin holds the merged fold — bind it to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the LAN or a WireGuard network, because the sync surface is open by default.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The quality numbers are the PLATFORM's, read off the scanner API rather than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inferred from a green pipeline: 0 bugs, 0 vulnerabilities, 0 code smells,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A/A/A ratings, 8,606 tests, 82.8% coverage as Sonar scopes it (86.7% by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pytest-cov on the same run), 71,204 lines, 542 files, 0.1% duplication. Three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test failures are named rather than rounded away: all three need a model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actually served on the shared endpoint, which was empty. Nine standing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vulnerabilities were closed by changing code — TLS pinning, scheme validation,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digest usage — after two earlier passes had triaged them as accepted decisions.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What that number does NOT say: it is the platform's quality, not the agent's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output. There is no evaluation harness — no frozen set of closed tickets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replayed each release, no acceptance rate, no edit distance between what the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agent wrote and what shipped, and nothing re-run when the model is swapped.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There is no load test, so no honest number for users per box. Backup is copying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one folder, but there is no documented restore drill, and the traces name the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BOX rather than a person.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What it asks of us: one machine with a model on it, one folder to back up, and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upgrades that pull, restart and migrate themselves. Decisions we still need: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fund the scoring harness; name an owner and a stand-in; and pick the network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that holds the company memory.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F98134C9-5C98-428F-A70E-99894BD3561A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CEADF77-C42D-4B96-82F2-1346C2A90F3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D9BFE926-704B-44D5-BA56-726A3DDE642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7DE2ECAB-0B59-4721-9BE7-E635FDF3CF0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2987C6CE-7643-48A1-9DC3-89DDA187E72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0BDFAAED-E246-4DB6-9C46-1B3E1F55A2F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A373002A-CF30-496B-9138-C16E081909F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FFE0E0DD-A39D-4440-8324-5ADC82479A7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F8914DA0-8DEB-4BC5-AAD3-D4C48DA24BC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9B2045C0-92AC-4D1F-B455-EA6F524A7AF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98D69096-F45E-469F-A663-FA01128A5A8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98C39C22-D482-4B34-8FF6-BB4C9263012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9F23F62-C6A9-4B46-9654-9AE6E8964DFC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00D0FCE-4740-4C81-A842-A459DFFF0552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3BD5481-9163-42A3-BCF1-02B987CB2D30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3F493EA-FC47-40F7-A7A2-917C0E0213F3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11DE8F6-8927-4AD6-B79A-7E7E07E39D9B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F9F5CB2-B77A-4074-A924-CD566C3A645F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D191E6F-7641-4F92-A801-03854967B422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1D692A5-4A0D-4F7D-AF9F-A0A1C37CBA0D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007BB33-108D-488B-B217-51255FF1238B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7EB961B-D9B0-4CAE-A200-79F5BE95A730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0C100B3-91ED-4934-8C38-DCDC10FBD990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Rectangle 1"/>
          <p:cNvSpPr/>
          <p:nvPr/>
        </p:nvSpPr>
        <p:spPr>
          <a:xfrm>
            <a:off x="0" y="0"/>
            <a:ext cx="12191400" cy="1481040"/>
          </a:xfrm>
          <a:prstGeom prst="rect">
            <a:avLst/>
          </a:prstGeom>
          <a:solidFill>
            <a:srgbClr val="0b1b2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4" name="Rectangle 2"/>
          <p:cNvSpPr/>
          <p:nvPr/>
        </p:nvSpPr>
        <p:spPr>
          <a:xfrm>
            <a:off x="7498080" y="0"/>
            <a:ext cx="4693320" cy="1481040"/>
          </a:xfrm>
          <a:prstGeom prst="rect">
            <a:avLst/>
          </a:prstGeom>
          <a:solidFill>
            <a:srgbClr val="183b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5" name="Rectangle 3"/>
          <p:cNvSpPr/>
          <p:nvPr/>
        </p:nvSpPr>
        <p:spPr>
          <a:xfrm>
            <a:off x="7040880" y="0"/>
            <a:ext cx="456840" cy="1481040"/>
          </a:xfrm>
          <a:prstGeom prst="rect">
            <a:avLst/>
          </a:prstGeom>
          <a:solidFill>
            <a:srgbClr val="112b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6" name="Rectangle 4"/>
          <p:cNvSpPr/>
          <p:nvPr/>
        </p:nvSpPr>
        <p:spPr>
          <a:xfrm>
            <a:off x="0" y="1463040"/>
            <a:ext cx="12191400" cy="37800"/>
          </a:xfrm>
          <a:prstGeom prst="rect">
            <a:avLst/>
          </a:prstGeom>
          <a:solidFill>
            <a:srgbClr val="b7791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7" name="TextBox 5"/>
          <p:cNvSpPr/>
          <p:nvPr/>
        </p:nvSpPr>
        <p:spPr>
          <a:xfrm>
            <a:off x="567000" y="311040"/>
            <a:ext cx="1105740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400" spc="-1" strike="noStrike">
                <a:solidFill>
                  <a:srgbClr val="ffffff"/>
                </a:solidFill>
                <a:latin typeface="Segoe UI"/>
              </a:rPr>
              <a:t>Why we are building this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TextBox 6"/>
          <p:cNvSpPr/>
          <p:nvPr/>
        </p:nvSpPr>
        <p:spPr>
          <a:xfrm>
            <a:off x="567000" y="896040"/>
            <a:ext cx="1105740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b8c7d9"/>
                </a:solidFill>
                <a:latin typeface="Segoe UI"/>
              </a:rPr>
              <a:t>The question is not whether the company uses AI. It already does — through tools nobody approved, logged or paid for.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TextBox 7"/>
          <p:cNvSpPr/>
          <p:nvPr/>
        </p:nvSpPr>
        <p:spPr>
          <a:xfrm>
            <a:off x="11521440" y="6455520"/>
            <a:ext cx="45684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94a3b8"/>
                </a:solidFill>
                <a:latin typeface="Segoe UI"/>
              </a:rPr>
              <a:t>1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Rounded Rectangle 8"/>
          <p:cNvSpPr/>
          <p:nvPr/>
        </p:nvSpPr>
        <p:spPr>
          <a:xfrm>
            <a:off x="567000" y="1847160"/>
            <a:ext cx="3556800" cy="2395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7791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1" name="Oval 9"/>
          <p:cNvSpPr/>
          <p:nvPr/>
        </p:nvSpPr>
        <p:spPr>
          <a:xfrm>
            <a:off x="768240" y="2030040"/>
            <a:ext cx="273960" cy="273960"/>
          </a:xfrm>
          <a:prstGeom prst="ellipse">
            <a:avLst/>
          </a:prstGeom>
          <a:solidFill>
            <a:srgbClr val="b7791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2" name="TextBox 10"/>
          <p:cNvSpPr/>
          <p:nvPr/>
        </p:nvSpPr>
        <p:spPr>
          <a:xfrm>
            <a:off x="768240" y="2062080"/>
            <a:ext cx="27396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Segoe UI"/>
              </a:rPr>
              <a:t>1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TextBox 11"/>
          <p:cNvSpPr/>
          <p:nvPr/>
        </p:nvSpPr>
        <p:spPr>
          <a:xfrm>
            <a:off x="1134000" y="2011680"/>
            <a:ext cx="278856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b7791f"/>
                </a:solidFill>
                <a:latin typeface="Segoe UI"/>
              </a:rPr>
              <a:t>Standing still is now the risk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TextBox 12"/>
          <p:cNvSpPr/>
          <p:nvPr/>
        </p:nvSpPr>
        <p:spPr>
          <a:xfrm>
            <a:off x="768240" y="2633400"/>
            <a:ext cx="315432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94a3b8"/>
                </a:solidFill>
                <a:latin typeface="Segoe UI"/>
              </a:rPr>
              <a:t>HOW FAST WORK SHIPS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13"/>
          <p:cNvSpPr/>
          <p:nvPr/>
        </p:nvSpPr>
        <p:spPr>
          <a:xfrm>
            <a:off x="768240" y="2921400"/>
            <a:ext cx="749520" cy="12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64748b"/>
                </a:solidFill>
                <a:latin typeface="Segoe UI"/>
              </a:rPr>
              <a:t>with AI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ounded Rectangle 14"/>
          <p:cNvSpPr/>
          <p:nvPr/>
        </p:nvSpPr>
        <p:spPr>
          <a:xfrm>
            <a:off x="1554480" y="2907720"/>
            <a:ext cx="2304000" cy="182520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7" name="Rounded Rectangle 15"/>
          <p:cNvSpPr/>
          <p:nvPr/>
        </p:nvSpPr>
        <p:spPr>
          <a:xfrm>
            <a:off x="1554480" y="2907720"/>
            <a:ext cx="2165760" cy="182520"/>
          </a:xfrm>
          <a:prstGeom prst="roundRect">
            <a:avLst>
              <a:gd name="adj" fmla="val 50000"/>
            </a:avLst>
          </a:prstGeom>
          <a:solidFill>
            <a:srgbClr val="b7791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8" name="TextBox 16"/>
          <p:cNvSpPr/>
          <p:nvPr/>
        </p:nvSpPr>
        <p:spPr>
          <a:xfrm>
            <a:off x="768240" y="3232440"/>
            <a:ext cx="749520" cy="12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64748b"/>
                </a:solidFill>
                <a:latin typeface="Segoe UI"/>
              </a:rPr>
              <a:t>us today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Rounded Rectangle 17"/>
          <p:cNvSpPr/>
          <p:nvPr/>
        </p:nvSpPr>
        <p:spPr>
          <a:xfrm>
            <a:off x="1554480" y="3218760"/>
            <a:ext cx="2304000" cy="182520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0" name="Rounded Rectangle 18"/>
          <p:cNvSpPr/>
          <p:nvPr/>
        </p:nvSpPr>
        <p:spPr>
          <a:xfrm>
            <a:off x="1554480" y="3218760"/>
            <a:ext cx="967320" cy="182520"/>
          </a:xfrm>
          <a:prstGeom prst="roundRect">
            <a:avLst>
              <a:gd name="adj" fmla="val 50000"/>
            </a:avLst>
          </a:prstGeom>
          <a:solidFill>
            <a:srgbClr val="cbd5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1" name="TextBox 19"/>
          <p:cNvSpPr/>
          <p:nvPr/>
        </p:nvSpPr>
        <p:spPr>
          <a:xfrm>
            <a:off x="768240" y="3602880"/>
            <a:ext cx="3154320" cy="43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202c"/>
                </a:solidFill>
                <a:latin typeface="Segoe UI"/>
              </a:rPr>
              <a:t>Teams shipping with AI are pulling ahead, and our engineers know it. They are not waiting for us to decide.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Rounded Rectangle 20"/>
          <p:cNvSpPr/>
          <p:nvPr/>
        </p:nvSpPr>
        <p:spPr>
          <a:xfrm>
            <a:off x="4316040" y="1847160"/>
            <a:ext cx="3556800" cy="2395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c5303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3" name="Oval 21"/>
          <p:cNvSpPr/>
          <p:nvPr/>
        </p:nvSpPr>
        <p:spPr>
          <a:xfrm>
            <a:off x="4517280" y="2030040"/>
            <a:ext cx="273960" cy="273960"/>
          </a:xfrm>
          <a:prstGeom prst="ellipse">
            <a:avLst/>
          </a:prstGeom>
          <a:solidFill>
            <a:srgbClr val="c530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4" name="TextBox 22"/>
          <p:cNvSpPr/>
          <p:nvPr/>
        </p:nvSpPr>
        <p:spPr>
          <a:xfrm>
            <a:off x="4517280" y="2062080"/>
            <a:ext cx="27396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Segoe UI"/>
              </a:rPr>
              <a:t>2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TextBox 23"/>
          <p:cNvSpPr/>
          <p:nvPr/>
        </p:nvSpPr>
        <p:spPr>
          <a:xfrm>
            <a:off x="4883040" y="2011680"/>
            <a:ext cx="278856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c53030"/>
                </a:solidFill>
                <a:latin typeface="Segoe UI"/>
              </a:rPr>
              <a:t>It is here — but not through us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TextBox 24"/>
          <p:cNvSpPr/>
          <p:nvPr/>
        </p:nvSpPr>
        <p:spPr>
          <a:xfrm>
            <a:off x="4517280" y="2633400"/>
            <a:ext cx="315432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94a3b8"/>
                </a:solidFill>
                <a:latin typeface="Segoe UI"/>
              </a:rPr>
              <a:t>OUR PERIMETER, AS IT STANDS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Rectangle 25"/>
          <p:cNvSpPr/>
          <p:nvPr/>
        </p:nvSpPr>
        <p:spPr>
          <a:xfrm>
            <a:off x="4517280" y="2834640"/>
            <a:ext cx="2541600" cy="676440"/>
          </a:xfrm>
          <a:prstGeom prst="rect">
            <a:avLst/>
          </a:prstGeom>
          <a:solidFill>
            <a:srgbClr val="fbecec"/>
          </a:solidFill>
          <a:ln w="15875">
            <a:solidFill>
              <a:srgbClr val="c53030"/>
            </a:solidFill>
            <a:prstDash val="sysDash"/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8" name="Rounded Rectangle 26"/>
          <p:cNvSpPr/>
          <p:nvPr/>
        </p:nvSpPr>
        <p:spPr>
          <a:xfrm>
            <a:off x="4608720" y="2917080"/>
            <a:ext cx="1133640" cy="2372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e7b8b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18360" bIns="18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c53030"/>
                </a:solidFill>
                <a:latin typeface="Segoe UI"/>
              </a:rPr>
              <a:t>ChatGPT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Rounded Rectangle 27"/>
          <p:cNvSpPr/>
          <p:nvPr/>
        </p:nvSpPr>
        <p:spPr>
          <a:xfrm>
            <a:off x="5815440" y="2917080"/>
            <a:ext cx="1133640" cy="2372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e7b8b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18360" bIns="18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c53030"/>
                </a:solidFill>
                <a:latin typeface="Segoe UI"/>
              </a:rPr>
              <a:t>Copilot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Rounded Rectangle 28"/>
          <p:cNvSpPr/>
          <p:nvPr/>
        </p:nvSpPr>
        <p:spPr>
          <a:xfrm>
            <a:off x="4608720" y="3209400"/>
            <a:ext cx="1133640" cy="2372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e7b8b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18360" bIns="18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c53030"/>
                </a:solidFill>
                <a:latin typeface="Segoe UI"/>
              </a:rPr>
              <a:t>Cursor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Rounded Rectangle 29"/>
          <p:cNvSpPr/>
          <p:nvPr/>
        </p:nvSpPr>
        <p:spPr>
          <a:xfrm>
            <a:off x="5815440" y="3209400"/>
            <a:ext cx="1133640" cy="2372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e7b8b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18360" bIns="18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c53030"/>
                </a:solidFill>
                <a:latin typeface="Segoe UI"/>
              </a:rPr>
              <a:t>browser AI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02" name="Connector 30"/>
          <p:cNvCxnSpPr/>
          <p:nvPr/>
        </p:nvCxnSpPr>
        <p:spPr>
          <a:xfrm>
            <a:off x="7022520" y="2962440"/>
            <a:ext cx="942120" cy="360"/>
          </a:xfrm>
          <a:prstGeom prst="straightConnector1">
            <a:avLst/>
          </a:prstGeom>
          <a:ln w="15875">
            <a:solidFill>
              <a:srgbClr val="c53030"/>
            </a:solidFill>
            <a:round/>
            <a:tailEnd len="med" type="triangle" w="med"/>
          </a:ln>
        </p:spPr>
      </p:cxnSp>
      <p:cxnSp>
        <p:nvCxnSpPr>
          <p:cNvPr id="103" name="Connector 31"/>
          <p:cNvCxnSpPr/>
          <p:nvPr/>
        </p:nvCxnSpPr>
        <p:spPr>
          <a:xfrm>
            <a:off x="7022520" y="3182040"/>
            <a:ext cx="942120" cy="360"/>
          </a:xfrm>
          <a:prstGeom prst="straightConnector1">
            <a:avLst/>
          </a:prstGeom>
          <a:ln w="15875">
            <a:solidFill>
              <a:srgbClr val="c53030"/>
            </a:solidFill>
            <a:round/>
            <a:tailEnd len="med" type="triangle" w="med"/>
          </a:ln>
        </p:spPr>
      </p:cxnSp>
      <p:cxnSp>
        <p:nvCxnSpPr>
          <p:cNvPr id="104" name="Connector 32"/>
          <p:cNvCxnSpPr/>
          <p:nvPr/>
        </p:nvCxnSpPr>
        <p:spPr>
          <a:xfrm>
            <a:off x="7022520" y="3401280"/>
            <a:ext cx="942120" cy="360"/>
          </a:xfrm>
          <a:prstGeom prst="straightConnector1">
            <a:avLst/>
          </a:prstGeom>
          <a:ln w="15875">
            <a:solidFill>
              <a:srgbClr val="c53030"/>
            </a:solidFill>
            <a:round/>
            <a:tailEnd len="med" type="triangle" w="med"/>
          </a:ln>
        </p:spPr>
      </p:cxnSp>
      <p:sp>
        <p:nvSpPr>
          <p:cNvPr id="105" name="TextBox 33"/>
          <p:cNvSpPr/>
          <p:nvPr/>
        </p:nvSpPr>
        <p:spPr>
          <a:xfrm>
            <a:off x="4517280" y="3602880"/>
            <a:ext cx="3154320" cy="43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202c"/>
                </a:solidFill>
                <a:latin typeface="Segoe UI"/>
              </a:rPr>
              <a:t>Personal accounts, browser tools, code pasted into a chat box. We cannot name the tools, the data or the spend.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Rounded Rectangle 34"/>
          <p:cNvSpPr/>
          <p:nvPr/>
        </p:nvSpPr>
        <p:spPr>
          <a:xfrm>
            <a:off x="8065080" y="1847160"/>
            <a:ext cx="3556800" cy="2395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b6c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7" name="Oval 35"/>
          <p:cNvSpPr/>
          <p:nvPr/>
        </p:nvSpPr>
        <p:spPr>
          <a:xfrm>
            <a:off x="8266320" y="2030040"/>
            <a:ext cx="273960" cy="273960"/>
          </a:xfrm>
          <a:prstGeom prst="ellipse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8" name="TextBox 36"/>
          <p:cNvSpPr/>
          <p:nvPr/>
        </p:nvSpPr>
        <p:spPr>
          <a:xfrm>
            <a:off x="8266320" y="2062080"/>
            <a:ext cx="27396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Segoe UI"/>
              </a:rPr>
              <a:t>3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TextBox 37"/>
          <p:cNvSpPr/>
          <p:nvPr/>
        </p:nvSpPr>
        <p:spPr>
          <a:xfrm>
            <a:off x="8632080" y="2011680"/>
            <a:ext cx="278856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2b6cb0"/>
                </a:solidFill>
                <a:latin typeface="Segoe UI"/>
              </a:rPr>
              <a:t>The gain is real, but uneven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TextBox 38"/>
          <p:cNvSpPr/>
          <p:nvPr/>
        </p:nvSpPr>
        <p:spPr>
          <a:xfrm>
            <a:off x="8266320" y="2633400"/>
            <a:ext cx="315432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94a3b8"/>
                </a:solidFill>
                <a:latin typeface="Segoe UI"/>
              </a:rPr>
              <a:t>THE LIFT, PER PERSON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Rounded Rectangle 39"/>
          <p:cNvSpPr/>
          <p:nvPr/>
        </p:nvSpPr>
        <p:spPr>
          <a:xfrm>
            <a:off x="8522280" y="2944440"/>
            <a:ext cx="292320" cy="548280"/>
          </a:xfrm>
          <a:prstGeom prst="roundRect">
            <a:avLst>
              <a:gd name="adj" fmla="val 25000"/>
            </a:avLst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2" name="Rounded Rectangle 40"/>
          <p:cNvSpPr/>
          <p:nvPr/>
        </p:nvSpPr>
        <p:spPr>
          <a:xfrm>
            <a:off x="9052560" y="3346560"/>
            <a:ext cx="292320" cy="145800"/>
          </a:xfrm>
          <a:prstGeom prst="roundRect">
            <a:avLst>
              <a:gd name="adj" fmla="val 25000"/>
            </a:avLst>
          </a:prstGeom>
          <a:solidFill>
            <a:srgbClr val="cbd5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3" name="Rounded Rectangle 41"/>
          <p:cNvSpPr/>
          <p:nvPr/>
        </p:nvSpPr>
        <p:spPr>
          <a:xfrm>
            <a:off x="9582840" y="3145680"/>
            <a:ext cx="292320" cy="347040"/>
          </a:xfrm>
          <a:prstGeom prst="roundRect">
            <a:avLst>
              <a:gd name="adj" fmla="val 25000"/>
            </a:avLst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4" name="Rounded Rectangle 42"/>
          <p:cNvSpPr/>
          <p:nvPr/>
        </p:nvSpPr>
        <p:spPr>
          <a:xfrm>
            <a:off x="10113120" y="3410640"/>
            <a:ext cx="292320" cy="82080"/>
          </a:xfrm>
          <a:prstGeom prst="roundRect">
            <a:avLst>
              <a:gd name="adj" fmla="val 25000"/>
            </a:avLst>
          </a:prstGeom>
          <a:solidFill>
            <a:srgbClr val="cbd5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5560" bIns="255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5" name="Rounded Rectangle 43"/>
          <p:cNvSpPr/>
          <p:nvPr/>
        </p:nvSpPr>
        <p:spPr>
          <a:xfrm>
            <a:off x="10643760" y="3017520"/>
            <a:ext cx="292320" cy="475200"/>
          </a:xfrm>
          <a:prstGeom prst="roundRect">
            <a:avLst>
              <a:gd name="adj" fmla="val 25000"/>
            </a:avLst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cxnSp>
        <p:nvCxnSpPr>
          <p:cNvPr id="116" name="Connector 44"/>
          <p:cNvCxnSpPr/>
          <p:nvPr/>
        </p:nvCxnSpPr>
        <p:spPr>
          <a:xfrm>
            <a:off x="8265960" y="3492720"/>
            <a:ext cx="3155040" cy="360"/>
          </a:xfrm>
          <a:prstGeom prst="straightConnector1">
            <a:avLst/>
          </a:prstGeom>
          <a:ln w="12700">
            <a:solidFill>
              <a:srgbClr val="e2e8f0"/>
            </a:solidFill>
            <a:round/>
          </a:ln>
        </p:spPr>
      </p:cxnSp>
      <p:sp>
        <p:nvSpPr>
          <p:cNvPr id="117" name="TextBox 45"/>
          <p:cNvSpPr/>
          <p:nvPr/>
        </p:nvSpPr>
        <p:spPr>
          <a:xfrm>
            <a:off x="8266320" y="3602880"/>
            <a:ext cx="315432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202c"/>
                </a:solidFill>
                <a:latin typeface="Segoe UI"/>
              </a:rPr>
              <a:t>Whoever found a tool got faster. None of it is shared, repeatable or measurable across the team.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18" name="Connector 46"/>
          <p:cNvCxnSpPr/>
          <p:nvPr/>
        </p:nvCxnSpPr>
        <p:spPr>
          <a:xfrm>
            <a:off x="2345400" y="4297680"/>
            <a:ext cx="3749400" cy="603720"/>
          </a:xfrm>
          <a:prstGeom prst="straightConnector1">
            <a:avLst/>
          </a:prstGeom>
          <a:ln w="19050">
            <a:solidFill>
              <a:srgbClr val="c2d3e6"/>
            </a:solidFill>
            <a:round/>
            <a:tailEnd len="med" type="triangle" w="med"/>
          </a:ln>
        </p:spPr>
      </p:cxnSp>
      <p:cxnSp>
        <p:nvCxnSpPr>
          <p:cNvPr id="119" name="Connector 47"/>
          <p:cNvCxnSpPr/>
          <p:nvPr/>
        </p:nvCxnSpPr>
        <p:spPr>
          <a:xfrm>
            <a:off x="6094440" y="4297680"/>
            <a:ext cx="360" cy="603720"/>
          </a:xfrm>
          <a:prstGeom prst="straightConnector1">
            <a:avLst/>
          </a:prstGeom>
          <a:ln w="19050">
            <a:solidFill>
              <a:srgbClr val="c2d3e6"/>
            </a:solidFill>
            <a:round/>
            <a:tailEnd len="med" type="triangle" w="med"/>
          </a:ln>
        </p:spPr>
      </p:cxnSp>
      <p:cxnSp>
        <p:nvCxnSpPr>
          <p:cNvPr id="120" name="Connector 48"/>
          <p:cNvCxnSpPr/>
          <p:nvPr/>
        </p:nvCxnSpPr>
        <p:spPr>
          <a:xfrm flipH="1">
            <a:off x="6094440" y="4297680"/>
            <a:ext cx="3749400" cy="603720"/>
          </a:xfrm>
          <a:prstGeom prst="straightConnector1">
            <a:avLst/>
          </a:prstGeom>
          <a:ln w="19050">
            <a:solidFill>
              <a:srgbClr val="c2d3e6"/>
            </a:solidFill>
            <a:round/>
            <a:tailEnd len="med" type="triangle" w="med"/>
          </a:ln>
        </p:spPr>
      </p:cxnSp>
      <p:sp>
        <p:nvSpPr>
          <p:cNvPr id="121" name="Rounded Rectangle 49"/>
          <p:cNvSpPr/>
          <p:nvPr/>
        </p:nvSpPr>
        <p:spPr>
          <a:xfrm>
            <a:off x="567000" y="4956120"/>
            <a:ext cx="11054880" cy="840960"/>
          </a:xfrm>
          <a:prstGeom prst="roundRect">
            <a:avLst>
              <a:gd name="adj" fmla="val 10000"/>
            </a:avLst>
          </a:prstGeom>
          <a:solidFill>
            <a:srgbClr val="0b1b2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2" name="Rectangle 50"/>
          <p:cNvSpPr/>
          <p:nvPr/>
        </p:nvSpPr>
        <p:spPr>
          <a:xfrm>
            <a:off x="567000" y="4956120"/>
            <a:ext cx="50400" cy="840960"/>
          </a:xfrm>
          <a:prstGeom prst="rect">
            <a:avLst/>
          </a:prstGeom>
          <a:solidFill>
            <a:srgbClr val="2f7a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3" name="TextBox 51"/>
          <p:cNvSpPr/>
          <p:nvPr/>
        </p:nvSpPr>
        <p:spPr>
          <a:xfrm>
            <a:off x="841320" y="5139000"/>
            <a:ext cx="3840120" cy="41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50" spc="-1" strike="noStrike">
                <a:solidFill>
                  <a:srgbClr val="ffffff"/>
                </a:solidFill>
                <a:latin typeface="Segoe UI"/>
              </a:rPr>
              <a:t>So we build our own — and own the whole path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Rounded Rectangle 52"/>
          <p:cNvSpPr/>
          <p:nvPr/>
        </p:nvSpPr>
        <p:spPr>
          <a:xfrm>
            <a:off x="4883040" y="5175360"/>
            <a:ext cx="1572480" cy="402120"/>
          </a:xfrm>
          <a:prstGeom prst="roundRect">
            <a:avLst>
              <a:gd name="adj" fmla="val 22000"/>
            </a:avLst>
          </a:prstGeom>
          <a:solidFill>
            <a:srgbClr val="142c45"/>
          </a:solidFill>
          <a:ln w="12700">
            <a:solidFill>
              <a:srgbClr val="2f7a5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18360" bIns="18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ffffff"/>
                </a:solidFill>
                <a:latin typeface="Segoe UI"/>
              </a:rPr>
              <a:t>our model, our hardware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" name="Rounded Rectangle 53"/>
          <p:cNvSpPr/>
          <p:nvPr/>
        </p:nvSpPr>
        <p:spPr>
          <a:xfrm>
            <a:off x="6592680" y="5175360"/>
            <a:ext cx="1572480" cy="402120"/>
          </a:xfrm>
          <a:prstGeom prst="roundRect">
            <a:avLst>
              <a:gd name="adj" fmla="val 22000"/>
            </a:avLst>
          </a:prstGeom>
          <a:solidFill>
            <a:srgbClr val="142c45"/>
          </a:solidFill>
          <a:ln w="12700">
            <a:solidFill>
              <a:srgbClr val="2f7a5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18360" bIns="18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ffffff"/>
                </a:solidFill>
                <a:latin typeface="Segoe UI"/>
              </a:rPr>
              <a:t>every call logged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" name="Rounded Rectangle 54"/>
          <p:cNvSpPr/>
          <p:nvPr/>
        </p:nvSpPr>
        <p:spPr>
          <a:xfrm>
            <a:off x="8302680" y="5175360"/>
            <a:ext cx="1572480" cy="402120"/>
          </a:xfrm>
          <a:prstGeom prst="roundRect">
            <a:avLst>
              <a:gd name="adj" fmla="val 22000"/>
            </a:avLst>
          </a:prstGeom>
          <a:solidFill>
            <a:srgbClr val="142c45"/>
          </a:solidFill>
          <a:ln w="12700">
            <a:solidFill>
              <a:srgbClr val="2f7a5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18360" bIns="18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ffffff"/>
                </a:solidFill>
                <a:latin typeface="Segoe UI"/>
              </a:rPr>
              <a:t>scoped to the role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" name="Rounded Rectangle 55"/>
          <p:cNvSpPr/>
          <p:nvPr/>
        </p:nvSpPr>
        <p:spPr>
          <a:xfrm>
            <a:off x="10012680" y="5175360"/>
            <a:ext cx="1572480" cy="402120"/>
          </a:xfrm>
          <a:prstGeom prst="roundRect">
            <a:avLst>
              <a:gd name="adj" fmla="val 22000"/>
            </a:avLst>
          </a:prstGeom>
          <a:solidFill>
            <a:srgbClr val="142c45"/>
          </a:solidFill>
          <a:ln w="12700">
            <a:solidFill>
              <a:srgbClr val="2f7a5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18360" bIns="18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ffffff"/>
                </a:solidFill>
                <a:latin typeface="Segoe UI"/>
              </a:rPr>
              <a:t>the same tools for everyone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" name="TextBox 56"/>
          <p:cNvSpPr/>
          <p:nvPr/>
        </p:nvSpPr>
        <p:spPr>
          <a:xfrm>
            <a:off x="567000" y="5998320"/>
            <a:ext cx="1105488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4748b"/>
                </a:solidFill>
                <a:latin typeface="Segoe UI"/>
              </a:rPr>
              <a:t>Buying more seats does not answer the control question — it only spreads it. Owning the platform does.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Rectangle 1"/>
          <p:cNvSpPr/>
          <p:nvPr/>
        </p:nvSpPr>
        <p:spPr>
          <a:xfrm>
            <a:off x="0" y="0"/>
            <a:ext cx="12191400" cy="1481040"/>
          </a:xfrm>
          <a:prstGeom prst="rect">
            <a:avLst/>
          </a:prstGeom>
          <a:solidFill>
            <a:srgbClr val="0b1b2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0" name="Rectangle 2"/>
          <p:cNvSpPr/>
          <p:nvPr/>
        </p:nvSpPr>
        <p:spPr>
          <a:xfrm>
            <a:off x="7498080" y="0"/>
            <a:ext cx="4693320" cy="1481040"/>
          </a:xfrm>
          <a:prstGeom prst="rect">
            <a:avLst/>
          </a:prstGeom>
          <a:solidFill>
            <a:srgbClr val="183b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1" name="Rectangle 3"/>
          <p:cNvSpPr/>
          <p:nvPr/>
        </p:nvSpPr>
        <p:spPr>
          <a:xfrm>
            <a:off x="7040880" y="0"/>
            <a:ext cx="456840" cy="1481040"/>
          </a:xfrm>
          <a:prstGeom prst="rect">
            <a:avLst/>
          </a:prstGeom>
          <a:solidFill>
            <a:srgbClr val="112b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2" name="Rectangle 4"/>
          <p:cNvSpPr/>
          <p:nvPr/>
        </p:nvSpPr>
        <p:spPr>
          <a:xfrm>
            <a:off x="0" y="1463040"/>
            <a:ext cx="12191400" cy="3780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3" name="TextBox 5"/>
          <p:cNvSpPr/>
          <p:nvPr/>
        </p:nvSpPr>
        <p:spPr>
          <a:xfrm>
            <a:off x="567000" y="311040"/>
            <a:ext cx="703404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ffffff"/>
                </a:solidFill>
                <a:latin typeface="Segoe UI"/>
              </a:rPr>
              <a:t>AIForgeCrew — a coding agent we run ourselves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TextBox 6"/>
          <p:cNvSpPr/>
          <p:nvPr/>
        </p:nvSpPr>
        <p:spPr>
          <a:xfrm>
            <a:off x="567000" y="896040"/>
            <a:ext cx="70340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b8c7d9"/>
                </a:solidFill>
                <a:latin typeface="Segoe UI"/>
              </a:rPr>
              <a:t>Give it a ticket, get a merge request. Our code stays on our machines and talks to our own model.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Oval 7"/>
          <p:cNvSpPr/>
          <p:nvPr/>
        </p:nvSpPr>
        <p:spPr>
          <a:xfrm>
            <a:off x="7875720" y="274320"/>
            <a:ext cx="785880" cy="785880"/>
          </a:xfrm>
          <a:prstGeom prst="ellipse">
            <a:avLst/>
          </a:prstGeom>
          <a:solidFill>
            <a:srgbClr val="142c45"/>
          </a:solidFill>
          <a:ln w="19050">
            <a:solidFill>
              <a:srgbClr val="2b6c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6" name="TextBox 8"/>
          <p:cNvSpPr/>
          <p:nvPr/>
        </p:nvSpPr>
        <p:spPr>
          <a:xfrm>
            <a:off x="7875720" y="420480"/>
            <a:ext cx="78588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Segoe UI"/>
              </a:rPr>
              <a:t>108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Box 9"/>
          <p:cNvSpPr/>
          <p:nvPr/>
        </p:nvSpPr>
        <p:spPr>
          <a:xfrm>
            <a:off x="7729560" y="1115640"/>
            <a:ext cx="107856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800" spc="-1" strike="noStrike">
                <a:solidFill>
                  <a:srgbClr val="9fb3c8"/>
                </a:solidFill>
                <a:latin typeface="Segoe UI"/>
              </a:rPr>
              <a:t>things it can do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Oval 10"/>
          <p:cNvSpPr/>
          <p:nvPr/>
        </p:nvSpPr>
        <p:spPr>
          <a:xfrm>
            <a:off x="8863200" y="274320"/>
            <a:ext cx="785880" cy="785880"/>
          </a:xfrm>
          <a:prstGeom prst="ellipse">
            <a:avLst/>
          </a:prstGeom>
          <a:solidFill>
            <a:srgbClr val="142c45"/>
          </a:solidFill>
          <a:ln w="19050">
            <a:solidFill>
              <a:srgbClr val="2b6c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9" name="TextBox 11"/>
          <p:cNvSpPr/>
          <p:nvPr/>
        </p:nvSpPr>
        <p:spPr>
          <a:xfrm>
            <a:off x="8863200" y="420480"/>
            <a:ext cx="78588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Segoe UI"/>
              </a:rPr>
              <a:t>19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TextBox 12"/>
          <p:cNvSpPr/>
          <p:nvPr/>
        </p:nvSpPr>
        <p:spPr>
          <a:xfrm>
            <a:off x="8717040" y="1115640"/>
            <a:ext cx="107856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800" spc="-1" strike="noStrike">
                <a:solidFill>
                  <a:srgbClr val="9fb3c8"/>
                </a:solidFill>
                <a:latin typeface="Segoe UI"/>
              </a:rPr>
              <a:t>agents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Oval 13"/>
          <p:cNvSpPr/>
          <p:nvPr/>
        </p:nvSpPr>
        <p:spPr>
          <a:xfrm>
            <a:off x="9850680" y="274320"/>
            <a:ext cx="785880" cy="785880"/>
          </a:xfrm>
          <a:prstGeom prst="ellipse">
            <a:avLst/>
          </a:prstGeom>
          <a:solidFill>
            <a:srgbClr val="142c45"/>
          </a:solidFill>
          <a:ln w="19050">
            <a:solidFill>
              <a:srgbClr val="2f7a5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2" name="TextBox 14"/>
          <p:cNvSpPr/>
          <p:nvPr/>
        </p:nvSpPr>
        <p:spPr>
          <a:xfrm>
            <a:off x="9850680" y="420480"/>
            <a:ext cx="78588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Segoe UI"/>
              </a:rPr>
              <a:t>8,606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TextBox 15"/>
          <p:cNvSpPr/>
          <p:nvPr/>
        </p:nvSpPr>
        <p:spPr>
          <a:xfrm>
            <a:off x="9704520" y="1115640"/>
            <a:ext cx="107856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800" spc="-1" strike="noStrike">
                <a:solidFill>
                  <a:srgbClr val="9fb3c8"/>
                </a:solidFill>
                <a:latin typeface="Segoe UI"/>
              </a:rPr>
              <a:t>tests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Oval 16"/>
          <p:cNvSpPr/>
          <p:nvPr/>
        </p:nvSpPr>
        <p:spPr>
          <a:xfrm>
            <a:off x="10838520" y="274320"/>
            <a:ext cx="785880" cy="785880"/>
          </a:xfrm>
          <a:prstGeom prst="ellipse">
            <a:avLst/>
          </a:prstGeom>
          <a:solidFill>
            <a:srgbClr val="142c45"/>
          </a:solidFill>
          <a:ln w="19050">
            <a:solidFill>
              <a:srgbClr val="2f7a5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5" name="TextBox 17"/>
          <p:cNvSpPr/>
          <p:nvPr/>
        </p:nvSpPr>
        <p:spPr>
          <a:xfrm>
            <a:off x="10838520" y="420480"/>
            <a:ext cx="78588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Segoe UI"/>
              </a:rPr>
              <a:t>0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TextBox 18"/>
          <p:cNvSpPr/>
          <p:nvPr/>
        </p:nvSpPr>
        <p:spPr>
          <a:xfrm>
            <a:off x="10692000" y="1115640"/>
            <a:ext cx="107856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800" spc="-1" strike="noStrike">
                <a:solidFill>
                  <a:srgbClr val="9fb3c8"/>
                </a:solidFill>
                <a:latin typeface="Segoe UI"/>
              </a:rPr>
              <a:t>scan findings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TextBox 19"/>
          <p:cNvSpPr/>
          <p:nvPr/>
        </p:nvSpPr>
        <p:spPr>
          <a:xfrm>
            <a:off x="11521440" y="6455520"/>
            <a:ext cx="45684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94a3b8"/>
                </a:solidFill>
                <a:latin typeface="Segoe UI"/>
              </a:rPr>
              <a:t>2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Oval 20"/>
          <p:cNvSpPr/>
          <p:nvPr/>
        </p:nvSpPr>
        <p:spPr>
          <a:xfrm>
            <a:off x="4517280" y="1609200"/>
            <a:ext cx="2377080" cy="2377080"/>
          </a:xfrm>
          <a:prstGeom prst="ellipse">
            <a:avLst/>
          </a:prstGeom>
          <a:solidFill>
            <a:srgbClr val="eaf2f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9" name="Oval 21"/>
          <p:cNvSpPr/>
          <p:nvPr/>
        </p:nvSpPr>
        <p:spPr>
          <a:xfrm>
            <a:off x="4773240" y="1865520"/>
            <a:ext cx="1865160" cy="1865160"/>
          </a:xfrm>
          <a:prstGeom prst="ellipse">
            <a:avLst/>
          </a:prstGeom>
          <a:solidFill>
            <a:srgbClr val="183b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18360" bIns="18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Segoe UI"/>
              </a:rPr>
              <a:t>One program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939" spc="-1" strike="noStrike">
                <a:solidFill>
                  <a:srgbClr val="ffffff"/>
                </a:solidFill>
                <a:latin typeface="Segoe UI"/>
              </a:rPr>
              <a:t>one port · one folder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939" spc="-1" strike="noStrike">
                <a:solidFill>
                  <a:srgbClr val="ffffff"/>
                </a:solidFill>
                <a:latin typeface="Segoe UI"/>
              </a:rPr>
              <a:t>no database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" name="Rounded Rectangle 22"/>
          <p:cNvSpPr/>
          <p:nvPr/>
        </p:nvSpPr>
        <p:spPr>
          <a:xfrm>
            <a:off x="567000" y="1700640"/>
            <a:ext cx="2102760" cy="51156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18360" bIns="18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a202c"/>
                </a:solidFill>
                <a:latin typeface="Segoe UI"/>
              </a:rPr>
              <a:t>A ticket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790" spc="-1" strike="noStrike">
                <a:solidFill>
                  <a:srgbClr val="1a202c"/>
                </a:solidFill>
                <a:latin typeface="Segoe UI"/>
              </a:rPr>
              <a:t>Jira · GitLab</a:t>
            </a:r>
            <a:endParaRPr b="0" lang="en-US" sz="79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51" name="Connector 23"/>
          <p:cNvCxnSpPr/>
          <p:nvPr/>
        </p:nvCxnSpPr>
        <p:spPr>
          <a:xfrm>
            <a:off x="2669760" y="1956600"/>
            <a:ext cx="1792800" cy="841680"/>
          </a:xfrm>
          <a:prstGeom prst="straightConnector1">
            <a:avLst/>
          </a:prstGeom>
          <a:ln w="19050">
            <a:solidFill>
              <a:srgbClr val="c2d3e6"/>
            </a:solidFill>
            <a:round/>
            <a:tailEnd len="med" type="triangle" w="med"/>
          </a:ln>
        </p:spPr>
      </p:cxnSp>
      <p:sp>
        <p:nvSpPr>
          <p:cNvPr id="152" name="Rounded Rectangle 24"/>
          <p:cNvSpPr/>
          <p:nvPr/>
        </p:nvSpPr>
        <p:spPr>
          <a:xfrm>
            <a:off x="567000" y="2395800"/>
            <a:ext cx="2102760" cy="51156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18360" bIns="18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a202c"/>
                </a:solidFill>
                <a:latin typeface="Segoe UI"/>
              </a:rPr>
              <a:t>A chat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790" spc="-1" strike="noStrike">
                <a:solidFill>
                  <a:srgbClr val="1a202c"/>
                </a:solidFill>
                <a:latin typeface="Segoe UI"/>
              </a:rPr>
              <a:t>ask · plan · delegate</a:t>
            </a:r>
            <a:endParaRPr b="0" lang="en-US" sz="79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53" name="Connector 25"/>
          <p:cNvCxnSpPr/>
          <p:nvPr/>
        </p:nvCxnSpPr>
        <p:spPr>
          <a:xfrm>
            <a:off x="2669760" y="2651760"/>
            <a:ext cx="1792800" cy="146520"/>
          </a:xfrm>
          <a:prstGeom prst="straightConnector1">
            <a:avLst/>
          </a:prstGeom>
          <a:ln w="19050">
            <a:solidFill>
              <a:srgbClr val="c2d3e6"/>
            </a:solidFill>
            <a:round/>
            <a:tailEnd len="med" type="triangle" w="med"/>
          </a:ln>
        </p:spPr>
      </p:cxnSp>
      <p:sp>
        <p:nvSpPr>
          <p:cNvPr id="154" name="Rounded Rectangle 26"/>
          <p:cNvSpPr/>
          <p:nvPr/>
        </p:nvSpPr>
        <p:spPr>
          <a:xfrm>
            <a:off x="567000" y="3090600"/>
            <a:ext cx="2102760" cy="51156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18360" bIns="18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a202c"/>
                </a:solidFill>
                <a:latin typeface="Segoe UI"/>
              </a:rPr>
              <a:t>A schedule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790" spc="-1" strike="noStrike">
                <a:solidFill>
                  <a:srgbClr val="1a202c"/>
                </a:solidFill>
                <a:latin typeface="Segoe UI"/>
              </a:rPr>
              <a:t>runs unattended</a:t>
            </a:r>
            <a:endParaRPr b="0" lang="en-US" sz="79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55" name="Connector 27"/>
          <p:cNvCxnSpPr/>
          <p:nvPr/>
        </p:nvCxnSpPr>
        <p:spPr>
          <a:xfrm flipV="1">
            <a:off x="2669760" y="2797920"/>
            <a:ext cx="1792800" cy="549000"/>
          </a:xfrm>
          <a:prstGeom prst="straightConnector1">
            <a:avLst/>
          </a:prstGeom>
          <a:ln w="19050">
            <a:solidFill>
              <a:srgbClr val="c2d3e6"/>
            </a:solidFill>
            <a:round/>
            <a:tailEnd len="med" type="triangle" w="med"/>
          </a:ln>
        </p:spPr>
      </p:cxnSp>
      <p:sp>
        <p:nvSpPr>
          <p:cNvPr id="156" name="Rounded Rectangle 28"/>
          <p:cNvSpPr/>
          <p:nvPr/>
        </p:nvSpPr>
        <p:spPr>
          <a:xfrm>
            <a:off x="8503920" y="1700640"/>
            <a:ext cx="3117600" cy="51156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2f7a5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18360" bIns="18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2f7a57"/>
                </a:solidFill>
                <a:latin typeface="Segoe UI"/>
              </a:rPr>
              <a:t>Our own model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790" spc="-1" strike="noStrike">
                <a:solidFill>
                  <a:srgbClr val="2f7a57"/>
                </a:solidFill>
                <a:latin typeface="Segoe UI"/>
              </a:rPr>
              <a:t>on our hardware</a:t>
            </a:r>
            <a:endParaRPr b="0" lang="en-US" sz="79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57" name="Connector 29"/>
          <p:cNvCxnSpPr/>
          <p:nvPr/>
        </p:nvCxnSpPr>
        <p:spPr>
          <a:xfrm flipV="1">
            <a:off x="6949440" y="1956600"/>
            <a:ext cx="1554840" cy="841680"/>
          </a:xfrm>
          <a:prstGeom prst="straightConnector1">
            <a:avLst/>
          </a:prstGeom>
          <a:ln w="19050">
            <a:solidFill>
              <a:srgbClr val="c2d3e6"/>
            </a:solidFill>
            <a:round/>
            <a:tailEnd len="med" type="triangle" w="med"/>
          </a:ln>
        </p:spPr>
      </p:cxnSp>
      <p:sp>
        <p:nvSpPr>
          <p:cNvPr id="158" name="Rounded Rectangle 30"/>
          <p:cNvSpPr/>
          <p:nvPr/>
        </p:nvSpPr>
        <p:spPr>
          <a:xfrm>
            <a:off x="8503920" y="2395800"/>
            <a:ext cx="3117600" cy="51156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6b46c1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18360" bIns="18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b46c1"/>
                </a:solidFill>
                <a:latin typeface="Segoe UI"/>
              </a:rPr>
              <a:t>Our tools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790" spc="-1" strike="noStrike">
                <a:solidFill>
                  <a:srgbClr val="6b46c1"/>
                </a:solidFill>
                <a:latin typeface="Segoe UI"/>
              </a:rPr>
              <a:t>Jira 21 · Confluence 14 · GitLab 10 · MCP</a:t>
            </a:r>
            <a:endParaRPr b="0" lang="en-US" sz="79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59" name="Connector 31"/>
          <p:cNvCxnSpPr/>
          <p:nvPr/>
        </p:nvCxnSpPr>
        <p:spPr>
          <a:xfrm flipV="1">
            <a:off x="6949440" y="2651760"/>
            <a:ext cx="1554840" cy="146520"/>
          </a:xfrm>
          <a:prstGeom prst="straightConnector1">
            <a:avLst/>
          </a:prstGeom>
          <a:ln w="19050">
            <a:solidFill>
              <a:srgbClr val="c2d3e6"/>
            </a:solidFill>
            <a:round/>
            <a:tailEnd len="med" type="triangle" w="med"/>
          </a:ln>
        </p:spPr>
      </p:cxnSp>
      <p:sp>
        <p:nvSpPr>
          <p:cNvPr id="160" name="Rounded Rectangle 32"/>
          <p:cNvSpPr/>
          <p:nvPr/>
        </p:nvSpPr>
        <p:spPr>
          <a:xfrm>
            <a:off x="8503920" y="3090600"/>
            <a:ext cx="3117600" cy="51156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2c7a7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18360" bIns="18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2c7a7b"/>
                </a:solidFill>
                <a:latin typeface="Segoe UI"/>
              </a:rPr>
              <a:t>Our memory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790" spc="-1" strike="noStrike">
                <a:solidFill>
                  <a:srgbClr val="2c7a7b"/>
                </a:solidFill>
                <a:latin typeface="Segoe UI"/>
              </a:rPr>
              <a:t>markdown + one SQLite</a:t>
            </a:r>
            <a:endParaRPr b="0" lang="en-US" sz="79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61" name="Connector 33"/>
          <p:cNvCxnSpPr/>
          <p:nvPr/>
        </p:nvCxnSpPr>
        <p:spPr>
          <a:xfrm>
            <a:off x="6949440" y="2797920"/>
            <a:ext cx="1554840" cy="549000"/>
          </a:xfrm>
          <a:prstGeom prst="straightConnector1">
            <a:avLst/>
          </a:prstGeom>
          <a:ln w="19050">
            <a:solidFill>
              <a:srgbClr val="c2d3e6"/>
            </a:solidFill>
            <a:round/>
            <a:tailEnd len="med" type="triangle" w="med"/>
          </a:ln>
        </p:spPr>
      </p:cxnSp>
      <p:sp>
        <p:nvSpPr>
          <p:cNvPr id="162" name="TextBox 34"/>
          <p:cNvSpPr/>
          <p:nvPr/>
        </p:nvSpPr>
        <p:spPr>
          <a:xfrm>
            <a:off x="567000" y="3803760"/>
            <a:ext cx="3108600" cy="1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94a3b8"/>
                </a:solidFill>
                <a:latin typeface="Segoe UI"/>
              </a:rPr>
              <a:t>WHAT GOES IN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Box 35"/>
          <p:cNvSpPr/>
          <p:nvPr/>
        </p:nvSpPr>
        <p:spPr>
          <a:xfrm>
            <a:off x="8503920" y="3803760"/>
            <a:ext cx="3117600" cy="1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94a3b8"/>
                </a:solidFill>
                <a:latin typeface="Segoe UI"/>
              </a:rPr>
              <a:t>WHAT IT USES — ALL OURS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TextBox 36"/>
          <p:cNvSpPr/>
          <p:nvPr/>
        </p:nvSpPr>
        <p:spPr>
          <a:xfrm>
            <a:off x="567000" y="4224600"/>
            <a:ext cx="5486040" cy="1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94a3b8"/>
                </a:solidFill>
                <a:latin typeface="Segoe UI"/>
              </a:rPr>
              <a:t>ONE TICKET, END TO END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Chevron 37"/>
          <p:cNvSpPr/>
          <p:nvPr/>
        </p:nvSpPr>
        <p:spPr>
          <a:xfrm>
            <a:off x="567000" y="4517280"/>
            <a:ext cx="1901520" cy="566640"/>
          </a:xfrm>
          <a:prstGeom prst="chevron">
            <a:avLst>
              <a:gd name="adj" fmla="val 22000"/>
            </a:avLst>
          </a:prstGeom>
          <a:solidFill>
            <a:srgbClr val="ffffff"/>
          </a:solidFill>
          <a:ln w="15875">
            <a:solidFill>
              <a:srgbClr val="2b6c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18360" bIns="18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2b6cb0"/>
                </a:solidFill>
                <a:latin typeface="Segoe UI"/>
              </a:rPr>
              <a:t>Understand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Chevron 38"/>
          <p:cNvSpPr/>
          <p:nvPr/>
        </p:nvSpPr>
        <p:spPr>
          <a:xfrm>
            <a:off x="2377440" y="4517280"/>
            <a:ext cx="1901520" cy="566640"/>
          </a:xfrm>
          <a:prstGeom prst="chevron">
            <a:avLst>
              <a:gd name="adj" fmla="val 22000"/>
            </a:avLst>
          </a:prstGeom>
          <a:solidFill>
            <a:srgbClr val="ffffff"/>
          </a:solidFill>
          <a:ln w="15875">
            <a:solidFill>
              <a:srgbClr val="2b6c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18360" bIns="18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2b6cb0"/>
                </a:solidFill>
                <a:latin typeface="Segoe UI"/>
              </a:rPr>
              <a:t>Plan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Chevron 39"/>
          <p:cNvSpPr/>
          <p:nvPr/>
        </p:nvSpPr>
        <p:spPr>
          <a:xfrm>
            <a:off x="4187880" y="4517280"/>
            <a:ext cx="1901520" cy="566640"/>
          </a:xfrm>
          <a:prstGeom prst="chevron">
            <a:avLst>
              <a:gd name="adj" fmla="val 22000"/>
            </a:avLst>
          </a:prstGeom>
          <a:solidFill>
            <a:srgbClr val="ffffff"/>
          </a:solidFill>
          <a:ln w="15875">
            <a:solidFill>
              <a:srgbClr val="2c7a7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18360" bIns="18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2c7a7b"/>
                </a:solidFill>
                <a:latin typeface="Segoe UI"/>
              </a:rPr>
              <a:t>Write code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Chevron 40"/>
          <p:cNvSpPr/>
          <p:nvPr/>
        </p:nvSpPr>
        <p:spPr>
          <a:xfrm>
            <a:off x="5998320" y="4517280"/>
            <a:ext cx="1901520" cy="566640"/>
          </a:xfrm>
          <a:prstGeom prst="chevron">
            <a:avLst>
              <a:gd name="adj" fmla="val 22000"/>
            </a:avLst>
          </a:prstGeom>
          <a:solidFill>
            <a:srgbClr val="ffffff"/>
          </a:solidFill>
          <a:ln w="15875">
            <a:solidFill>
              <a:srgbClr val="2c7a7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18360" bIns="18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2c7a7b"/>
                </a:solidFill>
                <a:latin typeface="Segoe UI"/>
              </a:rPr>
              <a:t>Test and fix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Chevron 41"/>
          <p:cNvSpPr/>
          <p:nvPr/>
        </p:nvSpPr>
        <p:spPr>
          <a:xfrm>
            <a:off x="7809120" y="4517280"/>
            <a:ext cx="1901520" cy="566640"/>
          </a:xfrm>
          <a:prstGeom prst="chevron">
            <a:avLst>
              <a:gd name="adj" fmla="val 22000"/>
            </a:avLst>
          </a:prstGeom>
          <a:solidFill>
            <a:srgbClr val="ffffff"/>
          </a:solidFill>
          <a:ln w="15875">
            <a:solidFill>
              <a:srgbClr val="6b46c1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18360" bIns="18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6b46c1"/>
                </a:solidFill>
                <a:latin typeface="Segoe UI"/>
              </a:rPr>
              <a:t>Check it works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Chevron 42"/>
          <p:cNvSpPr/>
          <p:nvPr/>
        </p:nvSpPr>
        <p:spPr>
          <a:xfrm>
            <a:off x="9619560" y="4517280"/>
            <a:ext cx="1901520" cy="566640"/>
          </a:xfrm>
          <a:prstGeom prst="chevron">
            <a:avLst>
              <a:gd name="adj" fmla="val 22000"/>
            </a:avLst>
          </a:prstGeom>
          <a:solidFill>
            <a:srgbClr val="2f7a57"/>
          </a:solidFill>
          <a:ln w="15875">
            <a:solidFill>
              <a:srgbClr val="2f7a5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18360" bIns="18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Segoe UI"/>
              </a:rPr>
              <a:t>Merge request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" name="TextBox 43"/>
          <p:cNvSpPr/>
          <p:nvPr/>
        </p:nvSpPr>
        <p:spPr>
          <a:xfrm>
            <a:off x="567000" y="5193720"/>
            <a:ext cx="1105488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64748b"/>
                </a:solidFill>
                <a:latin typeface="Segoe UI"/>
              </a:rPr>
              <a:t>up to four parts of the job run side by side, each in its own copy of the repo  ·  a person reviews the merge request — nothing merges itself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Rounded Rectangle 44"/>
          <p:cNvSpPr/>
          <p:nvPr/>
        </p:nvSpPr>
        <p:spPr>
          <a:xfrm>
            <a:off x="567000" y="5577840"/>
            <a:ext cx="11054880" cy="785880"/>
          </a:xfrm>
          <a:prstGeom prst="roundRect">
            <a:avLst>
              <a:gd name="adj" fmla="val 14000"/>
            </a:avLst>
          </a:prstGeom>
          <a:solidFill>
            <a:srgbClr val="f6f8f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3" name="Oval 45"/>
          <p:cNvSpPr/>
          <p:nvPr/>
        </p:nvSpPr>
        <p:spPr>
          <a:xfrm>
            <a:off x="768240" y="5706000"/>
            <a:ext cx="273960" cy="273960"/>
          </a:xfrm>
          <a:prstGeom prst="ellipse">
            <a:avLst/>
          </a:prstGeom>
          <a:solidFill>
            <a:srgbClr val="b7791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4" name="TextBox 46"/>
          <p:cNvSpPr/>
          <p:nvPr/>
        </p:nvSpPr>
        <p:spPr>
          <a:xfrm>
            <a:off x="768240" y="5738040"/>
            <a:ext cx="27396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Segoe UI"/>
              </a:rPr>
              <a:t>↻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TextBox 47"/>
          <p:cNvSpPr/>
          <p:nvPr/>
        </p:nvSpPr>
        <p:spPr>
          <a:xfrm>
            <a:off x="1152000" y="5687640"/>
            <a:ext cx="491904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50" spc="-1" strike="noStrike">
                <a:solidFill>
                  <a:srgbClr val="b7791f"/>
                </a:solidFill>
                <a:latin typeface="Segoe UI"/>
              </a:rPr>
              <a:t>Writes its own playbook — </a:t>
            </a:r>
            <a:r>
              <a:rPr b="0" lang="en-US" sz="950" spc="-1" strike="noStrike">
                <a:solidFill>
                  <a:srgbClr val="1a202c"/>
                </a:solidFill>
                <a:latin typeface="Segoe UI"/>
              </a:rPr>
              <a:t>plain-text rules, skills and workflows, tidied nightly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Oval 48"/>
          <p:cNvSpPr/>
          <p:nvPr/>
        </p:nvSpPr>
        <p:spPr>
          <a:xfrm>
            <a:off x="6053400" y="5706000"/>
            <a:ext cx="273960" cy="273960"/>
          </a:xfrm>
          <a:prstGeom prst="ellipse">
            <a:avLst/>
          </a:prstGeom>
          <a:solidFill>
            <a:srgbClr val="2c7a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7" name="TextBox 49"/>
          <p:cNvSpPr/>
          <p:nvPr/>
        </p:nvSpPr>
        <p:spPr>
          <a:xfrm>
            <a:off x="6053400" y="5738040"/>
            <a:ext cx="27396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Segoe UI"/>
              </a:rPr>
              <a:t>◎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TextBox 50"/>
          <p:cNvSpPr/>
          <p:nvPr/>
        </p:nvSpPr>
        <p:spPr>
          <a:xfrm>
            <a:off x="6437520" y="5687640"/>
            <a:ext cx="501048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50" spc="-1" strike="noStrike">
                <a:solidFill>
                  <a:srgbClr val="2c7a7b"/>
                </a:solidFill>
                <a:latin typeface="Segoe UI"/>
              </a:rPr>
              <a:t>Remembers — </a:t>
            </a:r>
            <a:r>
              <a:rPr b="0" lang="en-US" sz="950" spc="-1" strike="noStrike">
                <a:solidFill>
                  <a:srgbClr val="1a202c"/>
                </a:solidFill>
                <a:latin typeface="Segoe UI"/>
              </a:rPr>
              <a:t>what one machine learns, the team has tomorrow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TextBox 51"/>
          <p:cNvSpPr/>
          <p:nvPr/>
        </p:nvSpPr>
        <p:spPr>
          <a:xfrm>
            <a:off x="1152000" y="6016680"/>
            <a:ext cx="4754520" cy="12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64748b"/>
                </a:solidFill>
                <a:latin typeface="Segoe UI"/>
              </a:rPr>
              <a:t>a fix found once becomes a step it repeats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TextBox 52"/>
          <p:cNvSpPr/>
          <p:nvPr/>
        </p:nvSpPr>
        <p:spPr>
          <a:xfrm>
            <a:off x="6437520" y="6016680"/>
            <a:ext cx="4937400" cy="12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64748b"/>
                </a:solidFill>
                <a:latin typeface="Segoe UI"/>
              </a:rPr>
              <a:t>secrets are stripped before anything is shared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Rectangle 1"/>
          <p:cNvSpPr/>
          <p:nvPr/>
        </p:nvSpPr>
        <p:spPr>
          <a:xfrm>
            <a:off x="0" y="0"/>
            <a:ext cx="12191400" cy="1481040"/>
          </a:xfrm>
          <a:prstGeom prst="rect">
            <a:avLst/>
          </a:prstGeom>
          <a:solidFill>
            <a:srgbClr val="0b1b2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2" name="Rectangle 2"/>
          <p:cNvSpPr/>
          <p:nvPr/>
        </p:nvSpPr>
        <p:spPr>
          <a:xfrm>
            <a:off x="7498080" y="0"/>
            <a:ext cx="4693320" cy="1481040"/>
          </a:xfrm>
          <a:prstGeom prst="rect">
            <a:avLst/>
          </a:prstGeom>
          <a:solidFill>
            <a:srgbClr val="183b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3" name="Rectangle 3"/>
          <p:cNvSpPr/>
          <p:nvPr/>
        </p:nvSpPr>
        <p:spPr>
          <a:xfrm>
            <a:off x="7040880" y="0"/>
            <a:ext cx="456840" cy="1481040"/>
          </a:xfrm>
          <a:prstGeom prst="rect">
            <a:avLst/>
          </a:prstGeom>
          <a:solidFill>
            <a:srgbClr val="112b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4" name="Rectangle 4"/>
          <p:cNvSpPr/>
          <p:nvPr/>
        </p:nvSpPr>
        <p:spPr>
          <a:xfrm>
            <a:off x="0" y="1463040"/>
            <a:ext cx="12191400" cy="37800"/>
          </a:xfrm>
          <a:prstGeom prst="rect">
            <a:avLst/>
          </a:prstGeom>
          <a:solidFill>
            <a:srgbClr val="c530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5" name="TextBox 5"/>
          <p:cNvSpPr/>
          <p:nvPr/>
        </p:nvSpPr>
        <p:spPr>
          <a:xfrm>
            <a:off x="567000" y="311040"/>
            <a:ext cx="802152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400" spc="-1" strike="noStrike">
                <a:solidFill>
                  <a:srgbClr val="ffffff"/>
                </a:solidFill>
                <a:latin typeface="Segoe UI"/>
              </a:rPr>
              <a:t>Nothing gets out unless we allow it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TextBox 6"/>
          <p:cNvSpPr/>
          <p:nvPr/>
        </p:nvSpPr>
        <p:spPr>
          <a:xfrm>
            <a:off x="567000" y="896040"/>
            <a:ext cx="80215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b8c7d9"/>
                </a:solidFill>
                <a:latin typeface="Segoe UI"/>
              </a:rPr>
              <a:t>A tool call, a shell command and a notebook cell all reach the same gate and get the same answer.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Oval 7"/>
          <p:cNvSpPr/>
          <p:nvPr/>
        </p:nvSpPr>
        <p:spPr>
          <a:xfrm>
            <a:off x="8863200" y="274320"/>
            <a:ext cx="785880" cy="785880"/>
          </a:xfrm>
          <a:prstGeom prst="ellipse">
            <a:avLst/>
          </a:prstGeom>
          <a:solidFill>
            <a:srgbClr val="142c45"/>
          </a:solidFill>
          <a:ln w="19050">
            <a:solidFill>
              <a:srgbClr val="2f7a5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8" name="TextBox 8"/>
          <p:cNvSpPr/>
          <p:nvPr/>
        </p:nvSpPr>
        <p:spPr>
          <a:xfrm>
            <a:off x="8863200" y="420480"/>
            <a:ext cx="78588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Segoe UI"/>
              </a:rPr>
              <a:t>0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Box 9"/>
          <p:cNvSpPr/>
          <p:nvPr/>
        </p:nvSpPr>
        <p:spPr>
          <a:xfrm>
            <a:off x="8717040" y="1115640"/>
            <a:ext cx="107856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800" spc="-1" strike="noStrike">
                <a:solidFill>
                  <a:srgbClr val="9fb3c8"/>
                </a:solidFill>
                <a:latin typeface="Segoe UI"/>
              </a:rPr>
              <a:t>known weaknesses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Oval 10"/>
          <p:cNvSpPr/>
          <p:nvPr/>
        </p:nvSpPr>
        <p:spPr>
          <a:xfrm>
            <a:off x="9850680" y="274320"/>
            <a:ext cx="785880" cy="785880"/>
          </a:xfrm>
          <a:prstGeom prst="ellipse">
            <a:avLst/>
          </a:prstGeom>
          <a:solidFill>
            <a:srgbClr val="142c45"/>
          </a:solidFill>
          <a:ln w="19050">
            <a:solidFill>
              <a:srgbClr val="2f7a5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1" name="TextBox 11"/>
          <p:cNvSpPr/>
          <p:nvPr/>
        </p:nvSpPr>
        <p:spPr>
          <a:xfrm>
            <a:off x="9850680" y="420480"/>
            <a:ext cx="78588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Segoe UI"/>
              </a:rPr>
              <a:t>0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TextBox 12"/>
          <p:cNvSpPr/>
          <p:nvPr/>
        </p:nvSpPr>
        <p:spPr>
          <a:xfrm>
            <a:off x="9704520" y="1115640"/>
            <a:ext cx="107856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800" spc="-1" strike="noStrike">
                <a:solidFill>
                  <a:srgbClr val="9fb3c8"/>
                </a:solidFill>
                <a:latin typeface="Segoe UI"/>
              </a:rPr>
              <a:t>usage data sent out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Oval 13"/>
          <p:cNvSpPr/>
          <p:nvPr/>
        </p:nvSpPr>
        <p:spPr>
          <a:xfrm>
            <a:off x="10838520" y="274320"/>
            <a:ext cx="785880" cy="785880"/>
          </a:xfrm>
          <a:prstGeom prst="ellipse">
            <a:avLst/>
          </a:prstGeom>
          <a:solidFill>
            <a:srgbClr val="142c45"/>
          </a:solidFill>
          <a:ln w="19050">
            <a:solidFill>
              <a:srgbClr val="b7791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4" name="TextBox 14"/>
          <p:cNvSpPr/>
          <p:nvPr/>
        </p:nvSpPr>
        <p:spPr>
          <a:xfrm>
            <a:off x="10838520" y="420480"/>
            <a:ext cx="78588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Segoe UI"/>
              </a:rPr>
              <a:t>20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TextBox 15"/>
          <p:cNvSpPr/>
          <p:nvPr/>
        </p:nvSpPr>
        <p:spPr>
          <a:xfrm>
            <a:off x="10692000" y="1115640"/>
            <a:ext cx="107856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800" spc="-1" strike="noStrike">
                <a:solidFill>
                  <a:srgbClr val="9fb3c8"/>
                </a:solidFill>
                <a:latin typeface="Segoe UI"/>
              </a:rPr>
              <a:t>actions that ask first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TextBox 16"/>
          <p:cNvSpPr/>
          <p:nvPr/>
        </p:nvSpPr>
        <p:spPr>
          <a:xfrm>
            <a:off x="11521440" y="6455520"/>
            <a:ext cx="45684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94a3b8"/>
                </a:solidFill>
                <a:latin typeface="Segoe UI"/>
              </a:rPr>
              <a:t>3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Oval 17"/>
          <p:cNvSpPr/>
          <p:nvPr/>
        </p:nvSpPr>
        <p:spPr>
          <a:xfrm>
            <a:off x="2670120" y="1792080"/>
            <a:ext cx="3840120" cy="3840120"/>
          </a:xfrm>
          <a:prstGeom prst="ellipse">
            <a:avLst/>
          </a:prstGeom>
          <a:solidFill>
            <a:srgbClr val="eff2f6"/>
          </a:solidFill>
          <a:ln w="15875">
            <a:solidFill>
              <a:srgbClr val="94a3b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8" name="Oval 18"/>
          <p:cNvSpPr/>
          <p:nvPr/>
        </p:nvSpPr>
        <p:spPr>
          <a:xfrm>
            <a:off x="3108960" y="2231280"/>
            <a:ext cx="2962440" cy="2962440"/>
          </a:xfrm>
          <a:prstGeom prst="ellipse">
            <a:avLst/>
          </a:prstGeom>
          <a:solidFill>
            <a:srgbClr val="fbecec"/>
          </a:solidFill>
          <a:ln w="15875">
            <a:solidFill>
              <a:srgbClr val="c5303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9" name="Oval 19"/>
          <p:cNvSpPr/>
          <p:nvPr/>
        </p:nvSpPr>
        <p:spPr>
          <a:xfrm>
            <a:off x="3547800" y="2670120"/>
            <a:ext cx="2084400" cy="2084400"/>
          </a:xfrm>
          <a:prstGeom prst="ellipse">
            <a:avLst/>
          </a:prstGeom>
          <a:solidFill>
            <a:srgbClr val="fdf3e2"/>
          </a:solidFill>
          <a:ln w="15875">
            <a:solidFill>
              <a:srgbClr val="b7791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0" name="Oval 20"/>
          <p:cNvSpPr/>
          <p:nvPr/>
        </p:nvSpPr>
        <p:spPr>
          <a:xfrm>
            <a:off x="3968640" y="3090600"/>
            <a:ext cx="1243080" cy="1243080"/>
          </a:xfrm>
          <a:prstGeom prst="ellipse">
            <a:avLst/>
          </a:prstGeom>
          <a:solidFill>
            <a:srgbClr val="183b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18360" bIns="18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Segoe UI"/>
              </a:rPr>
              <a:t>Our code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860" spc="-1" strike="noStrike">
                <a:solidFill>
                  <a:srgbClr val="ffffff"/>
                </a:solidFill>
                <a:latin typeface="Segoe UI"/>
              </a:rPr>
              <a:t>and our keys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" name="Rounded Rectangle 21"/>
          <p:cNvSpPr/>
          <p:nvPr/>
        </p:nvSpPr>
        <p:spPr>
          <a:xfrm>
            <a:off x="3218760" y="1722960"/>
            <a:ext cx="2742840" cy="13788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94a3b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2" name="TextBox 22"/>
          <p:cNvSpPr/>
          <p:nvPr/>
        </p:nvSpPr>
        <p:spPr>
          <a:xfrm>
            <a:off x="3218760" y="1741320"/>
            <a:ext cx="2742840" cy="12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850" spc="-1" strike="noStrike">
                <a:solidFill>
                  <a:srgbClr val="94a3b8"/>
                </a:solidFill>
                <a:latin typeface="Segoe UI"/>
              </a:rPr>
              <a:t>the firewall on the machine — yours, not ours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Rounded Rectangle 23"/>
          <p:cNvSpPr/>
          <p:nvPr/>
        </p:nvSpPr>
        <p:spPr>
          <a:xfrm>
            <a:off x="3218760" y="2162160"/>
            <a:ext cx="2742840" cy="13788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c5303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4" name="TextBox 24"/>
          <p:cNvSpPr/>
          <p:nvPr/>
        </p:nvSpPr>
        <p:spPr>
          <a:xfrm>
            <a:off x="3218760" y="2180160"/>
            <a:ext cx="2742840" cy="12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850" spc="-1" strike="noStrike">
                <a:solidFill>
                  <a:srgbClr val="c53030"/>
                </a:solidFill>
                <a:latin typeface="Segoe UI"/>
              </a:rPr>
              <a:t>ONE GATE  ·  tool · shell · notebook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Rounded Rectangle 25"/>
          <p:cNvSpPr/>
          <p:nvPr/>
        </p:nvSpPr>
        <p:spPr>
          <a:xfrm>
            <a:off x="3218760" y="2601000"/>
            <a:ext cx="2742840" cy="13788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b7791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6" name="TextBox 26"/>
          <p:cNvSpPr/>
          <p:nvPr/>
        </p:nvSpPr>
        <p:spPr>
          <a:xfrm>
            <a:off x="3218760" y="2619360"/>
            <a:ext cx="2742840" cy="12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850" spc="-1" strike="noStrike">
                <a:solidFill>
                  <a:srgbClr val="b7791f"/>
                </a:solidFill>
                <a:latin typeface="Segoe UI"/>
              </a:rPr>
              <a:t>workspace + approvals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TextBox 27"/>
          <p:cNvSpPr/>
          <p:nvPr/>
        </p:nvSpPr>
        <p:spPr>
          <a:xfrm>
            <a:off x="567000" y="2797920"/>
            <a:ext cx="170028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1a202c"/>
                </a:solidFill>
                <a:latin typeface="Segoe UI"/>
              </a:rPr>
              <a:t>A tool call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TextBox 28"/>
          <p:cNvSpPr/>
          <p:nvPr/>
        </p:nvSpPr>
        <p:spPr>
          <a:xfrm>
            <a:off x="567000" y="2990160"/>
            <a:ext cx="170028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00" spc="-1" strike="noStrike">
                <a:solidFill>
                  <a:srgbClr val="64748b"/>
                </a:solidFill>
                <a:latin typeface="Segoe UI"/>
              </a:rPr>
              <a:t>web · Jira · MCP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09" name="Connector 29"/>
          <p:cNvCxnSpPr/>
          <p:nvPr/>
        </p:nvCxnSpPr>
        <p:spPr>
          <a:xfrm>
            <a:off x="2377440" y="2944080"/>
            <a:ext cx="274680" cy="530640"/>
          </a:xfrm>
          <a:prstGeom prst="straightConnector1">
            <a:avLst/>
          </a:prstGeom>
          <a:ln w="19050">
            <a:solidFill>
              <a:srgbClr val="c53030"/>
            </a:solidFill>
            <a:round/>
            <a:tailEnd len="med" type="triangle" w="med"/>
          </a:ln>
        </p:spPr>
      </p:cxnSp>
      <p:sp>
        <p:nvSpPr>
          <p:cNvPr id="210" name="TextBox 30"/>
          <p:cNvSpPr/>
          <p:nvPr/>
        </p:nvSpPr>
        <p:spPr>
          <a:xfrm>
            <a:off x="567000" y="3328560"/>
            <a:ext cx="170028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1a202c"/>
                </a:solidFill>
                <a:latin typeface="Segoe UI"/>
              </a:rPr>
              <a:t>A shell command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TextBox 31"/>
          <p:cNvSpPr/>
          <p:nvPr/>
        </p:nvSpPr>
        <p:spPr>
          <a:xfrm>
            <a:off x="567000" y="3520440"/>
            <a:ext cx="170028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00" spc="-1" strike="noStrike">
                <a:solidFill>
                  <a:srgbClr val="64748b"/>
                </a:solidFill>
                <a:latin typeface="Segoe UI"/>
              </a:rPr>
              <a:t>curl · scp · ssh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12" name="Connector 32"/>
          <p:cNvCxnSpPr/>
          <p:nvPr/>
        </p:nvCxnSpPr>
        <p:spPr>
          <a:xfrm>
            <a:off x="2377440" y="3474720"/>
            <a:ext cx="274680" cy="237960"/>
          </a:xfrm>
          <a:prstGeom prst="straightConnector1">
            <a:avLst/>
          </a:prstGeom>
          <a:ln w="19050">
            <a:solidFill>
              <a:srgbClr val="c53030"/>
            </a:solidFill>
            <a:round/>
            <a:tailEnd len="med" type="triangle" w="med"/>
          </a:ln>
        </p:spPr>
      </p:cxnSp>
      <p:sp>
        <p:nvSpPr>
          <p:cNvPr id="213" name="TextBox 33"/>
          <p:cNvSpPr/>
          <p:nvPr/>
        </p:nvSpPr>
        <p:spPr>
          <a:xfrm>
            <a:off x="567000" y="3858840"/>
            <a:ext cx="170028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1a202c"/>
                </a:solidFill>
                <a:latin typeface="Segoe UI"/>
              </a:rPr>
              <a:t>A notebook cell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TextBox 34"/>
          <p:cNvSpPr/>
          <p:nvPr/>
        </p:nvSpPr>
        <p:spPr>
          <a:xfrm>
            <a:off x="567000" y="4050720"/>
            <a:ext cx="170028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00" spc="-1" strike="noStrike">
                <a:solidFill>
                  <a:srgbClr val="64748b"/>
                </a:solidFill>
                <a:latin typeface="Segoe UI"/>
              </a:rPr>
              <a:t>its own code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15" name="Connector 35"/>
          <p:cNvCxnSpPr/>
          <p:nvPr/>
        </p:nvCxnSpPr>
        <p:spPr>
          <a:xfrm flipV="1">
            <a:off x="2377440" y="3949920"/>
            <a:ext cx="274680" cy="55440"/>
          </a:xfrm>
          <a:prstGeom prst="straightConnector1">
            <a:avLst/>
          </a:prstGeom>
          <a:ln w="19050">
            <a:solidFill>
              <a:srgbClr val="c53030"/>
            </a:solidFill>
            <a:round/>
            <a:tailEnd len="med" type="triangle" w="med"/>
          </a:ln>
        </p:spPr>
      </p:cxnSp>
      <p:sp>
        <p:nvSpPr>
          <p:cNvPr id="216" name="TextBox 36"/>
          <p:cNvSpPr/>
          <p:nvPr/>
        </p:nvSpPr>
        <p:spPr>
          <a:xfrm>
            <a:off x="567000" y="4517280"/>
            <a:ext cx="1883160" cy="38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850" spc="-1" strike="noStrike">
                <a:solidFill>
                  <a:srgbClr val="64748b"/>
                </a:solidFill>
                <a:latin typeface="Segoe UI"/>
              </a:rPr>
              <a:t>the gate is code, not the model's judgement — a prompt cannot argue its way past it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Rounded Rectangle 37"/>
          <p:cNvSpPr/>
          <p:nvPr/>
        </p:nvSpPr>
        <p:spPr>
          <a:xfrm>
            <a:off x="6675120" y="1883520"/>
            <a:ext cx="4937400" cy="1334520"/>
          </a:xfrm>
          <a:prstGeom prst="roundRect">
            <a:avLst>
              <a:gd name="adj" fmla="val 10000"/>
            </a:avLst>
          </a:prstGeom>
          <a:solidFill>
            <a:srgbClr val="e8f5e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8" name="TextBox 38"/>
          <p:cNvSpPr/>
          <p:nvPr/>
        </p:nvSpPr>
        <p:spPr>
          <a:xfrm>
            <a:off x="6858000" y="1993320"/>
            <a:ext cx="182844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2f7a57"/>
                </a:solidFill>
                <a:latin typeface="Segoe UI"/>
              </a:rPr>
              <a:t>✓  </a:t>
            </a:r>
            <a:r>
              <a:rPr b="1" lang="en-US" sz="1100" spc="-1" strike="noStrike">
                <a:solidFill>
                  <a:srgbClr val="2f7a57"/>
                </a:solidFill>
                <a:latin typeface="Segoe UI"/>
              </a:rPr>
              <a:t>ALLOWED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TextBox 39"/>
          <p:cNvSpPr/>
          <p:nvPr/>
        </p:nvSpPr>
        <p:spPr>
          <a:xfrm>
            <a:off x="6858000" y="2286000"/>
            <a:ext cx="457164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202c"/>
                </a:solidFill>
                <a:latin typeface="Segoe UI"/>
              </a:rPr>
              <a:t>·  our own network and machines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TextBox 40"/>
          <p:cNvSpPr/>
          <p:nvPr/>
        </p:nvSpPr>
        <p:spPr>
          <a:xfrm>
            <a:off x="6858000" y="2560320"/>
            <a:ext cx="457164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202c"/>
                </a:solidFill>
                <a:latin typeface="Segoe UI"/>
              </a:rPr>
              <a:t>·  pushing to our own git remote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TextBox 41"/>
          <p:cNvSpPr/>
          <p:nvPr/>
        </p:nvSpPr>
        <p:spPr>
          <a:xfrm>
            <a:off x="6858000" y="2834640"/>
            <a:ext cx="457164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202c"/>
                </a:solidFill>
                <a:latin typeface="Segoe UI"/>
              </a:rPr>
              <a:t>·  deploying to a server we named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Rounded Rectangle 42"/>
          <p:cNvSpPr/>
          <p:nvPr/>
        </p:nvSpPr>
        <p:spPr>
          <a:xfrm>
            <a:off x="6675120" y="3346560"/>
            <a:ext cx="4937400" cy="1608840"/>
          </a:xfrm>
          <a:prstGeom prst="roundRect">
            <a:avLst>
              <a:gd name="adj" fmla="val 10000"/>
            </a:avLst>
          </a:prstGeom>
          <a:solidFill>
            <a:srgbClr val="fbece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3" name="TextBox 43"/>
          <p:cNvSpPr/>
          <p:nvPr/>
        </p:nvSpPr>
        <p:spPr>
          <a:xfrm>
            <a:off x="6858000" y="3456360"/>
            <a:ext cx="182844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c53030"/>
                </a:solidFill>
                <a:latin typeface="Segoe UI"/>
              </a:rPr>
              <a:t>✕  </a:t>
            </a:r>
            <a:r>
              <a:rPr b="1" lang="en-US" sz="1100" spc="-1" strike="noStrike">
                <a:solidFill>
                  <a:srgbClr val="c53030"/>
                </a:solidFill>
                <a:latin typeface="Segoe UI"/>
              </a:rPr>
              <a:t>REFUSED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TextBox 44"/>
          <p:cNvSpPr/>
          <p:nvPr/>
        </p:nvSpPr>
        <p:spPr>
          <a:xfrm>
            <a:off x="6858000" y="3749040"/>
            <a:ext cx="457164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202c"/>
                </a:solidFill>
                <a:latin typeface="Segoe UI"/>
              </a:rPr>
              <a:t>·  copying files to an outside host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TextBox 45"/>
          <p:cNvSpPr/>
          <p:nvPr/>
        </p:nvSpPr>
        <p:spPr>
          <a:xfrm>
            <a:off x="6858000" y="4023360"/>
            <a:ext cx="457164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202c"/>
                </a:solidFill>
                <a:latin typeface="Segoe UI"/>
              </a:rPr>
              <a:t>·  uploading to cloud storage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TextBox 46"/>
          <p:cNvSpPr/>
          <p:nvPr/>
        </p:nvSpPr>
        <p:spPr>
          <a:xfrm>
            <a:off x="6858000" y="4297680"/>
            <a:ext cx="457164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202c"/>
                </a:solidFill>
                <a:latin typeface="Segoe UI"/>
              </a:rPr>
              <a:t>·  web search — removed completely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TextBox 47"/>
          <p:cNvSpPr/>
          <p:nvPr/>
        </p:nvSpPr>
        <p:spPr>
          <a:xfrm>
            <a:off x="6858000" y="4572000"/>
            <a:ext cx="457164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202c"/>
                </a:solidFill>
                <a:latin typeface="Segoe UI"/>
              </a:rPr>
              <a:t>·  anything not on the list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Rectangle 48"/>
          <p:cNvSpPr/>
          <p:nvPr/>
        </p:nvSpPr>
        <p:spPr>
          <a:xfrm>
            <a:off x="6675120" y="5139000"/>
            <a:ext cx="4937400" cy="12240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2400" bIns="-324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9" name="Oval 49"/>
          <p:cNvSpPr/>
          <p:nvPr/>
        </p:nvSpPr>
        <p:spPr>
          <a:xfrm>
            <a:off x="6693480" y="5340240"/>
            <a:ext cx="273960" cy="273960"/>
          </a:xfrm>
          <a:prstGeom prst="ellipse">
            <a:avLst/>
          </a:prstGeom>
          <a:solidFill>
            <a:srgbClr val="b7791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0" name="TextBox 50"/>
          <p:cNvSpPr/>
          <p:nvPr/>
        </p:nvSpPr>
        <p:spPr>
          <a:xfrm>
            <a:off x="6693480" y="5372280"/>
            <a:ext cx="27396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Segoe UI"/>
              </a:rPr>
              <a:t>⚿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TextBox 51"/>
          <p:cNvSpPr/>
          <p:nvPr/>
        </p:nvSpPr>
        <p:spPr>
          <a:xfrm>
            <a:off x="7077600" y="5321880"/>
            <a:ext cx="451692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50" spc="-1" strike="noStrike">
                <a:solidFill>
                  <a:srgbClr val="b7791f"/>
                </a:solidFill>
                <a:latin typeface="Segoe UI"/>
              </a:rPr>
              <a:t>Keys — </a:t>
            </a:r>
            <a:r>
              <a:rPr b="0" lang="en-US" sz="950" spc="-1" strike="noStrike">
                <a:solidFill>
                  <a:srgbClr val="1a202c"/>
                </a:solidFill>
                <a:latin typeface="Segoe UI"/>
              </a:rPr>
              <a:t>one locked folder, never shown back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Oval 52"/>
          <p:cNvSpPr/>
          <p:nvPr/>
        </p:nvSpPr>
        <p:spPr>
          <a:xfrm>
            <a:off x="6693480" y="5706000"/>
            <a:ext cx="273960" cy="273960"/>
          </a:xfrm>
          <a:prstGeom prst="ellipse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3" name="TextBox 53"/>
          <p:cNvSpPr/>
          <p:nvPr/>
        </p:nvSpPr>
        <p:spPr>
          <a:xfrm>
            <a:off x="6693480" y="5738040"/>
            <a:ext cx="27396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Segoe UI"/>
              </a:rPr>
              <a:t>✔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TextBox 54"/>
          <p:cNvSpPr/>
          <p:nvPr/>
        </p:nvSpPr>
        <p:spPr>
          <a:xfrm>
            <a:off x="7077600" y="5687640"/>
            <a:ext cx="451692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50" spc="-1" strike="noStrike">
                <a:solidFill>
                  <a:srgbClr val="2b6cb0"/>
                </a:solidFill>
                <a:latin typeface="Segoe UI"/>
              </a:rPr>
              <a:t>Certificates — </a:t>
            </a:r>
            <a:r>
              <a:rPr b="0" lang="en-US" sz="950" spc="-1" strike="noStrike">
                <a:solidFill>
                  <a:srgbClr val="1a202c"/>
                </a:solidFill>
                <a:latin typeface="Segoe UI"/>
              </a:rPr>
              <a:t>our own CA, added in Settings, no restart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Oval 55"/>
          <p:cNvSpPr/>
          <p:nvPr/>
        </p:nvSpPr>
        <p:spPr>
          <a:xfrm>
            <a:off x="6693480" y="6071760"/>
            <a:ext cx="273960" cy="273960"/>
          </a:xfrm>
          <a:prstGeom prst="ellipse">
            <a:avLst/>
          </a:prstGeom>
          <a:solidFill>
            <a:srgbClr val="2c7a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6" name="TextBox 56"/>
          <p:cNvSpPr/>
          <p:nvPr/>
        </p:nvSpPr>
        <p:spPr>
          <a:xfrm>
            <a:off x="6693480" y="6103800"/>
            <a:ext cx="27396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Segoe UI"/>
              </a:rPr>
              <a:t>≡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TextBox 57"/>
          <p:cNvSpPr/>
          <p:nvPr/>
        </p:nvSpPr>
        <p:spPr>
          <a:xfrm>
            <a:off x="7077600" y="6053400"/>
            <a:ext cx="451692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50" spc="-1" strike="noStrike">
                <a:solidFill>
                  <a:srgbClr val="2c7a7b"/>
                </a:solidFill>
                <a:latin typeface="Segoe UI"/>
              </a:rPr>
              <a:t>Record — </a:t>
            </a:r>
            <a:r>
              <a:rPr b="0" lang="en-US" sz="950" spc="-1" strike="noStrike">
                <a:solidFill>
                  <a:srgbClr val="1a202c"/>
                </a:solidFill>
                <a:latin typeface="Segoe UI"/>
              </a:rPr>
              <a:t>every step of every run is written down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Rounded Rectangle 58"/>
          <p:cNvSpPr/>
          <p:nvPr/>
        </p:nvSpPr>
        <p:spPr>
          <a:xfrm>
            <a:off x="567000" y="6035040"/>
            <a:ext cx="5851800" cy="475200"/>
          </a:xfrm>
          <a:prstGeom prst="roundRect">
            <a:avLst>
              <a:gd name="adj" fmla="val 30000"/>
            </a:avLst>
          </a:prstGeom>
          <a:solidFill>
            <a:srgbClr val="f6f8f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9" name="TextBox 59"/>
          <p:cNvSpPr/>
          <p:nvPr/>
        </p:nvSpPr>
        <p:spPr>
          <a:xfrm>
            <a:off x="731520" y="6144840"/>
            <a:ext cx="5522760" cy="1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64748b"/>
                </a:solidFill>
                <a:latin typeface="Segoe UI"/>
              </a:rPr>
              <a:t>We do not claim a sealed box: a shell can still open a socket the gate never sees.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Rectangle 1"/>
          <p:cNvSpPr/>
          <p:nvPr/>
        </p:nvSpPr>
        <p:spPr>
          <a:xfrm>
            <a:off x="0" y="0"/>
            <a:ext cx="12191400" cy="1481040"/>
          </a:xfrm>
          <a:prstGeom prst="rect">
            <a:avLst/>
          </a:prstGeom>
          <a:solidFill>
            <a:srgbClr val="0b1b2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1" name="Rectangle 2"/>
          <p:cNvSpPr/>
          <p:nvPr/>
        </p:nvSpPr>
        <p:spPr>
          <a:xfrm>
            <a:off x="7498080" y="0"/>
            <a:ext cx="4693320" cy="1481040"/>
          </a:xfrm>
          <a:prstGeom prst="rect">
            <a:avLst/>
          </a:prstGeom>
          <a:solidFill>
            <a:srgbClr val="183b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2" name="Rectangle 3"/>
          <p:cNvSpPr/>
          <p:nvPr/>
        </p:nvSpPr>
        <p:spPr>
          <a:xfrm>
            <a:off x="7040880" y="0"/>
            <a:ext cx="456840" cy="1481040"/>
          </a:xfrm>
          <a:prstGeom prst="rect">
            <a:avLst/>
          </a:prstGeom>
          <a:solidFill>
            <a:srgbClr val="112b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3" name="Rectangle 4"/>
          <p:cNvSpPr/>
          <p:nvPr/>
        </p:nvSpPr>
        <p:spPr>
          <a:xfrm>
            <a:off x="0" y="1463040"/>
            <a:ext cx="12191400" cy="37800"/>
          </a:xfrm>
          <a:prstGeom prst="rect">
            <a:avLst/>
          </a:prstGeom>
          <a:solidFill>
            <a:srgbClr val="2c7a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4" name="TextBox 5"/>
          <p:cNvSpPr/>
          <p:nvPr/>
        </p:nvSpPr>
        <p:spPr>
          <a:xfrm>
            <a:off x="567000" y="311040"/>
            <a:ext cx="8021520" cy="33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Segoe UI"/>
              </a:rPr>
              <a:t>What one person learns, the whole company keeps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TextBox 6"/>
          <p:cNvSpPr/>
          <p:nvPr/>
        </p:nvSpPr>
        <p:spPr>
          <a:xfrm>
            <a:off x="567000" y="896040"/>
            <a:ext cx="80215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b8c7d9"/>
                </a:solidFill>
                <a:latin typeface="Segoe UI"/>
              </a:rPr>
              <a:t>Each machine learns on its own. Secrets are stripped, a team lead merges the rest, and other teams read it.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Oval 7"/>
          <p:cNvSpPr/>
          <p:nvPr/>
        </p:nvSpPr>
        <p:spPr>
          <a:xfrm>
            <a:off x="8863200" y="274320"/>
            <a:ext cx="785880" cy="785880"/>
          </a:xfrm>
          <a:prstGeom prst="ellipse">
            <a:avLst/>
          </a:prstGeom>
          <a:solidFill>
            <a:srgbClr val="142c45"/>
          </a:solidFill>
          <a:ln w="19050">
            <a:solidFill>
              <a:srgbClr val="2f7a5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7" name="TextBox 8"/>
          <p:cNvSpPr/>
          <p:nvPr/>
        </p:nvSpPr>
        <p:spPr>
          <a:xfrm>
            <a:off x="8863200" y="420480"/>
            <a:ext cx="78588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Segoe UI"/>
              </a:rPr>
              <a:t>8,606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TextBox 9"/>
          <p:cNvSpPr/>
          <p:nvPr/>
        </p:nvSpPr>
        <p:spPr>
          <a:xfrm>
            <a:off x="8717040" y="1115640"/>
            <a:ext cx="107856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800" spc="-1" strike="noStrike">
                <a:solidFill>
                  <a:srgbClr val="9fb3c8"/>
                </a:solidFill>
                <a:latin typeface="Segoe UI"/>
              </a:rPr>
              <a:t>tests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Oval 10"/>
          <p:cNvSpPr/>
          <p:nvPr/>
        </p:nvSpPr>
        <p:spPr>
          <a:xfrm>
            <a:off x="9850680" y="274320"/>
            <a:ext cx="785880" cy="785880"/>
          </a:xfrm>
          <a:prstGeom prst="ellipse">
            <a:avLst/>
          </a:prstGeom>
          <a:solidFill>
            <a:srgbClr val="142c45"/>
          </a:solidFill>
          <a:ln w="19050">
            <a:solidFill>
              <a:srgbClr val="2b6c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0" name="TextBox 11"/>
          <p:cNvSpPr/>
          <p:nvPr/>
        </p:nvSpPr>
        <p:spPr>
          <a:xfrm>
            <a:off x="9850680" y="420480"/>
            <a:ext cx="78588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Segoe UI"/>
              </a:rPr>
              <a:t>82.8%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TextBox 12"/>
          <p:cNvSpPr/>
          <p:nvPr/>
        </p:nvSpPr>
        <p:spPr>
          <a:xfrm>
            <a:off x="9704520" y="1115640"/>
            <a:ext cx="107856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800" spc="-1" strike="noStrike">
                <a:solidFill>
                  <a:srgbClr val="9fb3c8"/>
                </a:solidFill>
                <a:latin typeface="Segoe UI"/>
              </a:rPr>
              <a:t>covered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Oval 13"/>
          <p:cNvSpPr/>
          <p:nvPr/>
        </p:nvSpPr>
        <p:spPr>
          <a:xfrm>
            <a:off x="10838520" y="274320"/>
            <a:ext cx="785880" cy="785880"/>
          </a:xfrm>
          <a:prstGeom prst="ellipse">
            <a:avLst/>
          </a:prstGeom>
          <a:solidFill>
            <a:srgbClr val="142c45"/>
          </a:solidFill>
          <a:ln w="19050">
            <a:solidFill>
              <a:srgbClr val="2f7a5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3" name="TextBox 14"/>
          <p:cNvSpPr/>
          <p:nvPr/>
        </p:nvSpPr>
        <p:spPr>
          <a:xfrm>
            <a:off x="10838520" y="420480"/>
            <a:ext cx="78588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Segoe UI"/>
              </a:rPr>
              <a:t>A·A·A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TextBox 15"/>
          <p:cNvSpPr/>
          <p:nvPr/>
        </p:nvSpPr>
        <p:spPr>
          <a:xfrm>
            <a:off x="10692000" y="1115640"/>
            <a:ext cx="107856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800" spc="-1" strike="noStrike">
                <a:solidFill>
                  <a:srgbClr val="9fb3c8"/>
                </a:solidFill>
                <a:latin typeface="Segoe UI"/>
              </a:rPr>
              <a:t>ratings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TextBox 16"/>
          <p:cNvSpPr/>
          <p:nvPr/>
        </p:nvSpPr>
        <p:spPr>
          <a:xfrm>
            <a:off x="11521440" y="6455520"/>
            <a:ext cx="45684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94a3b8"/>
                </a:solidFill>
                <a:latin typeface="Segoe UI"/>
              </a:rPr>
              <a:t>4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Oval 17"/>
          <p:cNvSpPr/>
          <p:nvPr/>
        </p:nvSpPr>
        <p:spPr>
          <a:xfrm>
            <a:off x="1207080" y="1627560"/>
            <a:ext cx="4169160" cy="4169160"/>
          </a:xfrm>
          <a:prstGeom prst="ellipse">
            <a:avLst/>
          </a:prstGeom>
          <a:solidFill>
            <a:srgbClr val="eef6f6"/>
          </a:solidFill>
          <a:ln w="15875">
            <a:solidFill>
              <a:srgbClr val="2c7a7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7" name="Oval 18"/>
          <p:cNvSpPr/>
          <p:nvPr/>
        </p:nvSpPr>
        <p:spPr>
          <a:xfrm>
            <a:off x="1810440" y="2231280"/>
            <a:ext cx="2962440" cy="2962440"/>
          </a:xfrm>
          <a:prstGeom prst="ellipse">
            <a:avLst/>
          </a:prstGeom>
          <a:solidFill>
            <a:srgbClr val="e2f0f0"/>
          </a:solidFill>
          <a:ln w="15875">
            <a:solidFill>
              <a:srgbClr val="2c7a7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8" name="Oval 19"/>
          <p:cNvSpPr/>
          <p:nvPr/>
        </p:nvSpPr>
        <p:spPr>
          <a:xfrm>
            <a:off x="2432160" y="2853000"/>
            <a:ext cx="1718640" cy="171864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c7a7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9" name="TextBox 20"/>
          <p:cNvSpPr/>
          <p:nvPr/>
        </p:nvSpPr>
        <p:spPr>
          <a:xfrm>
            <a:off x="2505600" y="3438000"/>
            <a:ext cx="1572480" cy="32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1a202c"/>
                </a:solidFill>
                <a:latin typeface="Segoe UI"/>
              </a:rPr>
              <a:t>One machine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1a202c"/>
                </a:solidFill>
                <a:latin typeface="Segoe UI"/>
              </a:rPr>
              <a:t>learns from every run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TextBox 21"/>
          <p:cNvSpPr/>
          <p:nvPr/>
        </p:nvSpPr>
        <p:spPr>
          <a:xfrm>
            <a:off x="1920240" y="2359080"/>
            <a:ext cx="274284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50" spc="-1" strike="noStrike">
                <a:solidFill>
                  <a:srgbClr val="2c7a7b"/>
                </a:solidFill>
                <a:latin typeface="Segoe UI"/>
              </a:rPr>
              <a:t>OUR TEAM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TextBox 22"/>
          <p:cNvSpPr/>
          <p:nvPr/>
        </p:nvSpPr>
        <p:spPr>
          <a:xfrm>
            <a:off x="1554480" y="1737360"/>
            <a:ext cx="347436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50" spc="-1" strike="noStrike">
                <a:solidFill>
                  <a:srgbClr val="2c7a7b"/>
                </a:solidFill>
                <a:latin typeface="Segoe UI"/>
              </a:rPr>
              <a:t>THE COMPANY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Oval 23"/>
          <p:cNvSpPr/>
          <p:nvPr/>
        </p:nvSpPr>
        <p:spPr>
          <a:xfrm>
            <a:off x="3985560" y="2364840"/>
            <a:ext cx="182520" cy="182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c7a7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3" name="Oval 24"/>
          <p:cNvSpPr/>
          <p:nvPr/>
        </p:nvSpPr>
        <p:spPr>
          <a:xfrm>
            <a:off x="4496040" y="2903040"/>
            <a:ext cx="182520" cy="182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c7a7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4" name="Oval 25"/>
          <p:cNvSpPr/>
          <p:nvPr/>
        </p:nvSpPr>
        <p:spPr>
          <a:xfrm>
            <a:off x="4681800" y="3620880"/>
            <a:ext cx="182520" cy="182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c7a7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5" name="Oval 26"/>
          <p:cNvSpPr/>
          <p:nvPr/>
        </p:nvSpPr>
        <p:spPr>
          <a:xfrm>
            <a:off x="4496040" y="4339080"/>
            <a:ext cx="182520" cy="182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c7a7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6" name="Oval 27"/>
          <p:cNvSpPr/>
          <p:nvPr/>
        </p:nvSpPr>
        <p:spPr>
          <a:xfrm>
            <a:off x="3985560" y="4877280"/>
            <a:ext cx="182520" cy="182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c7a7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7" name="Oval 28"/>
          <p:cNvSpPr/>
          <p:nvPr/>
        </p:nvSpPr>
        <p:spPr>
          <a:xfrm>
            <a:off x="4327920" y="1875960"/>
            <a:ext cx="136800" cy="1368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a9a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8" name="Oval 29"/>
          <p:cNvSpPr/>
          <p:nvPr/>
        </p:nvSpPr>
        <p:spPr>
          <a:xfrm>
            <a:off x="4851000" y="2341440"/>
            <a:ext cx="136800" cy="1368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a9a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9" name="Oval 30"/>
          <p:cNvSpPr/>
          <p:nvPr/>
        </p:nvSpPr>
        <p:spPr>
          <a:xfrm>
            <a:off x="5190480" y="2953800"/>
            <a:ext cx="136800" cy="1368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a9a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0" name="Oval 31"/>
          <p:cNvSpPr/>
          <p:nvPr/>
        </p:nvSpPr>
        <p:spPr>
          <a:xfrm>
            <a:off x="5308200" y="3643920"/>
            <a:ext cx="136800" cy="1368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a9a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1" name="Oval 32"/>
          <p:cNvSpPr/>
          <p:nvPr/>
        </p:nvSpPr>
        <p:spPr>
          <a:xfrm>
            <a:off x="5190480" y="4334040"/>
            <a:ext cx="136800" cy="1368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a9a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2" name="Oval 33"/>
          <p:cNvSpPr/>
          <p:nvPr/>
        </p:nvSpPr>
        <p:spPr>
          <a:xfrm>
            <a:off x="4851000" y="4946400"/>
            <a:ext cx="136800" cy="1368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a9a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3" name="Oval 34"/>
          <p:cNvSpPr/>
          <p:nvPr/>
        </p:nvSpPr>
        <p:spPr>
          <a:xfrm>
            <a:off x="4327920" y="5411880"/>
            <a:ext cx="136800" cy="1368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a9a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4" name="Rounded Rectangle 35"/>
          <p:cNvSpPr/>
          <p:nvPr/>
        </p:nvSpPr>
        <p:spPr>
          <a:xfrm>
            <a:off x="2258640" y="4361760"/>
            <a:ext cx="2066040" cy="420120"/>
          </a:xfrm>
          <a:prstGeom prst="roundRect">
            <a:avLst>
              <a:gd name="adj" fmla="val 35000"/>
            </a:avLst>
          </a:prstGeom>
          <a:solidFill>
            <a:srgbClr val="fdf3e2"/>
          </a:solidFill>
          <a:ln w="12700">
            <a:solidFill>
              <a:srgbClr val="b7791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5" name="TextBox 36"/>
          <p:cNvSpPr/>
          <p:nvPr/>
        </p:nvSpPr>
        <p:spPr>
          <a:xfrm>
            <a:off x="2258640" y="4416480"/>
            <a:ext cx="2066040" cy="1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b7791f"/>
                </a:solidFill>
                <a:latin typeface="Segoe UI"/>
              </a:rPr>
              <a:t>secrets stripped here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TextBox 37"/>
          <p:cNvSpPr/>
          <p:nvPr/>
        </p:nvSpPr>
        <p:spPr>
          <a:xfrm>
            <a:off x="567000" y="5888880"/>
            <a:ext cx="5120280" cy="1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900" spc="-1" strike="noStrike">
                <a:solidFill>
                  <a:srgbClr val="64748b"/>
                </a:solidFill>
                <a:latin typeface="Segoe UI"/>
              </a:rPr>
              <a:t>only distilled notes travel — transcripts and raw captures never leave the machine that made them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Rectangle 38"/>
          <p:cNvSpPr/>
          <p:nvPr/>
        </p:nvSpPr>
        <p:spPr>
          <a:xfrm>
            <a:off x="6035040" y="1774080"/>
            <a:ext cx="45360" cy="1170000"/>
          </a:xfrm>
          <a:prstGeom prst="rect">
            <a:avLst/>
          </a:prstGeom>
          <a:solidFill>
            <a:srgbClr val="2f7a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8" name="TextBox 39"/>
          <p:cNvSpPr/>
          <p:nvPr/>
        </p:nvSpPr>
        <p:spPr>
          <a:xfrm>
            <a:off x="6217920" y="1774080"/>
            <a:ext cx="274284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2f7a57"/>
                </a:solidFill>
                <a:latin typeface="Segoe UI"/>
              </a:rPr>
              <a:t>Our team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Oval 40"/>
          <p:cNvSpPr/>
          <p:nvPr/>
        </p:nvSpPr>
        <p:spPr>
          <a:xfrm>
            <a:off x="6217920" y="2084760"/>
            <a:ext cx="273960" cy="273960"/>
          </a:xfrm>
          <a:prstGeom prst="ellipse">
            <a:avLst/>
          </a:prstGeom>
          <a:solidFill>
            <a:srgbClr val="2f7a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0" name="TextBox 41"/>
          <p:cNvSpPr/>
          <p:nvPr/>
        </p:nvSpPr>
        <p:spPr>
          <a:xfrm>
            <a:off x="6217920" y="2116800"/>
            <a:ext cx="27396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Segoe UI"/>
              </a:rPr>
              <a:t>◆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TextBox 42"/>
          <p:cNvSpPr/>
          <p:nvPr/>
        </p:nvSpPr>
        <p:spPr>
          <a:xfrm>
            <a:off x="6602040" y="2066400"/>
            <a:ext cx="502884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50" spc="-1" strike="noStrike">
                <a:solidFill>
                  <a:srgbClr val="2f7a57"/>
                </a:solidFill>
                <a:latin typeface="Segoe UI"/>
              </a:rPr>
              <a:t>a fix found once </a:t>
            </a:r>
            <a:r>
              <a:rPr b="0" lang="en-US" sz="950" spc="-1" strike="noStrike">
                <a:solidFill>
                  <a:srgbClr val="1a202c"/>
                </a:solidFill>
                <a:latin typeface="Segoe UI"/>
              </a:rPr>
              <a:t>is known by everyone tomorrow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Oval 43"/>
          <p:cNvSpPr/>
          <p:nvPr/>
        </p:nvSpPr>
        <p:spPr>
          <a:xfrm>
            <a:off x="6217920" y="2368440"/>
            <a:ext cx="273960" cy="273960"/>
          </a:xfrm>
          <a:prstGeom prst="ellipse">
            <a:avLst/>
          </a:prstGeom>
          <a:solidFill>
            <a:srgbClr val="2f7a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3" name="TextBox 44"/>
          <p:cNvSpPr/>
          <p:nvPr/>
        </p:nvSpPr>
        <p:spPr>
          <a:xfrm>
            <a:off x="6217920" y="2400480"/>
            <a:ext cx="27396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Segoe UI"/>
              </a:rPr>
              <a:t>◆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TextBox 45"/>
          <p:cNvSpPr/>
          <p:nvPr/>
        </p:nvSpPr>
        <p:spPr>
          <a:xfrm>
            <a:off x="6602040" y="2350080"/>
            <a:ext cx="502884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50" spc="-1" strike="noStrike">
                <a:solidFill>
                  <a:srgbClr val="2f7a57"/>
                </a:solidFill>
                <a:latin typeface="Segoe UI"/>
              </a:rPr>
              <a:t>a new joiner </a:t>
            </a:r>
            <a:r>
              <a:rPr b="0" lang="en-US" sz="950" spc="-1" strike="noStrike">
                <a:solidFill>
                  <a:srgbClr val="1a202c"/>
                </a:solidFill>
                <a:latin typeface="Segoe UI"/>
              </a:rPr>
              <a:t>reads the team's real history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Oval 46"/>
          <p:cNvSpPr/>
          <p:nvPr/>
        </p:nvSpPr>
        <p:spPr>
          <a:xfrm>
            <a:off x="6217920" y="2651760"/>
            <a:ext cx="273960" cy="273960"/>
          </a:xfrm>
          <a:prstGeom prst="ellipse">
            <a:avLst/>
          </a:prstGeom>
          <a:solidFill>
            <a:srgbClr val="2f7a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6" name="TextBox 47"/>
          <p:cNvSpPr/>
          <p:nvPr/>
        </p:nvSpPr>
        <p:spPr>
          <a:xfrm>
            <a:off x="6217920" y="2683800"/>
            <a:ext cx="27396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Segoe UI"/>
              </a:rPr>
              <a:t>◆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TextBox 48"/>
          <p:cNvSpPr/>
          <p:nvPr/>
        </p:nvSpPr>
        <p:spPr>
          <a:xfrm>
            <a:off x="6602040" y="2633400"/>
            <a:ext cx="502884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50" spc="-1" strike="noStrike">
                <a:solidFill>
                  <a:srgbClr val="2f7a57"/>
                </a:solidFill>
                <a:latin typeface="Segoe UI"/>
              </a:rPr>
              <a:t>people leave </a:t>
            </a:r>
            <a:r>
              <a:rPr b="0" lang="en-US" sz="950" spc="-1" strike="noStrike">
                <a:solidFill>
                  <a:srgbClr val="1a202c"/>
                </a:solidFill>
                <a:latin typeface="Segoe UI"/>
              </a:rPr>
              <a:t>and their know-how stays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Rectangle 49"/>
          <p:cNvSpPr/>
          <p:nvPr/>
        </p:nvSpPr>
        <p:spPr>
          <a:xfrm>
            <a:off x="6035040" y="3017520"/>
            <a:ext cx="45360" cy="117000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9" name="TextBox 50"/>
          <p:cNvSpPr/>
          <p:nvPr/>
        </p:nvSpPr>
        <p:spPr>
          <a:xfrm>
            <a:off x="6217920" y="3017520"/>
            <a:ext cx="274284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2b6cb0"/>
                </a:solidFill>
                <a:latin typeface="Segoe UI"/>
              </a:rPr>
              <a:t>The company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Oval 51"/>
          <p:cNvSpPr/>
          <p:nvPr/>
        </p:nvSpPr>
        <p:spPr>
          <a:xfrm>
            <a:off x="6217920" y="3328560"/>
            <a:ext cx="273960" cy="273960"/>
          </a:xfrm>
          <a:prstGeom prst="ellipse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1" name="TextBox 52"/>
          <p:cNvSpPr/>
          <p:nvPr/>
        </p:nvSpPr>
        <p:spPr>
          <a:xfrm>
            <a:off x="6217920" y="3360600"/>
            <a:ext cx="27396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Segoe UI"/>
              </a:rPr>
              <a:t>■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TextBox 53"/>
          <p:cNvSpPr/>
          <p:nvPr/>
        </p:nvSpPr>
        <p:spPr>
          <a:xfrm>
            <a:off x="6602040" y="3310200"/>
            <a:ext cx="502884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50" spc="-1" strike="noStrike">
                <a:solidFill>
                  <a:srgbClr val="2b6cb0"/>
                </a:solidFill>
                <a:latin typeface="Segoe UI"/>
              </a:rPr>
              <a:t>one place </a:t>
            </a:r>
            <a:r>
              <a:rPr b="0" lang="en-US" sz="950" spc="-1" strike="noStrike">
                <a:solidFill>
                  <a:srgbClr val="1a202c"/>
                </a:solidFill>
                <a:latin typeface="Segoe UI"/>
              </a:rPr>
              <a:t>serves many teams at once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Oval 54"/>
          <p:cNvSpPr/>
          <p:nvPr/>
        </p:nvSpPr>
        <p:spPr>
          <a:xfrm>
            <a:off x="6217920" y="3611880"/>
            <a:ext cx="273960" cy="273960"/>
          </a:xfrm>
          <a:prstGeom prst="ellipse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4" name="TextBox 55"/>
          <p:cNvSpPr/>
          <p:nvPr/>
        </p:nvSpPr>
        <p:spPr>
          <a:xfrm>
            <a:off x="6217920" y="3643920"/>
            <a:ext cx="27396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Segoe UI"/>
              </a:rPr>
              <a:t>■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TextBox 56"/>
          <p:cNvSpPr/>
          <p:nvPr/>
        </p:nvSpPr>
        <p:spPr>
          <a:xfrm>
            <a:off x="6602040" y="3593520"/>
            <a:ext cx="502884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50" spc="-1" strike="noStrike">
                <a:solidFill>
                  <a:srgbClr val="2b6cb0"/>
                </a:solidFill>
                <a:latin typeface="Segoe UI"/>
              </a:rPr>
              <a:t>each team's memory </a:t>
            </a:r>
            <a:r>
              <a:rPr b="0" lang="en-US" sz="950" spc="-1" strike="noStrike">
                <a:solidFill>
                  <a:srgbClr val="1a202c"/>
                </a:solidFill>
                <a:latin typeface="Segoe UI"/>
              </a:rPr>
              <a:t>stays its own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Oval 57"/>
          <p:cNvSpPr/>
          <p:nvPr/>
        </p:nvSpPr>
        <p:spPr>
          <a:xfrm>
            <a:off x="6217920" y="3895200"/>
            <a:ext cx="273960" cy="273960"/>
          </a:xfrm>
          <a:prstGeom prst="ellipse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7" name="TextBox 58"/>
          <p:cNvSpPr/>
          <p:nvPr/>
        </p:nvSpPr>
        <p:spPr>
          <a:xfrm>
            <a:off x="6217920" y="3927240"/>
            <a:ext cx="27396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Segoe UI"/>
              </a:rPr>
              <a:t>■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TextBox 59"/>
          <p:cNvSpPr/>
          <p:nvPr/>
        </p:nvSpPr>
        <p:spPr>
          <a:xfrm>
            <a:off x="6602040" y="3877200"/>
            <a:ext cx="502884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50" spc="-1" strike="noStrike">
                <a:solidFill>
                  <a:srgbClr val="2b6cb0"/>
                </a:solidFill>
                <a:latin typeface="Segoe UI"/>
              </a:rPr>
              <a:t>nothing to run </a:t>
            </a:r>
            <a:r>
              <a:rPr b="0" lang="en-US" sz="950" spc="-1" strike="noStrike">
                <a:solidFill>
                  <a:srgbClr val="1a202c"/>
                </a:solidFill>
                <a:latin typeface="Segoe UI"/>
              </a:rPr>
              <a:t>— it is files in a folder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Rectangle 60"/>
          <p:cNvSpPr/>
          <p:nvPr/>
        </p:nvSpPr>
        <p:spPr>
          <a:xfrm>
            <a:off x="6035040" y="4260960"/>
            <a:ext cx="45360" cy="1170000"/>
          </a:xfrm>
          <a:prstGeom prst="rect">
            <a:avLst/>
          </a:prstGeom>
          <a:solidFill>
            <a:srgbClr val="6b46c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0" name="TextBox 61"/>
          <p:cNvSpPr/>
          <p:nvPr/>
        </p:nvSpPr>
        <p:spPr>
          <a:xfrm>
            <a:off x="6217920" y="4260960"/>
            <a:ext cx="274284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6b46c1"/>
                </a:solidFill>
                <a:latin typeface="Segoe UI"/>
              </a:rPr>
              <a:t>Legal and audit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Oval 62"/>
          <p:cNvSpPr/>
          <p:nvPr/>
        </p:nvSpPr>
        <p:spPr>
          <a:xfrm>
            <a:off x="6217920" y="4572000"/>
            <a:ext cx="273960" cy="273960"/>
          </a:xfrm>
          <a:prstGeom prst="ellipse">
            <a:avLst/>
          </a:prstGeom>
          <a:solidFill>
            <a:srgbClr val="6b46c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2" name="TextBox 63"/>
          <p:cNvSpPr/>
          <p:nvPr/>
        </p:nvSpPr>
        <p:spPr>
          <a:xfrm>
            <a:off x="6217920" y="4604040"/>
            <a:ext cx="27396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Segoe UI"/>
              </a:rPr>
              <a:t>●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TextBox 64"/>
          <p:cNvSpPr/>
          <p:nvPr/>
        </p:nvSpPr>
        <p:spPr>
          <a:xfrm>
            <a:off x="6602040" y="4553640"/>
            <a:ext cx="502884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50" spc="-1" strike="noStrike">
                <a:solidFill>
                  <a:srgbClr val="6b46c1"/>
                </a:solidFill>
                <a:latin typeface="Segoe UI"/>
              </a:rPr>
              <a:t>passwords </a:t>
            </a:r>
            <a:r>
              <a:rPr b="0" lang="en-US" sz="950" spc="-1" strike="noStrike">
                <a:solidFill>
                  <a:srgbClr val="1a202c"/>
                </a:solidFill>
                <a:latin typeface="Segoe UI"/>
              </a:rPr>
              <a:t>are blocked before sharing, not after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Oval 65"/>
          <p:cNvSpPr/>
          <p:nvPr/>
        </p:nvSpPr>
        <p:spPr>
          <a:xfrm>
            <a:off x="6217920" y="4855320"/>
            <a:ext cx="273960" cy="273960"/>
          </a:xfrm>
          <a:prstGeom prst="ellipse">
            <a:avLst/>
          </a:prstGeom>
          <a:solidFill>
            <a:srgbClr val="6b46c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5" name="TextBox 66"/>
          <p:cNvSpPr/>
          <p:nvPr/>
        </p:nvSpPr>
        <p:spPr>
          <a:xfrm>
            <a:off x="6217920" y="4887360"/>
            <a:ext cx="27396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Segoe UI"/>
              </a:rPr>
              <a:t>●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TextBox 67"/>
          <p:cNvSpPr/>
          <p:nvPr/>
        </p:nvSpPr>
        <p:spPr>
          <a:xfrm>
            <a:off x="6602040" y="4837320"/>
            <a:ext cx="502884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50" spc="-1" strike="noStrike">
                <a:solidFill>
                  <a:srgbClr val="6b46c1"/>
                </a:solidFill>
                <a:latin typeface="Segoe UI"/>
              </a:rPr>
              <a:t>every merge </a:t>
            </a:r>
            <a:r>
              <a:rPr b="0" lang="en-US" sz="950" spc="-1" strike="noStrike">
                <a:solidFill>
                  <a:srgbClr val="1a202c"/>
                </a:solidFill>
                <a:latin typeface="Segoe UI"/>
              </a:rPr>
              <a:t>is saved and can be undone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Oval 68"/>
          <p:cNvSpPr/>
          <p:nvPr/>
        </p:nvSpPr>
        <p:spPr>
          <a:xfrm>
            <a:off x="6217920" y="5139000"/>
            <a:ext cx="273960" cy="273960"/>
          </a:xfrm>
          <a:prstGeom prst="ellipse">
            <a:avLst/>
          </a:prstGeom>
          <a:solidFill>
            <a:srgbClr val="6b46c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8" name="TextBox 69"/>
          <p:cNvSpPr/>
          <p:nvPr/>
        </p:nvSpPr>
        <p:spPr>
          <a:xfrm>
            <a:off x="6217920" y="5171040"/>
            <a:ext cx="27396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Segoe UI"/>
              </a:rPr>
              <a:t>●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TextBox 70"/>
          <p:cNvSpPr/>
          <p:nvPr/>
        </p:nvSpPr>
        <p:spPr>
          <a:xfrm>
            <a:off x="6602040" y="5120640"/>
            <a:ext cx="502884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50" spc="-1" strike="noStrike">
                <a:solidFill>
                  <a:srgbClr val="6b46c1"/>
                </a:solidFill>
                <a:latin typeface="Segoe UI"/>
              </a:rPr>
              <a:t>delete the folder </a:t>
            </a:r>
            <a:r>
              <a:rPr b="0" lang="en-US" sz="950" spc="-1" strike="noStrike">
                <a:solidFill>
                  <a:srgbClr val="1a202c"/>
                </a:solidFill>
                <a:latin typeface="Segoe UI"/>
              </a:rPr>
              <a:t>and it is gone — no second copy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TextBox 71"/>
          <p:cNvSpPr/>
          <p:nvPr/>
        </p:nvSpPr>
        <p:spPr>
          <a:xfrm>
            <a:off x="6035040" y="5468040"/>
            <a:ext cx="3657240" cy="1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94a3b8"/>
                </a:solidFill>
                <a:latin typeface="Segoe UI"/>
              </a:rPr>
              <a:t>HOW WE WOULD ROLL IT OUT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311" name="Connector 72"/>
          <p:cNvCxnSpPr/>
          <p:nvPr/>
        </p:nvCxnSpPr>
        <p:spPr>
          <a:xfrm>
            <a:off x="6144480" y="5888520"/>
            <a:ext cx="5212440" cy="360"/>
          </a:xfrm>
          <a:prstGeom prst="straightConnector1">
            <a:avLst/>
          </a:prstGeom>
          <a:ln>
            <a:solidFill>
              <a:srgbClr val="e2e8f0"/>
            </a:solidFill>
            <a:round/>
          </a:ln>
        </p:spPr>
      </p:cxnSp>
      <p:sp>
        <p:nvSpPr>
          <p:cNvPr id="312" name="Oval 73"/>
          <p:cNvSpPr/>
          <p:nvPr/>
        </p:nvSpPr>
        <p:spPr>
          <a:xfrm>
            <a:off x="6144840" y="5779080"/>
            <a:ext cx="219240" cy="219240"/>
          </a:xfrm>
          <a:prstGeom prst="ellipse">
            <a:avLst/>
          </a:prstGeom>
          <a:solidFill>
            <a:srgbClr val="2c7a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3" name="TextBox 74"/>
          <p:cNvSpPr/>
          <p:nvPr/>
        </p:nvSpPr>
        <p:spPr>
          <a:xfrm>
            <a:off x="6437520" y="5742360"/>
            <a:ext cx="146268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1a202c"/>
                </a:solidFill>
                <a:latin typeface="Segoe UI"/>
              </a:rPr>
              <a:t>one team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TextBox 75"/>
          <p:cNvSpPr/>
          <p:nvPr/>
        </p:nvSpPr>
        <p:spPr>
          <a:xfrm>
            <a:off x="6437520" y="5934600"/>
            <a:ext cx="1462680" cy="12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64748b"/>
                </a:solidFill>
                <a:latin typeface="Segoe UI"/>
              </a:rPr>
              <a:t>on real tickets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Oval 76"/>
          <p:cNvSpPr/>
          <p:nvPr/>
        </p:nvSpPr>
        <p:spPr>
          <a:xfrm>
            <a:off x="7918560" y="5779080"/>
            <a:ext cx="219240" cy="219240"/>
          </a:xfrm>
          <a:prstGeom prst="ellipse">
            <a:avLst/>
          </a:prstGeom>
          <a:solidFill>
            <a:srgbClr val="2c7a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6" name="TextBox 77"/>
          <p:cNvSpPr/>
          <p:nvPr/>
        </p:nvSpPr>
        <p:spPr>
          <a:xfrm>
            <a:off x="8211240" y="5742360"/>
            <a:ext cx="146268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1a202c"/>
                </a:solidFill>
                <a:latin typeface="Segoe UI"/>
              </a:rPr>
              <a:t>a second team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TextBox 78"/>
          <p:cNvSpPr/>
          <p:nvPr/>
        </p:nvSpPr>
        <p:spPr>
          <a:xfrm>
            <a:off x="8211240" y="5934600"/>
            <a:ext cx="1462680" cy="25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64748b"/>
                </a:solidFill>
                <a:latin typeface="Segoe UI"/>
              </a:rPr>
              <a:t>same admin, memory already there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Oval 79"/>
          <p:cNvSpPr/>
          <p:nvPr/>
        </p:nvSpPr>
        <p:spPr>
          <a:xfrm>
            <a:off x="9692640" y="5779080"/>
            <a:ext cx="219240" cy="219240"/>
          </a:xfrm>
          <a:prstGeom prst="ellipse">
            <a:avLst/>
          </a:prstGeom>
          <a:solidFill>
            <a:srgbClr val="2c7a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9" name="TextBox 80"/>
          <p:cNvSpPr/>
          <p:nvPr/>
        </p:nvSpPr>
        <p:spPr>
          <a:xfrm>
            <a:off x="9985320" y="5742360"/>
            <a:ext cx="146268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1a202c"/>
                </a:solidFill>
                <a:latin typeface="Segoe UI"/>
              </a:rPr>
              <a:t>company-wide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TextBox 81"/>
          <p:cNvSpPr/>
          <p:nvPr/>
        </p:nvSpPr>
        <p:spPr>
          <a:xfrm>
            <a:off x="9985320" y="5934600"/>
            <a:ext cx="1462680" cy="12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64748b"/>
                </a:solidFill>
                <a:latin typeface="Segoe UI"/>
              </a:rPr>
              <a:t>after a month of two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>Steve Canny</cp:lastModifiedBy>
  <dcterms:modified xsi:type="dcterms:W3CDTF">2013-01-27T09:15:58Z</dcterms:modified>
  <cp:revision>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