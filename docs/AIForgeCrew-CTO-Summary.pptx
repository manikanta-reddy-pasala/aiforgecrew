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1E05850-BCB0-4A1C-BA13-43715D1666B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One FastAPI process, one port, one folder of state (measured on main @ 7d9e60ae, 2026-09-06). Chat engine,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agent pipeline, memory, integrations and job scheduler are libraries inside it.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Python 3.12 and one model endpoint; no GPU, torch, Postgres, Neo4j, vector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store or message broker. Runs on a desktop, a NUC, a server under systemd or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container — the same single command. Upgrades pull and restart; the data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migrates in place. Backup is copying one folder.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pipeline in full: Triage, Enhancer, Architect, Planner, Verifier, then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build loop of up to four parallel subtasks each in its own git worktree (Doer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edits, tests run, Feedback reads failures, Refiner fixes), then Validator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gates, Live-verifier runs the real recipe, Learner writes memory back, and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result is a merge request a human reviews. Reasoning is plain text, so any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model drives it — no vendor function-calling. Simple mode writes, Plan mode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read-only, Team mode runs the whole pipeline.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108 tools in the chat catalogue, 19 agent roles, 71,204 lines of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production code, 8,606 tests, zero findings of any kind from the scanner.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Integrations: Jira 21 tools, Confluence 14, GitLab 10, plus GitHub, e-mail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 MCP server; a tool with no credentials hides itself. A tree-sitter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PageRank repo map plus 5 knowledge-graph tools choose context instead of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pasting it. Persistent shell, language server, type-checker, test runner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 IPython kernel are all real, not simulated. A local vision model can look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at the running app.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Where we go beyond the open-source terminal agents (OpenCode, Aider, Cline):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they stop at one developer's machine and one chat loop, and leave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enterprise plumbing to you — shared team memory, one egress gate across tool,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shell and notebook, our own certificate authority, and approvals before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anything reaches outside.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79AE7DA-6D25-4A5E-9A8A-F982B05F06E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incident that set the bar: a fetch the tool refused was rerouted through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shell curl, then through a notebook cell, and it worked. A boundary you can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walk around by changing transport is a suggestion, so one module —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net/egress.py — answers on all three paths and after every redirect, and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missing allow-list entry is DENIED rather than escalated to a human. Every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control here began as a bypass that WORKED in testing, and each is pinned by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test verified to fail on the tree before the fix (measured on main @ 7d9e60ae, 2026-09-06).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Refused outbound: scp, rsync, sftp, ssh host 'cmd', curl -d/-F/-T, aws s3 cp,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docker push, npm publish, git push to a URL, and bash's own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&gt; /dev/tcp/host/port. Inbound: web fetch, crawl, headless browser, @mention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expansion. Web SEARCH was deleted outright because the query string is our own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 leaving the box. AIFORGE_EGRESS_OFF closes everything in one switch;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per-class switches cover integrations, e-mail, telemetry, MCP and fleet sync.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Loopback, LAN, a local registry and a push to a named remote stay allowed 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purpose — a control that blocks ordinary work gets switched off.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Access: a token is required on every API route but health; a non-loopback bind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with NO token refuses to boot. Loopback trust must be declared, because behind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 same-host reverse proxy every request looks like 127.0.0.1 — which was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full auth bypass. CORS is an allow-list, never a wildcard. Limits: one shared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token, so no per-user identity or SSO yet.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Untrusted input: a ticket description or a fetched page reaches the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beside our own instruction and we do not classify it. So the answer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containment: 20 external-write tools ask a human, file tools are clamped 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workspace, Plan mode cannot write, and unattended runs refuse writes.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Certificates: one bundle covers the model endpoint, Jira, Confluence, GitLab,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our own HTTP and every subprocess (git, curl, npm). Roots and intermediates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are added in Settings, listed with what each one is, and take hold with no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restart. No CERT_NONE anywhere in the tree.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Stated limits, printed in the product's own docs: the notebook guard is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guard and not a sandbox; a shell can open a socket the policy never sees;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fleet sync is unauthenticated by default; role tool filters fail OPEN so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typo cannot brick an agent.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97EFDD9-CDC4-4E45-9714-59EFAFF35AD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Memory in detail (measured on main @ 7d9e60ae, 2026-09-06). Each machine compacts what it learned locally.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redaction filter runs on the CLIENT before anything is advertised: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credential-shaped and private notes are BLOCKED, never quietly edited. One team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admin is the only merger, folding into per-group trees so two teams cannot mix,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and one admin can serve many independent fleets — groups are discovered from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admin rather than hardcoded. Only distilled knowledge nodes travel;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transcripts, captures and working notes never leave the machine that made them.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Every merge is snapshotted and a revert endpoint restores it. Sync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spoke-initiated, so laptops behind NAT just work, and moving a machine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copying a directory. Deploy note: the admin holds the merged fold — bind it 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LAN or a WireGuard network, because the sync surface is open by default.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quality numbers are the PLATFORM's, read off the scanner API rather than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inferred from a green pipeline: 0 bugs, 0 vulnerabilities, 0 code smells,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A/A/A ratings, 8,606 tests, 82.8% coverage as Sonar scopes it (86.7% by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pytest-cov on the same run), 71,204 lines, 542 files, 0.1% duplication. Three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test failures are named rather than rounded away: all three need a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actually served on the shared endpoint, which was empty. Nine standing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vulnerabilities were closed by changing code — TLS pinning, scheme validation,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digest usage — after two earlier passes had triaged them as accepted decisions.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that number does NOT say: it is the platform's quality, not the agent's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output. There is no evaluation harness — no frozen set of closed tickets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replayed each release, no acceptance rate, no edit distance between what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agent wrote and what shipped, and nothing re-run when the model is swapped.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There is no load test, so no honest number for users per box. Backup is copying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one folder, but there is no documented restore drill, and the traces name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BOX rather than a person.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it asks of us: one machine with a model on it, one folder to back up,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upgrades that pull, restart and migrate themselves. Decisions we still need: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fund the scoring harness; name an owner and a stand-in; and pick the network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that holds the company memory.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DF32994-6804-4E20-A4FE-673D55C67FF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2FC66E7-A28F-4458-A3A7-A11571EAA2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A1F5C51-DDCC-4F03-AE73-FE17A25478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EF2B63D-59CD-49E7-B2AF-9756371377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25321EC-A63D-4C98-A8A3-7266CABCF6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2B291B5-8F33-4420-9377-879332D678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22EE8E8F-F93B-4B25-AF39-11488358B9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E35BAEDE-EBB0-481E-8181-01D29B85BF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E00725D-78DE-49BC-B4FC-DE318816E5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B819C55-2585-4CCB-9255-608ADDF46D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C69973C-C7F2-483B-AA20-A4C22EBF47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D85EA77-95FE-4A5A-B48D-52203599E0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2BF30F9-A756-48FA-B26A-D858E829EFB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CAAC46-E21D-48C6-8DDE-282F7FBC7B8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2E8CF90-CE24-4A75-85D8-8EC56EBEFC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0226AA-BDB4-42D9-8A83-89149FACEAD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EE4EC8-ECC4-4F9A-B3BC-1539C1A7E73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0EDC86-DD7E-4ADA-B7AB-A535A7942C4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51FB2A-868B-4EE5-ABE6-2D6DCC23606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48EE79-1988-411D-B97D-EBBFFA363A3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3B48DB-266A-482B-B014-495EB27EFB3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CADD46-17A8-43A5-9ECC-44DBFC28C28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7D07CD-3616-45CE-9E25-A8F9BD47B1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567000" y="311040"/>
            <a:ext cx="70340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Segoe UI"/>
              </a:rPr>
              <a:t>AIForgeCrew — a coding agent we run ourselves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567000" y="896040"/>
            <a:ext cx="70340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Give it a ticket, get a merge request. Our code stays on our machines and talks to our own model.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Oval 7"/>
          <p:cNvSpPr/>
          <p:nvPr/>
        </p:nvSpPr>
        <p:spPr>
          <a:xfrm>
            <a:off x="78757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78757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108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772956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things it can do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Oval 10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11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19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12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agents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Oval 13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4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8,606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5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tests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Oval 16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17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18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scan findings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9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Oval 20"/>
          <p:cNvSpPr/>
          <p:nvPr/>
        </p:nvSpPr>
        <p:spPr>
          <a:xfrm>
            <a:off x="4517280" y="1609200"/>
            <a:ext cx="2377080" cy="2377080"/>
          </a:xfrm>
          <a:prstGeom prst="ellipse">
            <a:avLst/>
          </a:prstGeom>
          <a:solidFill>
            <a:srgbClr val="eaf2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Oval 21"/>
          <p:cNvSpPr/>
          <p:nvPr/>
        </p:nvSpPr>
        <p:spPr>
          <a:xfrm>
            <a:off x="4773240" y="1865520"/>
            <a:ext cx="1865160" cy="1865160"/>
          </a:xfrm>
          <a:prstGeom prst="ellipse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Segoe UI"/>
              </a:rPr>
              <a:t>One program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939" spc="-1" strike="noStrike">
                <a:solidFill>
                  <a:srgbClr val="ffffff"/>
                </a:solidFill>
                <a:latin typeface="Segoe UI"/>
              </a:rPr>
              <a:t>one port · one folder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939" spc="-1" strike="noStrike">
                <a:solidFill>
                  <a:srgbClr val="ffffff"/>
                </a:solidFill>
                <a:latin typeface="Segoe UI"/>
              </a:rPr>
              <a:t>no database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Rounded Rectangle 22"/>
          <p:cNvSpPr/>
          <p:nvPr/>
        </p:nvSpPr>
        <p:spPr>
          <a:xfrm>
            <a:off x="567000" y="170064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ticket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Jira · GitLab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5" name="Connector 23"/>
          <p:cNvCxnSpPr/>
          <p:nvPr/>
        </p:nvCxnSpPr>
        <p:spPr>
          <a:xfrm>
            <a:off x="2669760" y="1956600"/>
            <a:ext cx="1792800" cy="84168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96" name="Rounded Rectangle 24"/>
          <p:cNvSpPr/>
          <p:nvPr/>
        </p:nvSpPr>
        <p:spPr>
          <a:xfrm>
            <a:off x="567000" y="239580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chat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ask · plan · delegate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7" name="Connector 25"/>
          <p:cNvCxnSpPr/>
          <p:nvPr/>
        </p:nvCxnSpPr>
        <p:spPr>
          <a:xfrm>
            <a:off x="2669760" y="2651760"/>
            <a:ext cx="1792800" cy="1465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98" name="Rounded Rectangle 26"/>
          <p:cNvSpPr/>
          <p:nvPr/>
        </p:nvSpPr>
        <p:spPr>
          <a:xfrm>
            <a:off x="567000" y="309060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schedule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runs unattended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9" name="Connector 27"/>
          <p:cNvCxnSpPr/>
          <p:nvPr/>
        </p:nvCxnSpPr>
        <p:spPr>
          <a:xfrm flipV="1">
            <a:off x="2669760" y="2797920"/>
            <a:ext cx="1792800" cy="54900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00" name="Rounded Rectangle 28"/>
          <p:cNvSpPr/>
          <p:nvPr/>
        </p:nvSpPr>
        <p:spPr>
          <a:xfrm>
            <a:off x="8503920" y="170064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Our own model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2f7a57"/>
                </a:solidFill>
                <a:latin typeface="Segoe UI"/>
              </a:rPr>
              <a:t>on our hardware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1" name="Connector 29"/>
          <p:cNvCxnSpPr/>
          <p:nvPr/>
        </p:nvCxnSpPr>
        <p:spPr>
          <a:xfrm flipV="1">
            <a:off x="6949440" y="1956600"/>
            <a:ext cx="1554840" cy="84168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02" name="Rounded Rectangle 30"/>
          <p:cNvSpPr/>
          <p:nvPr/>
        </p:nvSpPr>
        <p:spPr>
          <a:xfrm>
            <a:off x="8503920" y="239580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6b4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b46c1"/>
                </a:solidFill>
                <a:latin typeface="Segoe UI"/>
              </a:rPr>
              <a:t>Our tools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6b46c1"/>
                </a:solidFill>
                <a:latin typeface="Segoe UI"/>
              </a:rPr>
              <a:t>Jira 21 · Confluence 14 · GitLab 10 · MCP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3" name="Connector 31"/>
          <p:cNvCxnSpPr/>
          <p:nvPr/>
        </p:nvCxnSpPr>
        <p:spPr>
          <a:xfrm flipV="1">
            <a:off x="6949440" y="2651760"/>
            <a:ext cx="1554840" cy="1465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04" name="Rounded Rectangle 32"/>
          <p:cNvSpPr/>
          <p:nvPr/>
        </p:nvSpPr>
        <p:spPr>
          <a:xfrm>
            <a:off x="8503920" y="309060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c7a7b"/>
                </a:solidFill>
                <a:latin typeface="Segoe UI"/>
              </a:rPr>
              <a:t>Our memory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2c7a7b"/>
                </a:solidFill>
                <a:latin typeface="Segoe UI"/>
              </a:rPr>
              <a:t>markdown + one SQLite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5" name="Connector 33"/>
          <p:cNvCxnSpPr/>
          <p:nvPr/>
        </p:nvCxnSpPr>
        <p:spPr>
          <a:xfrm>
            <a:off x="6949440" y="2797920"/>
            <a:ext cx="1554840" cy="54900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06" name="TextBox 34"/>
          <p:cNvSpPr/>
          <p:nvPr/>
        </p:nvSpPr>
        <p:spPr>
          <a:xfrm>
            <a:off x="567000" y="3803760"/>
            <a:ext cx="3108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WHAT GOES IN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35"/>
          <p:cNvSpPr/>
          <p:nvPr/>
        </p:nvSpPr>
        <p:spPr>
          <a:xfrm>
            <a:off x="8503920" y="3803760"/>
            <a:ext cx="3117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WHAT IT USES — ALL OURS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36"/>
          <p:cNvSpPr/>
          <p:nvPr/>
        </p:nvSpPr>
        <p:spPr>
          <a:xfrm>
            <a:off x="567000" y="4224600"/>
            <a:ext cx="54860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ONE TICKET, END TO END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Chevron 37"/>
          <p:cNvSpPr/>
          <p:nvPr/>
        </p:nvSpPr>
        <p:spPr>
          <a:xfrm>
            <a:off x="56700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b6cb0"/>
                </a:solidFill>
                <a:latin typeface="Segoe UI"/>
              </a:rPr>
              <a:t>Understand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Chevron 38"/>
          <p:cNvSpPr/>
          <p:nvPr/>
        </p:nvSpPr>
        <p:spPr>
          <a:xfrm>
            <a:off x="237744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b6cb0"/>
                </a:solidFill>
                <a:latin typeface="Segoe UI"/>
              </a:rPr>
              <a:t>Plan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Chevron 39"/>
          <p:cNvSpPr/>
          <p:nvPr/>
        </p:nvSpPr>
        <p:spPr>
          <a:xfrm>
            <a:off x="418788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c7a7b"/>
                </a:solidFill>
                <a:latin typeface="Segoe UI"/>
              </a:rPr>
              <a:t>Write code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Chevron 40"/>
          <p:cNvSpPr/>
          <p:nvPr/>
        </p:nvSpPr>
        <p:spPr>
          <a:xfrm>
            <a:off x="599832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c7a7b"/>
                </a:solidFill>
                <a:latin typeface="Segoe UI"/>
              </a:rPr>
              <a:t>Test and fix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Chevron 41"/>
          <p:cNvSpPr/>
          <p:nvPr/>
        </p:nvSpPr>
        <p:spPr>
          <a:xfrm>
            <a:off x="780912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6b4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6b46c1"/>
                </a:solidFill>
                <a:latin typeface="Segoe UI"/>
              </a:rPr>
              <a:t>Check it works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Chevron 42"/>
          <p:cNvSpPr/>
          <p:nvPr/>
        </p:nvSpPr>
        <p:spPr>
          <a:xfrm>
            <a:off x="961956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2f7a57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Segoe UI"/>
              </a:rPr>
              <a:t>Merge request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Box 43"/>
          <p:cNvSpPr/>
          <p:nvPr/>
        </p:nvSpPr>
        <p:spPr>
          <a:xfrm>
            <a:off x="567000" y="5193720"/>
            <a:ext cx="110548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64748b"/>
                </a:solidFill>
                <a:latin typeface="Segoe UI"/>
              </a:rPr>
              <a:t>up to four parts of the job run side by side, each in its own copy of the repo  ·  a person reviews the merge request — nothing merges itself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ounded Rectangle 44"/>
          <p:cNvSpPr/>
          <p:nvPr/>
        </p:nvSpPr>
        <p:spPr>
          <a:xfrm>
            <a:off x="567000" y="5577840"/>
            <a:ext cx="11054880" cy="785880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Oval 45"/>
          <p:cNvSpPr/>
          <p:nvPr/>
        </p:nvSpPr>
        <p:spPr>
          <a:xfrm>
            <a:off x="768240" y="570600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46"/>
          <p:cNvSpPr/>
          <p:nvPr/>
        </p:nvSpPr>
        <p:spPr>
          <a:xfrm>
            <a:off x="76824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47"/>
          <p:cNvSpPr/>
          <p:nvPr/>
        </p:nvSpPr>
        <p:spPr>
          <a:xfrm>
            <a:off x="1152000" y="5687640"/>
            <a:ext cx="49190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b7791f"/>
                </a:solidFill>
                <a:latin typeface="Segoe UI"/>
              </a:rPr>
              <a:t>Writes its own playbook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plain-text rules, skills and workflows, tidied nightly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Oval 48"/>
          <p:cNvSpPr/>
          <p:nvPr/>
        </p:nvSpPr>
        <p:spPr>
          <a:xfrm>
            <a:off x="6053400" y="5706000"/>
            <a:ext cx="273960" cy="27396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49"/>
          <p:cNvSpPr/>
          <p:nvPr/>
        </p:nvSpPr>
        <p:spPr>
          <a:xfrm>
            <a:off x="605340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◎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50"/>
          <p:cNvSpPr/>
          <p:nvPr/>
        </p:nvSpPr>
        <p:spPr>
          <a:xfrm>
            <a:off x="6437520" y="5687640"/>
            <a:ext cx="50104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Remembers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what one machine learns, the team has tomorrow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1"/>
          <p:cNvSpPr/>
          <p:nvPr/>
        </p:nvSpPr>
        <p:spPr>
          <a:xfrm>
            <a:off x="1152000" y="6016680"/>
            <a:ext cx="475452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a fix found once becomes a step it repeats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52"/>
          <p:cNvSpPr/>
          <p:nvPr/>
        </p:nvSpPr>
        <p:spPr>
          <a:xfrm>
            <a:off x="6437520" y="6016680"/>
            <a:ext cx="493740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secrets are stripped before anything is shared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c530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5"/>
          <p:cNvSpPr/>
          <p:nvPr/>
        </p:nvSpPr>
        <p:spPr>
          <a:xfrm>
            <a:off x="567000" y="311040"/>
            <a:ext cx="80215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Segoe UI"/>
              </a:rPr>
              <a:t>Nothing gets out unless we allow it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567000" y="896040"/>
            <a:ext cx="8021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A tool call, a shell command and a notebook cell all reach the same gate and get the same answer.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Oval 7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8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9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known weaknesses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Oval 10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11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12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usage data sent out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Oval 13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4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20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5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actions that ask first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6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Oval 17"/>
          <p:cNvSpPr/>
          <p:nvPr/>
        </p:nvSpPr>
        <p:spPr>
          <a:xfrm>
            <a:off x="2670120" y="1792080"/>
            <a:ext cx="3840120" cy="3840120"/>
          </a:xfrm>
          <a:prstGeom prst="ellipse">
            <a:avLst/>
          </a:prstGeom>
          <a:solidFill>
            <a:srgbClr val="eff2f6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Oval 18"/>
          <p:cNvSpPr/>
          <p:nvPr/>
        </p:nvSpPr>
        <p:spPr>
          <a:xfrm>
            <a:off x="3108960" y="2231280"/>
            <a:ext cx="2962440" cy="2962440"/>
          </a:xfrm>
          <a:prstGeom prst="ellipse">
            <a:avLst/>
          </a:prstGeom>
          <a:solidFill>
            <a:srgbClr val="fbecec"/>
          </a:solidFill>
          <a:ln w="15875">
            <a:solidFill>
              <a:srgbClr val="c5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Oval 19"/>
          <p:cNvSpPr/>
          <p:nvPr/>
        </p:nvSpPr>
        <p:spPr>
          <a:xfrm>
            <a:off x="3547800" y="2670120"/>
            <a:ext cx="2084400" cy="2084400"/>
          </a:xfrm>
          <a:prstGeom prst="ellipse">
            <a:avLst/>
          </a:prstGeom>
          <a:solidFill>
            <a:srgbClr val="fdf3e2"/>
          </a:solidFill>
          <a:ln w="15875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Oval 20"/>
          <p:cNvSpPr/>
          <p:nvPr/>
        </p:nvSpPr>
        <p:spPr>
          <a:xfrm>
            <a:off x="3968640" y="3090600"/>
            <a:ext cx="1243080" cy="1243080"/>
          </a:xfrm>
          <a:prstGeom prst="ellipse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Segoe UI"/>
              </a:rPr>
              <a:t>Our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Segoe UI"/>
              </a:rPr>
              <a:t>and our keys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Rounded Rectangle 21"/>
          <p:cNvSpPr/>
          <p:nvPr/>
        </p:nvSpPr>
        <p:spPr>
          <a:xfrm>
            <a:off x="3218760" y="172296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22"/>
          <p:cNvSpPr/>
          <p:nvPr/>
        </p:nvSpPr>
        <p:spPr>
          <a:xfrm>
            <a:off x="3218760" y="174132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94a3b8"/>
                </a:solidFill>
                <a:latin typeface="Segoe UI"/>
              </a:rPr>
              <a:t>the firewall on the machine — yours, not ours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ounded Rectangle 23"/>
          <p:cNvSpPr/>
          <p:nvPr/>
        </p:nvSpPr>
        <p:spPr>
          <a:xfrm>
            <a:off x="3218760" y="216216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c5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24"/>
          <p:cNvSpPr/>
          <p:nvPr/>
        </p:nvSpPr>
        <p:spPr>
          <a:xfrm>
            <a:off x="3218760" y="218016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c53030"/>
                </a:solidFill>
                <a:latin typeface="Segoe UI"/>
              </a:rPr>
              <a:t>ONE GATE  ·  tool · shell · notebook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Rounded Rectangle 25"/>
          <p:cNvSpPr/>
          <p:nvPr/>
        </p:nvSpPr>
        <p:spPr>
          <a:xfrm>
            <a:off x="3218760" y="260100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26"/>
          <p:cNvSpPr/>
          <p:nvPr/>
        </p:nvSpPr>
        <p:spPr>
          <a:xfrm>
            <a:off x="3218760" y="261936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b7791f"/>
                </a:solidFill>
                <a:latin typeface="Segoe UI"/>
              </a:rPr>
              <a:t>workspace + approvals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7"/>
          <p:cNvSpPr/>
          <p:nvPr/>
        </p:nvSpPr>
        <p:spPr>
          <a:xfrm>
            <a:off x="567000" y="279792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tool call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28"/>
          <p:cNvSpPr/>
          <p:nvPr/>
        </p:nvSpPr>
        <p:spPr>
          <a:xfrm>
            <a:off x="567000" y="299016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web · Jira · MCP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3" name="Connector 29"/>
          <p:cNvCxnSpPr/>
          <p:nvPr/>
        </p:nvCxnSpPr>
        <p:spPr>
          <a:xfrm>
            <a:off x="2377440" y="2944080"/>
            <a:ext cx="274680" cy="53064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154" name="TextBox 30"/>
          <p:cNvSpPr/>
          <p:nvPr/>
        </p:nvSpPr>
        <p:spPr>
          <a:xfrm>
            <a:off x="567000" y="332856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shell command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31"/>
          <p:cNvSpPr/>
          <p:nvPr/>
        </p:nvSpPr>
        <p:spPr>
          <a:xfrm>
            <a:off x="567000" y="352044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curl · scp · ssh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6" name="Connector 32"/>
          <p:cNvCxnSpPr/>
          <p:nvPr/>
        </p:nvCxnSpPr>
        <p:spPr>
          <a:xfrm>
            <a:off x="2377440" y="3474720"/>
            <a:ext cx="274680" cy="23796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157" name="TextBox 33"/>
          <p:cNvSpPr/>
          <p:nvPr/>
        </p:nvSpPr>
        <p:spPr>
          <a:xfrm>
            <a:off x="567000" y="385884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notebook cell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4"/>
          <p:cNvSpPr/>
          <p:nvPr/>
        </p:nvSpPr>
        <p:spPr>
          <a:xfrm>
            <a:off x="567000" y="405072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its own code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9" name="Connector 35"/>
          <p:cNvCxnSpPr/>
          <p:nvPr/>
        </p:nvCxnSpPr>
        <p:spPr>
          <a:xfrm flipV="1">
            <a:off x="2377440" y="3949920"/>
            <a:ext cx="274680" cy="5544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160" name="TextBox 36"/>
          <p:cNvSpPr/>
          <p:nvPr/>
        </p:nvSpPr>
        <p:spPr>
          <a:xfrm>
            <a:off x="567000" y="4517280"/>
            <a:ext cx="188316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850" spc="-1" strike="noStrike">
                <a:solidFill>
                  <a:srgbClr val="64748b"/>
                </a:solidFill>
                <a:latin typeface="Segoe UI"/>
              </a:rPr>
              <a:t>the gate is code, not the model's judgement — a prompt cannot argue its way past it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ounded Rectangle 37"/>
          <p:cNvSpPr/>
          <p:nvPr/>
        </p:nvSpPr>
        <p:spPr>
          <a:xfrm>
            <a:off x="6675120" y="1883520"/>
            <a:ext cx="4937400" cy="1334520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38"/>
          <p:cNvSpPr/>
          <p:nvPr/>
        </p:nvSpPr>
        <p:spPr>
          <a:xfrm>
            <a:off x="6858000" y="1993320"/>
            <a:ext cx="18284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✓  </a:t>
            </a: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ALLOWED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39"/>
          <p:cNvSpPr/>
          <p:nvPr/>
        </p:nvSpPr>
        <p:spPr>
          <a:xfrm>
            <a:off x="6858000" y="228600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our own network and machines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40"/>
          <p:cNvSpPr/>
          <p:nvPr/>
        </p:nvSpPr>
        <p:spPr>
          <a:xfrm>
            <a:off x="6858000" y="256032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pushing to our own git remote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41"/>
          <p:cNvSpPr/>
          <p:nvPr/>
        </p:nvSpPr>
        <p:spPr>
          <a:xfrm>
            <a:off x="6858000" y="283464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deploying to a server we named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ounded Rectangle 42"/>
          <p:cNvSpPr/>
          <p:nvPr/>
        </p:nvSpPr>
        <p:spPr>
          <a:xfrm>
            <a:off x="6675120" y="3346560"/>
            <a:ext cx="4937400" cy="160884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43"/>
          <p:cNvSpPr/>
          <p:nvPr/>
        </p:nvSpPr>
        <p:spPr>
          <a:xfrm>
            <a:off x="6858000" y="3456360"/>
            <a:ext cx="18284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c53030"/>
                </a:solidFill>
                <a:latin typeface="Segoe UI"/>
              </a:rPr>
              <a:t>✕  </a:t>
            </a:r>
            <a:r>
              <a:rPr b="1" lang="en-US" sz="1100" spc="-1" strike="noStrike">
                <a:solidFill>
                  <a:srgbClr val="c53030"/>
                </a:solidFill>
                <a:latin typeface="Segoe UI"/>
              </a:rPr>
              <a:t>REFUSED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44"/>
          <p:cNvSpPr/>
          <p:nvPr/>
        </p:nvSpPr>
        <p:spPr>
          <a:xfrm>
            <a:off x="6858000" y="374904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copying files to an outside host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5"/>
          <p:cNvSpPr/>
          <p:nvPr/>
        </p:nvSpPr>
        <p:spPr>
          <a:xfrm>
            <a:off x="6858000" y="402336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uploading to cloud storage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46"/>
          <p:cNvSpPr/>
          <p:nvPr/>
        </p:nvSpPr>
        <p:spPr>
          <a:xfrm>
            <a:off x="6858000" y="429768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web search — removed completely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47"/>
          <p:cNvSpPr/>
          <p:nvPr/>
        </p:nvSpPr>
        <p:spPr>
          <a:xfrm>
            <a:off x="6858000" y="457200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anything not on the list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ectangle 48"/>
          <p:cNvSpPr/>
          <p:nvPr/>
        </p:nvSpPr>
        <p:spPr>
          <a:xfrm>
            <a:off x="6675120" y="5139000"/>
            <a:ext cx="4937400" cy="122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2400" bIns="-324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Oval 49"/>
          <p:cNvSpPr/>
          <p:nvPr/>
        </p:nvSpPr>
        <p:spPr>
          <a:xfrm>
            <a:off x="6693480" y="534024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50"/>
          <p:cNvSpPr/>
          <p:nvPr/>
        </p:nvSpPr>
        <p:spPr>
          <a:xfrm>
            <a:off x="6693480" y="53722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⚿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51"/>
          <p:cNvSpPr/>
          <p:nvPr/>
        </p:nvSpPr>
        <p:spPr>
          <a:xfrm>
            <a:off x="7077600" y="532188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b7791f"/>
                </a:solidFill>
                <a:latin typeface="Segoe UI"/>
              </a:rPr>
              <a:t>Keys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one locked folder, never shown back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Oval 52"/>
          <p:cNvSpPr/>
          <p:nvPr/>
        </p:nvSpPr>
        <p:spPr>
          <a:xfrm>
            <a:off x="6693480" y="570600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53"/>
          <p:cNvSpPr/>
          <p:nvPr/>
        </p:nvSpPr>
        <p:spPr>
          <a:xfrm>
            <a:off x="669348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✔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54"/>
          <p:cNvSpPr/>
          <p:nvPr/>
        </p:nvSpPr>
        <p:spPr>
          <a:xfrm>
            <a:off x="7077600" y="568764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Certificates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our own CA, added in Settings, no restart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Oval 55"/>
          <p:cNvSpPr/>
          <p:nvPr/>
        </p:nvSpPr>
        <p:spPr>
          <a:xfrm>
            <a:off x="6693480" y="6071760"/>
            <a:ext cx="273960" cy="27396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56"/>
          <p:cNvSpPr/>
          <p:nvPr/>
        </p:nvSpPr>
        <p:spPr>
          <a:xfrm>
            <a:off x="6693480" y="6103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≡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57"/>
          <p:cNvSpPr/>
          <p:nvPr/>
        </p:nvSpPr>
        <p:spPr>
          <a:xfrm>
            <a:off x="7077600" y="605340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Record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every step of every run is written down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ounded Rectangle 58"/>
          <p:cNvSpPr/>
          <p:nvPr/>
        </p:nvSpPr>
        <p:spPr>
          <a:xfrm>
            <a:off x="567000" y="6035040"/>
            <a:ext cx="5851800" cy="475200"/>
          </a:xfrm>
          <a:prstGeom prst="roundRect">
            <a:avLst>
              <a:gd name="adj" fmla="val 30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59"/>
          <p:cNvSpPr/>
          <p:nvPr/>
        </p:nvSpPr>
        <p:spPr>
          <a:xfrm>
            <a:off x="731520" y="6144840"/>
            <a:ext cx="55227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4748b"/>
                </a:solidFill>
                <a:latin typeface="Segoe UI"/>
              </a:rPr>
              <a:t>We do not claim a sealed box: a shell can still open a socket the gate never sees.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5"/>
          <p:cNvSpPr/>
          <p:nvPr/>
        </p:nvSpPr>
        <p:spPr>
          <a:xfrm>
            <a:off x="567000" y="311040"/>
            <a:ext cx="8021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Segoe UI"/>
              </a:rPr>
              <a:t>What one person learns, the whole company keeps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567000" y="896040"/>
            <a:ext cx="8021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Each machine learns on its own. Secrets are stripped, a team lead merges the rest, and other teams read it.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Oval 7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8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8,606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9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tests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Oval 10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11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82.8%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12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covered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Oval 13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14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A·A·A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15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ratings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Oval 17"/>
          <p:cNvSpPr/>
          <p:nvPr/>
        </p:nvSpPr>
        <p:spPr>
          <a:xfrm>
            <a:off x="1207080" y="1627560"/>
            <a:ext cx="4169160" cy="4169160"/>
          </a:xfrm>
          <a:prstGeom prst="ellipse">
            <a:avLst/>
          </a:prstGeom>
          <a:solidFill>
            <a:srgbClr val="eef6f6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Oval 18"/>
          <p:cNvSpPr/>
          <p:nvPr/>
        </p:nvSpPr>
        <p:spPr>
          <a:xfrm>
            <a:off x="1810440" y="2231280"/>
            <a:ext cx="2962440" cy="2962440"/>
          </a:xfrm>
          <a:prstGeom prst="ellipse">
            <a:avLst/>
          </a:prstGeom>
          <a:solidFill>
            <a:srgbClr val="e2f0f0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Oval 19"/>
          <p:cNvSpPr/>
          <p:nvPr/>
        </p:nvSpPr>
        <p:spPr>
          <a:xfrm>
            <a:off x="2432160" y="2853000"/>
            <a:ext cx="1718640" cy="171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0"/>
          <p:cNvSpPr/>
          <p:nvPr/>
        </p:nvSpPr>
        <p:spPr>
          <a:xfrm>
            <a:off x="2505600" y="3438000"/>
            <a:ext cx="1572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1a202c"/>
                </a:solidFill>
                <a:latin typeface="Segoe UI"/>
              </a:rPr>
              <a:t>One machine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1a202c"/>
                </a:solidFill>
                <a:latin typeface="Segoe UI"/>
              </a:rPr>
              <a:t>learns from every run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21"/>
          <p:cNvSpPr/>
          <p:nvPr/>
        </p:nvSpPr>
        <p:spPr>
          <a:xfrm>
            <a:off x="1920240" y="2359080"/>
            <a:ext cx="2742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OUR TEAM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22"/>
          <p:cNvSpPr/>
          <p:nvPr/>
        </p:nvSpPr>
        <p:spPr>
          <a:xfrm>
            <a:off x="1554480" y="1737360"/>
            <a:ext cx="34743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THE COMPANY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Oval 23"/>
          <p:cNvSpPr/>
          <p:nvPr/>
        </p:nvSpPr>
        <p:spPr>
          <a:xfrm>
            <a:off x="3985560" y="236484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Oval 24"/>
          <p:cNvSpPr/>
          <p:nvPr/>
        </p:nvSpPr>
        <p:spPr>
          <a:xfrm>
            <a:off x="4496040" y="290304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Oval 25"/>
          <p:cNvSpPr/>
          <p:nvPr/>
        </p:nvSpPr>
        <p:spPr>
          <a:xfrm>
            <a:off x="4681800" y="36208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Oval 26"/>
          <p:cNvSpPr/>
          <p:nvPr/>
        </p:nvSpPr>
        <p:spPr>
          <a:xfrm>
            <a:off x="4496040" y="43390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Oval 27"/>
          <p:cNvSpPr/>
          <p:nvPr/>
        </p:nvSpPr>
        <p:spPr>
          <a:xfrm>
            <a:off x="3985560" y="48772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Oval 28"/>
          <p:cNvSpPr/>
          <p:nvPr/>
        </p:nvSpPr>
        <p:spPr>
          <a:xfrm>
            <a:off x="4327920" y="187596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Oval 29"/>
          <p:cNvSpPr/>
          <p:nvPr/>
        </p:nvSpPr>
        <p:spPr>
          <a:xfrm>
            <a:off x="4851000" y="234144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Oval 30"/>
          <p:cNvSpPr/>
          <p:nvPr/>
        </p:nvSpPr>
        <p:spPr>
          <a:xfrm>
            <a:off x="5190480" y="295380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Oval 31"/>
          <p:cNvSpPr/>
          <p:nvPr/>
        </p:nvSpPr>
        <p:spPr>
          <a:xfrm>
            <a:off x="5308200" y="364392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Oval 32"/>
          <p:cNvSpPr/>
          <p:nvPr/>
        </p:nvSpPr>
        <p:spPr>
          <a:xfrm>
            <a:off x="5190480" y="433404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Oval 33"/>
          <p:cNvSpPr/>
          <p:nvPr/>
        </p:nvSpPr>
        <p:spPr>
          <a:xfrm>
            <a:off x="4851000" y="494640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Oval 34"/>
          <p:cNvSpPr/>
          <p:nvPr/>
        </p:nvSpPr>
        <p:spPr>
          <a:xfrm>
            <a:off x="4327920" y="541188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Rounded Rectangle 35"/>
          <p:cNvSpPr/>
          <p:nvPr/>
        </p:nvSpPr>
        <p:spPr>
          <a:xfrm>
            <a:off x="2258640" y="4361760"/>
            <a:ext cx="2066040" cy="420120"/>
          </a:xfrm>
          <a:prstGeom prst="roundRect">
            <a:avLst>
              <a:gd name="adj" fmla="val 35000"/>
            </a:avLst>
          </a:prstGeom>
          <a:solidFill>
            <a:srgbClr val="fdf3e2"/>
          </a:solidFill>
          <a:ln w="1270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36"/>
          <p:cNvSpPr/>
          <p:nvPr/>
        </p:nvSpPr>
        <p:spPr>
          <a:xfrm>
            <a:off x="2258640" y="4416480"/>
            <a:ext cx="20660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b7791f"/>
                </a:solidFill>
                <a:latin typeface="Segoe UI"/>
              </a:rPr>
              <a:t>secrets stripped here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37"/>
          <p:cNvSpPr/>
          <p:nvPr/>
        </p:nvSpPr>
        <p:spPr>
          <a:xfrm>
            <a:off x="567000" y="5888880"/>
            <a:ext cx="51202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900" spc="-1" strike="noStrike">
                <a:solidFill>
                  <a:srgbClr val="64748b"/>
                </a:solidFill>
                <a:latin typeface="Segoe UI"/>
              </a:rPr>
              <a:t>only distilled notes travel — transcripts and raw captures never leave the machine that made them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ectangle 38"/>
          <p:cNvSpPr/>
          <p:nvPr/>
        </p:nvSpPr>
        <p:spPr>
          <a:xfrm>
            <a:off x="6035040" y="1774080"/>
            <a:ext cx="45360" cy="1170000"/>
          </a:xfrm>
          <a:prstGeom prst="rect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TextBox 39"/>
          <p:cNvSpPr/>
          <p:nvPr/>
        </p:nvSpPr>
        <p:spPr>
          <a:xfrm>
            <a:off x="6217920" y="177408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2f7a57"/>
                </a:solidFill>
                <a:latin typeface="Segoe UI"/>
              </a:rPr>
              <a:t>Our team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Oval 40"/>
          <p:cNvSpPr/>
          <p:nvPr/>
        </p:nvSpPr>
        <p:spPr>
          <a:xfrm>
            <a:off x="6217920" y="208476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41"/>
          <p:cNvSpPr/>
          <p:nvPr/>
        </p:nvSpPr>
        <p:spPr>
          <a:xfrm>
            <a:off x="6217920" y="2116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2"/>
          <p:cNvSpPr/>
          <p:nvPr/>
        </p:nvSpPr>
        <p:spPr>
          <a:xfrm>
            <a:off x="6602040" y="20664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a fix found once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is known by everyone tomorrow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Oval 43"/>
          <p:cNvSpPr/>
          <p:nvPr/>
        </p:nvSpPr>
        <p:spPr>
          <a:xfrm>
            <a:off x="6217920" y="236844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44"/>
          <p:cNvSpPr/>
          <p:nvPr/>
        </p:nvSpPr>
        <p:spPr>
          <a:xfrm>
            <a:off x="6217920" y="24004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45"/>
          <p:cNvSpPr/>
          <p:nvPr/>
        </p:nvSpPr>
        <p:spPr>
          <a:xfrm>
            <a:off x="6602040" y="235008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a new joiner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reads the team's real history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Oval 46"/>
          <p:cNvSpPr/>
          <p:nvPr/>
        </p:nvSpPr>
        <p:spPr>
          <a:xfrm>
            <a:off x="6217920" y="265176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47"/>
          <p:cNvSpPr/>
          <p:nvPr/>
        </p:nvSpPr>
        <p:spPr>
          <a:xfrm>
            <a:off x="6217920" y="2683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8"/>
          <p:cNvSpPr/>
          <p:nvPr/>
        </p:nvSpPr>
        <p:spPr>
          <a:xfrm>
            <a:off x="6602040" y="26334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people leave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and their know-how stays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ectangle 49"/>
          <p:cNvSpPr/>
          <p:nvPr/>
        </p:nvSpPr>
        <p:spPr>
          <a:xfrm>
            <a:off x="6035040" y="3017520"/>
            <a:ext cx="45360" cy="11700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50"/>
          <p:cNvSpPr/>
          <p:nvPr/>
        </p:nvSpPr>
        <p:spPr>
          <a:xfrm>
            <a:off x="6217920" y="301752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2b6cb0"/>
                </a:solidFill>
                <a:latin typeface="Segoe UI"/>
              </a:rPr>
              <a:t>The company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Oval 51"/>
          <p:cNvSpPr/>
          <p:nvPr/>
        </p:nvSpPr>
        <p:spPr>
          <a:xfrm>
            <a:off x="6217920" y="332856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TextBox 52"/>
          <p:cNvSpPr/>
          <p:nvPr/>
        </p:nvSpPr>
        <p:spPr>
          <a:xfrm>
            <a:off x="6217920" y="33606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53"/>
          <p:cNvSpPr/>
          <p:nvPr/>
        </p:nvSpPr>
        <p:spPr>
          <a:xfrm>
            <a:off x="6602040" y="33102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one place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serves many teams at once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Oval 54"/>
          <p:cNvSpPr/>
          <p:nvPr/>
        </p:nvSpPr>
        <p:spPr>
          <a:xfrm>
            <a:off x="6217920" y="361188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55"/>
          <p:cNvSpPr/>
          <p:nvPr/>
        </p:nvSpPr>
        <p:spPr>
          <a:xfrm>
            <a:off x="6217920" y="364392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56"/>
          <p:cNvSpPr/>
          <p:nvPr/>
        </p:nvSpPr>
        <p:spPr>
          <a:xfrm>
            <a:off x="6602040" y="359352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each team's memory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stays its own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Oval 57"/>
          <p:cNvSpPr/>
          <p:nvPr/>
        </p:nvSpPr>
        <p:spPr>
          <a:xfrm>
            <a:off x="6217920" y="389520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58"/>
          <p:cNvSpPr/>
          <p:nvPr/>
        </p:nvSpPr>
        <p:spPr>
          <a:xfrm>
            <a:off x="6217920" y="39272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59"/>
          <p:cNvSpPr/>
          <p:nvPr/>
        </p:nvSpPr>
        <p:spPr>
          <a:xfrm>
            <a:off x="6602040" y="38772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nothing to run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— it is files in a folder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60"/>
          <p:cNvSpPr/>
          <p:nvPr/>
        </p:nvSpPr>
        <p:spPr>
          <a:xfrm>
            <a:off x="6035040" y="4260960"/>
            <a:ext cx="45360" cy="1170000"/>
          </a:xfrm>
          <a:prstGeom prst="rect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61"/>
          <p:cNvSpPr/>
          <p:nvPr/>
        </p:nvSpPr>
        <p:spPr>
          <a:xfrm>
            <a:off x="6217920" y="426096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6b46c1"/>
                </a:solidFill>
                <a:latin typeface="Segoe UI"/>
              </a:rPr>
              <a:t>Legal and audit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Oval 62"/>
          <p:cNvSpPr/>
          <p:nvPr/>
        </p:nvSpPr>
        <p:spPr>
          <a:xfrm>
            <a:off x="6217920" y="457200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TextBox 63"/>
          <p:cNvSpPr/>
          <p:nvPr/>
        </p:nvSpPr>
        <p:spPr>
          <a:xfrm>
            <a:off x="6217920" y="4604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64"/>
          <p:cNvSpPr/>
          <p:nvPr/>
        </p:nvSpPr>
        <p:spPr>
          <a:xfrm>
            <a:off x="6602040" y="455364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passwords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are blocked before sharing, not after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Oval 65"/>
          <p:cNvSpPr/>
          <p:nvPr/>
        </p:nvSpPr>
        <p:spPr>
          <a:xfrm>
            <a:off x="6217920" y="485532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66"/>
          <p:cNvSpPr/>
          <p:nvPr/>
        </p:nvSpPr>
        <p:spPr>
          <a:xfrm>
            <a:off x="6217920" y="488736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67"/>
          <p:cNvSpPr/>
          <p:nvPr/>
        </p:nvSpPr>
        <p:spPr>
          <a:xfrm>
            <a:off x="6602040" y="483732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every merge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is saved and can be undone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Oval 68"/>
          <p:cNvSpPr/>
          <p:nvPr/>
        </p:nvSpPr>
        <p:spPr>
          <a:xfrm>
            <a:off x="6217920" y="513900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69"/>
          <p:cNvSpPr/>
          <p:nvPr/>
        </p:nvSpPr>
        <p:spPr>
          <a:xfrm>
            <a:off x="6217920" y="5171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70"/>
          <p:cNvSpPr/>
          <p:nvPr/>
        </p:nvSpPr>
        <p:spPr>
          <a:xfrm>
            <a:off x="6602040" y="512064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delete the folder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and it is gone — no second copy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71"/>
          <p:cNvSpPr/>
          <p:nvPr/>
        </p:nvSpPr>
        <p:spPr>
          <a:xfrm>
            <a:off x="6035040" y="5468040"/>
            <a:ext cx="36572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HOW WE WOULD ROLL IT OUT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55" name="Connector 72"/>
          <p:cNvCxnSpPr/>
          <p:nvPr/>
        </p:nvCxnSpPr>
        <p:spPr>
          <a:xfrm>
            <a:off x="6144480" y="5888520"/>
            <a:ext cx="5212440" cy="360"/>
          </a:xfrm>
          <a:prstGeom prst="straightConnector1">
            <a:avLst/>
          </a:prstGeom>
          <a:ln>
            <a:solidFill>
              <a:srgbClr val="e2e8f0"/>
            </a:solidFill>
            <a:round/>
          </a:ln>
        </p:spPr>
      </p:cxnSp>
      <p:sp>
        <p:nvSpPr>
          <p:cNvPr id="256" name="Oval 73"/>
          <p:cNvSpPr/>
          <p:nvPr/>
        </p:nvSpPr>
        <p:spPr>
          <a:xfrm>
            <a:off x="614484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TextBox 74"/>
          <p:cNvSpPr/>
          <p:nvPr/>
        </p:nvSpPr>
        <p:spPr>
          <a:xfrm>
            <a:off x="643752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one team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75"/>
          <p:cNvSpPr/>
          <p:nvPr/>
        </p:nvSpPr>
        <p:spPr>
          <a:xfrm>
            <a:off x="6437520" y="5934600"/>
            <a:ext cx="14626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on real tickets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Oval 76"/>
          <p:cNvSpPr/>
          <p:nvPr/>
        </p:nvSpPr>
        <p:spPr>
          <a:xfrm>
            <a:off x="791856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77"/>
          <p:cNvSpPr/>
          <p:nvPr/>
        </p:nvSpPr>
        <p:spPr>
          <a:xfrm>
            <a:off x="821124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second team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78"/>
          <p:cNvSpPr/>
          <p:nvPr/>
        </p:nvSpPr>
        <p:spPr>
          <a:xfrm>
            <a:off x="8211240" y="5934600"/>
            <a:ext cx="14626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same admin, memory already there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Oval 79"/>
          <p:cNvSpPr/>
          <p:nvPr/>
        </p:nvSpPr>
        <p:spPr>
          <a:xfrm>
            <a:off x="969264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TextBox 80"/>
          <p:cNvSpPr/>
          <p:nvPr/>
        </p:nvSpPr>
        <p:spPr>
          <a:xfrm>
            <a:off x="998532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company-wide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81"/>
          <p:cNvSpPr/>
          <p:nvPr/>
        </p:nvSpPr>
        <p:spPr>
          <a:xfrm>
            <a:off x="9985320" y="5934600"/>
            <a:ext cx="14626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after a month of two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