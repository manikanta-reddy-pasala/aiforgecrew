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058F88DB-9D90-4E90-9F92-9728E9E3FF72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argument, in the order the page makes it.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1. AI lifts every engineer. Not a miracle and not a headcount argument —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steady boost on the work we already do, which holds day after day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compounds through a codebase. Choosing not to decide is still a decision,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it is the one that leaves that lift on the table.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2. It is already in use, and not through us. The agents are open source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free: OpenCode, Kilo Code, Cline, Aider, and whatever ships next month.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Anyone can install one in a minute, point it at any model endpoint, and work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 our repositories with it. We cannot say which are in use, what left with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them, or what a customer would be told if they asked. There is no approved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list to enforce and no log to produce, and it gets harder to unwind every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month we leave it alone.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3. We want that lift for everyone, on our terms. Today whoever went looking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got faster and nobody else did; none of it is standard, shared or measurable.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One platform gives every engineer the same tooling and gives us numbers we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can show.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So: the same engineers and the same work, inside one boundary. Our own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 our own hardware, so code and customer data never leave. One gate, so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there is a log and an approved list. Tools scoped to the role, with approval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before anything reaches outside.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following pages describe what that platform is, how it is contained,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it measurably does today.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CE5BB68-41E3-4CE9-B462-E20FC3EBA7AB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One FastAPI process, one port, one folder of state (measured on main @ 7d9e60ae, 2026-09-06). Chat engine,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agent pipeline, memory, integrations and job scheduler are libraries inside it.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Python 3.12 and one model endpoint; no GPU, torch, Postgres, Neo4j, vector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store or message broker. Runs on a desktop, a NUC, a server under systemd or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container — the same single command. Upgrades pull and restart; the data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migrates in place. Backup is copying one folder.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pipeline in full: Triage, Enhancer, Architect, Planner, Verifier, then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build loop of up to four parallel subtasks each in its own git worktree (Doer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edits, tests run, Feedback reads failures, Refiner fixes), then Validator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gates, Live-verifier runs the real recipe, Learner writes memory back, and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result is a merge request a human reviews. Reasoning is plain text, so any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model drives it — no vendor function-calling. Simple mode writes, Plan mode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read-only, Team mode runs the whole pipeline.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108 tools in the chat catalogue, 19 agent roles, 71,204 lines of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production code, 8,606 tests, zero findings of any kind from the scanner.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Integrations: Jira 21 tools, Confluence 14, GitLab 10, plus GitHub, e-mail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any MCP server; a tool with no credentials hides itself. A tree-sitter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PageRank repo map plus 5 knowledge-graph tools choose context instead of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pasting it. Persistent shell, language server, type-checker, test runner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 IPython kernel are all real, not simulated. A local vision model can look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at the running app.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Where we go beyond the open-source terminal agents (OpenCode, Aider, Cline):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they stop at one developer's machine and one chat loop, and leave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enterprise plumbing to you — shared team memory, one egress gate across tool,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shell and notebook, our own certificate authority, and approvals before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anything reaches outside.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85300FE-7531-4688-859B-29C9B2DEC4C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incident that set the bar: a fetch the tool refused was rerouted through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shell curl, then through a notebook cell, and it worked. A boundary you can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walk around by changing transport is a suggestion, so one module —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net/egress.py — answers on all three paths and after every redirect, and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missing allow-list entry is DENIED rather than escalated to a human. Every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control here began as a bypass that WORKED in testing, and each is pinned by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test verified to fail on the tree before the fix (measured on main @ 7d9e60ae, 2026-09-06).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Refused outbound: scp, rsync, sftp, ssh host 'cmd', curl -d/-F/-T, aws s3 cp,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docker push, npm publish, git push to a URL, and bash's own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&gt; /dev/tcp/host/port. Inbound: web fetch, crawl, headless browser, @mention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expansion. Web SEARCH was deleted outright because the query string is our own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data leaving the box. AIFORGE_EGRESS_OFF closes everything in one switch;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per-class switches cover integrations, e-mail, telemetry, MCP and fleet sync.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Loopback, LAN, a local registry and a push to a named remote stay allowed on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purpose — a control that blocks ordinary work gets switched off.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Access: a token is required on every API route but health; a non-loopback bind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with NO token refuses to boot. Loopback trust must be declared, because behind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 same-host reverse proxy every request looks like 127.0.0.1 — which was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full auth bypass. CORS is an allow-list, never a wildcard. Limits: one shared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token, so no per-user identity or SSO yet.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Untrusted input: a ticket description or a fetched page reaches the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beside our own instruction and we do not classify it. So the answer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containment: 20 external-write tools ask a human, file tools are clamped to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workspace, Plan mode cannot write, and unattended runs refuse writes.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Certificates: one bundle covers the model endpoint, Jira, Confluence, GitLab,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our own HTTP and every subprocess (git, curl, npm). Roots and intermediates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are added in Settings, listed with what each one is, and take hold with no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restart. No CERT_NONE anywhere in the tree.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Stated limits, printed in the product's own docs: the notebook guard is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guard and not a sandbox; a shell can open a socket the policy never sees;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fleet sync is unauthenticated by default; role tool filters fail OPEN so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typo cannot brick an agent.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FAD6600-754E-4CA1-89B6-545942631033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Memory in detail (measured on main @ 7d9e60ae, 2026-09-06). Each machine compacts what it learned locally. A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redaction filter runs on the CLIENT before anything is advertised: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credential-shaped and private notes are BLOCKED, never quietly edited. One team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admin is the only merger, folding into per-group trees so two teams cannot mix,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and one admin can serve many independent fleets — groups are discovered from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admin rather than hardcoded. Only distilled knowledge nodes travel;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transcripts, captures and working notes never leave the machine that made them.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Every merge is snapshotted and a revert endpoint restores it. Sync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spoke-initiated, so laptops behind NAT just work, and moving a machine is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copying a directory. Deploy note: the admin holds the merged fold — bind it to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LAN or a WireGuard network, because the sync surface is open by default.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quality numbers are the PLATFORM's, read off the scanner API rather than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inferred from a green pipeline: 0 bugs, 0 vulnerabilities, 0 code smells,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A/A/A ratings, 8,606 tests, 82.8% coverage as Sonar scopes it (86.7% by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pytest-cov on the same run), 71,204 lines, 542 files, 0.1% duplication. Three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test failures are named rather than rounded away: all three need a model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actually served on the shared endpoint, which was empty. Nine standing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vulnerabilities were closed by changing code — TLS pinning, scheme validation,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digest usage — after two earlier passes had triaged them as accepted decisions.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that number does NOT say: it is the platform's quality, not the agent's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output. There is no evaluation harness — no frozen set of closed tickets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replayed each release, no acceptance rate, no edit distance between what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agent wrote and what shipped, and nothing re-run when the model is swapped.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There is no load test, so no honest number for users per box. Backup is copying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one folder, but there is no documented restore drill, and the traces name the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BOX rather than a person.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What it asks of us: one machine with a model on it, one folder to back up, and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upgrades that pull, restart and migrate themselves. Decisions we still need: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fund the scoring harness; name an owner and a stand-in; and pick the network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that holds the company memory.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EE90826-51E9-450A-A0C7-F76E25F9B53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17CD575-BF47-4472-97ED-4CAB4F011A7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4127D12-6DC5-4BCF-B7CF-AC19B32BDF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15AF82D-5120-497B-AE9D-E870FDFE119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0BAFD86-897B-4408-966A-E174784841D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AF3EEC93-0D96-466D-B90C-5D40DEC82B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1501C273-72F1-4B88-8AC7-93B6518C7A4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30C8B56E-F05A-48B4-A9E4-780CA1ED03E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6CA20925-F75D-4B5C-8792-402EF884F9D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004B2F05-6ED6-4DB9-92E9-55B33CBFE21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5AD99EAA-EB90-4029-8046-72F1A029CDC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B7344721-3AD5-4419-A0CA-39BDCFD0400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E32FAFE-4FA8-4D6C-BA3F-408A9023F69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4FE37C-5F7D-4849-8CC1-265857FFB7A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7CC232-7A26-4E19-9323-45B2411F604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8E6DB3F-4DE4-4966-9890-8A941C0B84F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A1A6F49-8461-4570-B34E-E7D2078E3F9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041102C-2B7E-414F-B5F1-E5954D61FAB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F4970AB-3FB7-40C0-98B9-BFEA8226532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026328D-957E-45C8-8400-613FFC8D0F5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4384E98-A5DD-4377-839E-228EF81B778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A856E77-B310-495E-8C8A-580704C7102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F607BED-497F-47AB-8F81-56451F6B973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5"/>
          <p:cNvSpPr/>
          <p:nvPr/>
        </p:nvSpPr>
        <p:spPr>
          <a:xfrm>
            <a:off x="567000" y="311040"/>
            <a:ext cx="1105740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Segoe UI"/>
              </a:rPr>
              <a:t>Why we are building this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6"/>
          <p:cNvSpPr/>
          <p:nvPr/>
        </p:nvSpPr>
        <p:spPr>
          <a:xfrm>
            <a:off x="567000" y="896040"/>
            <a:ext cx="1105740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AI is already in the building — installed by whoever wanted it, approved by nobody. We want the lift, on our terms.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7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1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Box 8"/>
          <p:cNvSpPr/>
          <p:nvPr/>
        </p:nvSpPr>
        <p:spPr>
          <a:xfrm>
            <a:off x="567000" y="1774080"/>
            <a:ext cx="50745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c53030"/>
                </a:solidFill>
                <a:latin typeface="Segoe UI"/>
              </a:rPr>
              <a:t>TODAY — HAPPENING ALREADY, JUST NOT THROUGH US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TextBox 9"/>
          <p:cNvSpPr/>
          <p:nvPr/>
        </p:nvSpPr>
        <p:spPr>
          <a:xfrm>
            <a:off x="6546960" y="1774080"/>
            <a:ext cx="50745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2f7a57"/>
                </a:solidFill>
                <a:latin typeface="Segoe UI"/>
              </a:rPr>
              <a:t>WHAT WE ARE BUILDING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Rounded Rectangle 10"/>
          <p:cNvSpPr/>
          <p:nvPr/>
        </p:nvSpPr>
        <p:spPr>
          <a:xfrm>
            <a:off x="567000" y="2048400"/>
            <a:ext cx="5074560" cy="2742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" name="Rectangle 11"/>
          <p:cNvSpPr/>
          <p:nvPr/>
        </p:nvSpPr>
        <p:spPr>
          <a:xfrm>
            <a:off x="804600" y="2468880"/>
            <a:ext cx="2395440" cy="1791720"/>
          </a:xfrm>
          <a:prstGeom prst="rect">
            <a:avLst/>
          </a:prstGeom>
          <a:solidFill>
            <a:srgbClr val="f6f8fb"/>
          </a:solidFill>
          <a:ln w="15875">
            <a:solidFill>
              <a:srgbClr val="c53030"/>
            </a:solidFill>
            <a:prstDash val="sysDash"/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12"/>
          <p:cNvSpPr/>
          <p:nvPr/>
        </p:nvSpPr>
        <p:spPr>
          <a:xfrm>
            <a:off x="896040" y="2541960"/>
            <a:ext cx="18284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4a3b8"/>
                </a:solidFill>
                <a:latin typeface="Segoe UI"/>
              </a:rPr>
              <a:t>OUR NETWORK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Oval 13"/>
          <p:cNvSpPr/>
          <p:nvPr/>
        </p:nvSpPr>
        <p:spPr>
          <a:xfrm>
            <a:off x="1334880" y="2834640"/>
            <a:ext cx="200880" cy="200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Round Same Side Corner Rectangle 14"/>
          <p:cNvSpPr/>
          <p:nvPr/>
        </p:nvSpPr>
        <p:spPr>
          <a:xfrm>
            <a:off x="951120" y="3017520"/>
            <a:ext cx="968760" cy="31068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fffff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64748b"/>
                </a:solidFill>
                <a:latin typeface="Segoe UI"/>
              </a:rPr>
              <a:t>engineer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Oval 15"/>
          <p:cNvSpPr/>
          <p:nvPr/>
        </p:nvSpPr>
        <p:spPr>
          <a:xfrm>
            <a:off x="2468880" y="2834640"/>
            <a:ext cx="200880" cy="200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Round Same Side Corner Rectangle 16"/>
          <p:cNvSpPr/>
          <p:nvPr/>
        </p:nvSpPr>
        <p:spPr>
          <a:xfrm>
            <a:off x="2084760" y="3017520"/>
            <a:ext cx="968760" cy="31068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fffff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64748b"/>
                </a:solidFill>
                <a:latin typeface="Segoe UI"/>
              </a:rPr>
              <a:t>engineer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Oval 17"/>
          <p:cNvSpPr/>
          <p:nvPr/>
        </p:nvSpPr>
        <p:spPr>
          <a:xfrm>
            <a:off x="1334880" y="3438000"/>
            <a:ext cx="200880" cy="200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" name="Round Same Side Corner Rectangle 18"/>
          <p:cNvSpPr/>
          <p:nvPr/>
        </p:nvSpPr>
        <p:spPr>
          <a:xfrm>
            <a:off x="951120" y="3620880"/>
            <a:ext cx="968760" cy="31068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fffff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64748b"/>
                </a:solidFill>
                <a:latin typeface="Segoe UI"/>
              </a:rPr>
              <a:t>engineer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Oval 19"/>
          <p:cNvSpPr/>
          <p:nvPr/>
        </p:nvSpPr>
        <p:spPr>
          <a:xfrm>
            <a:off x="2468880" y="3438000"/>
            <a:ext cx="200880" cy="200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ound Same Side Corner Rectangle 20"/>
          <p:cNvSpPr/>
          <p:nvPr/>
        </p:nvSpPr>
        <p:spPr>
          <a:xfrm>
            <a:off x="2084760" y="3620880"/>
            <a:ext cx="968760" cy="31068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fffff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64748b"/>
                </a:solidFill>
                <a:latin typeface="Segoe UI"/>
              </a:rPr>
              <a:t>engineer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Box 21"/>
          <p:cNvSpPr/>
          <p:nvPr/>
        </p:nvSpPr>
        <p:spPr>
          <a:xfrm>
            <a:off x="3511440" y="2249280"/>
            <a:ext cx="18831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94a3b8"/>
                </a:solidFill>
                <a:latin typeface="Segoe UI"/>
              </a:rPr>
              <a:t>PICKED AND INSTALLED ALONE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Rounded Rectangle 22"/>
          <p:cNvSpPr/>
          <p:nvPr/>
        </p:nvSpPr>
        <p:spPr>
          <a:xfrm>
            <a:off x="3511440" y="2523600"/>
            <a:ext cx="1883160" cy="310680"/>
          </a:xfrm>
          <a:prstGeom prst="roundRect">
            <a:avLst>
              <a:gd name="adj" fmla="val 28000"/>
            </a:avLst>
          </a:prstGeom>
          <a:solidFill>
            <a:srgbClr val="fbecec"/>
          </a:solidFill>
          <a:ln w="12700">
            <a:solidFill>
              <a:srgbClr val="e0a8a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c53030"/>
                </a:solidFill>
                <a:latin typeface="Segoe UI"/>
              </a:rPr>
              <a:t>OpenCode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5" name="Connector 23"/>
          <p:cNvCxnSpPr/>
          <p:nvPr/>
        </p:nvCxnSpPr>
        <p:spPr>
          <a:xfrm flipV="1">
            <a:off x="3200400" y="2679120"/>
            <a:ext cx="265320" cy="64440"/>
          </a:xfrm>
          <a:prstGeom prst="straightConnector1">
            <a:avLst/>
          </a:prstGeom>
          <a:ln w="15875">
            <a:solidFill>
              <a:srgbClr val="c53030"/>
            </a:solidFill>
            <a:prstDash val="sysDash"/>
            <a:round/>
            <a:tailEnd len="med" type="triangle" w="med"/>
          </a:ln>
        </p:spPr>
      </p:cxnSp>
      <p:sp>
        <p:nvSpPr>
          <p:cNvPr id="96" name="Rounded Rectangle 24"/>
          <p:cNvSpPr/>
          <p:nvPr/>
        </p:nvSpPr>
        <p:spPr>
          <a:xfrm>
            <a:off x="3511440" y="2944440"/>
            <a:ext cx="1883160" cy="310680"/>
          </a:xfrm>
          <a:prstGeom prst="roundRect">
            <a:avLst>
              <a:gd name="adj" fmla="val 28000"/>
            </a:avLst>
          </a:prstGeom>
          <a:solidFill>
            <a:srgbClr val="fbecec"/>
          </a:solidFill>
          <a:ln w="12700">
            <a:solidFill>
              <a:srgbClr val="e0a8a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c53030"/>
                </a:solidFill>
                <a:latin typeface="Segoe UI"/>
              </a:rPr>
              <a:t>Kilo Code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7" name="Connector 25"/>
          <p:cNvCxnSpPr/>
          <p:nvPr/>
        </p:nvCxnSpPr>
        <p:spPr>
          <a:xfrm flipV="1">
            <a:off x="3200400" y="3099600"/>
            <a:ext cx="265320" cy="46080"/>
          </a:xfrm>
          <a:prstGeom prst="straightConnector1">
            <a:avLst/>
          </a:prstGeom>
          <a:ln w="15875">
            <a:solidFill>
              <a:srgbClr val="c53030"/>
            </a:solidFill>
            <a:prstDash val="sysDash"/>
            <a:round/>
            <a:tailEnd len="med" type="triangle" w="med"/>
          </a:ln>
        </p:spPr>
      </p:cxnSp>
      <p:sp>
        <p:nvSpPr>
          <p:cNvPr id="98" name="Rounded Rectangle 26"/>
          <p:cNvSpPr/>
          <p:nvPr/>
        </p:nvSpPr>
        <p:spPr>
          <a:xfrm>
            <a:off x="3511440" y="3364920"/>
            <a:ext cx="1883160" cy="310680"/>
          </a:xfrm>
          <a:prstGeom prst="roundRect">
            <a:avLst>
              <a:gd name="adj" fmla="val 28000"/>
            </a:avLst>
          </a:prstGeom>
          <a:solidFill>
            <a:srgbClr val="fbecec"/>
          </a:solidFill>
          <a:ln w="12700">
            <a:solidFill>
              <a:srgbClr val="e0a8a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c53030"/>
                </a:solidFill>
                <a:latin typeface="Segoe UI"/>
              </a:rPr>
              <a:t>Cline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9" name="Connector 27"/>
          <p:cNvCxnSpPr/>
          <p:nvPr/>
        </p:nvCxnSpPr>
        <p:spPr>
          <a:xfrm flipV="1">
            <a:off x="3200400" y="3520440"/>
            <a:ext cx="265320" cy="27720"/>
          </a:xfrm>
          <a:prstGeom prst="straightConnector1">
            <a:avLst/>
          </a:prstGeom>
          <a:ln w="15875">
            <a:solidFill>
              <a:srgbClr val="c53030"/>
            </a:solidFill>
            <a:prstDash val="sysDash"/>
            <a:round/>
            <a:tailEnd len="med" type="triangle" w="med"/>
          </a:ln>
        </p:spPr>
      </p:cxnSp>
      <p:sp>
        <p:nvSpPr>
          <p:cNvPr id="100" name="Rounded Rectangle 28"/>
          <p:cNvSpPr/>
          <p:nvPr/>
        </p:nvSpPr>
        <p:spPr>
          <a:xfrm>
            <a:off x="3511440" y="3785760"/>
            <a:ext cx="1883160" cy="310680"/>
          </a:xfrm>
          <a:prstGeom prst="roundRect">
            <a:avLst>
              <a:gd name="adj" fmla="val 28000"/>
            </a:avLst>
          </a:prstGeom>
          <a:solidFill>
            <a:srgbClr val="fbecec"/>
          </a:solidFill>
          <a:ln w="12700">
            <a:solidFill>
              <a:srgbClr val="e0a8a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c53030"/>
                </a:solidFill>
                <a:latin typeface="Segoe UI"/>
              </a:rPr>
              <a:t>Aider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01" name="Connector 29"/>
          <p:cNvCxnSpPr/>
          <p:nvPr/>
        </p:nvCxnSpPr>
        <p:spPr>
          <a:xfrm flipV="1">
            <a:off x="3200400" y="3940920"/>
            <a:ext cx="265320" cy="9360"/>
          </a:xfrm>
          <a:prstGeom prst="straightConnector1">
            <a:avLst/>
          </a:prstGeom>
          <a:ln w="15875">
            <a:solidFill>
              <a:srgbClr val="c53030"/>
            </a:solidFill>
            <a:prstDash val="sysDash"/>
            <a:round/>
            <a:tailEnd len="med" type="triangle" w="med"/>
          </a:ln>
        </p:spPr>
      </p:cxnSp>
      <p:sp>
        <p:nvSpPr>
          <p:cNvPr id="102" name="TextBox 30"/>
          <p:cNvSpPr/>
          <p:nvPr/>
        </p:nvSpPr>
        <p:spPr>
          <a:xfrm>
            <a:off x="3511440" y="4151520"/>
            <a:ext cx="18831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800" spc="-1" strike="noStrike">
                <a:solidFill>
                  <a:srgbClr val="94a3b8"/>
                </a:solidFill>
                <a:latin typeface="Segoe UI"/>
              </a:rPr>
              <a:t>+ whatever ships next month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31"/>
          <p:cNvSpPr/>
          <p:nvPr/>
        </p:nvSpPr>
        <p:spPr>
          <a:xfrm>
            <a:off x="804600" y="4370760"/>
            <a:ext cx="45990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No approved list, no log, no answer when a customer asks where their data went.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Chevron 32"/>
          <p:cNvSpPr/>
          <p:nvPr/>
        </p:nvSpPr>
        <p:spPr>
          <a:xfrm>
            <a:off x="5760720" y="2980800"/>
            <a:ext cx="658080" cy="658080"/>
          </a:xfrm>
          <a:prstGeom prst="chevron">
            <a:avLst>
              <a:gd name="adj" fmla="val 42000"/>
            </a:avLst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Rounded Rectangle 33"/>
          <p:cNvSpPr/>
          <p:nvPr/>
        </p:nvSpPr>
        <p:spPr>
          <a:xfrm>
            <a:off x="6546960" y="2048400"/>
            <a:ext cx="5074560" cy="2742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" name="Rectangle 34"/>
          <p:cNvSpPr/>
          <p:nvPr/>
        </p:nvSpPr>
        <p:spPr>
          <a:xfrm>
            <a:off x="6784920" y="2468880"/>
            <a:ext cx="4599000" cy="1791720"/>
          </a:xfrm>
          <a:prstGeom prst="rect">
            <a:avLst/>
          </a:prstGeom>
          <a:solidFill>
            <a:srgbClr val="e8f5ee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" name="TextBox 35"/>
          <p:cNvSpPr/>
          <p:nvPr/>
        </p:nvSpPr>
        <p:spPr>
          <a:xfrm>
            <a:off x="6876360" y="2541960"/>
            <a:ext cx="182844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f7a57"/>
                </a:solidFill>
                <a:latin typeface="Segoe UI"/>
              </a:rPr>
              <a:t>OUR NETWORK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Oval 36"/>
          <p:cNvSpPr/>
          <p:nvPr/>
        </p:nvSpPr>
        <p:spPr>
          <a:xfrm>
            <a:off x="7269480" y="2834640"/>
            <a:ext cx="200880" cy="200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Round Same Side Corner Rectangle 37"/>
          <p:cNvSpPr/>
          <p:nvPr/>
        </p:nvSpPr>
        <p:spPr>
          <a:xfrm>
            <a:off x="6912720" y="3017520"/>
            <a:ext cx="914040" cy="31068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fffff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f7a57"/>
                </a:solidFill>
                <a:latin typeface="Segoe UI"/>
              </a:rPr>
              <a:t>engineer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Oval 38"/>
          <p:cNvSpPr/>
          <p:nvPr/>
        </p:nvSpPr>
        <p:spPr>
          <a:xfrm>
            <a:off x="8312040" y="2834640"/>
            <a:ext cx="200880" cy="200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" name="Round Same Side Corner Rectangle 39"/>
          <p:cNvSpPr/>
          <p:nvPr/>
        </p:nvSpPr>
        <p:spPr>
          <a:xfrm>
            <a:off x="7955280" y="3017520"/>
            <a:ext cx="914040" cy="31068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fffff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f7a57"/>
                </a:solidFill>
                <a:latin typeface="Segoe UI"/>
              </a:rPr>
              <a:t>engineer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Oval 40"/>
          <p:cNvSpPr/>
          <p:nvPr/>
        </p:nvSpPr>
        <p:spPr>
          <a:xfrm>
            <a:off x="7269480" y="3401640"/>
            <a:ext cx="200880" cy="200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Round Same Side Corner Rectangle 41"/>
          <p:cNvSpPr/>
          <p:nvPr/>
        </p:nvSpPr>
        <p:spPr>
          <a:xfrm>
            <a:off x="6912720" y="3584520"/>
            <a:ext cx="914040" cy="31068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fffff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f7a57"/>
                </a:solidFill>
                <a:latin typeface="Segoe UI"/>
              </a:rPr>
              <a:t>engineer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Oval 42"/>
          <p:cNvSpPr/>
          <p:nvPr/>
        </p:nvSpPr>
        <p:spPr>
          <a:xfrm>
            <a:off x="8312040" y="3401640"/>
            <a:ext cx="200880" cy="200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" name="Round Same Side Corner Rectangle 43"/>
          <p:cNvSpPr/>
          <p:nvPr/>
        </p:nvSpPr>
        <p:spPr>
          <a:xfrm>
            <a:off x="7955280" y="3584520"/>
            <a:ext cx="914040" cy="310680"/>
          </a:xfrm>
          <a:prstGeom prst="round2SameRect">
            <a:avLst>
              <a:gd name="adj1" fmla="val 30000"/>
              <a:gd name="adj2" fmla="val 0"/>
            </a:avLst>
          </a:prstGeom>
          <a:solidFill>
            <a:srgbClr val="ffffff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800" spc="-1" strike="noStrike">
                <a:solidFill>
                  <a:srgbClr val="2f7a57"/>
                </a:solidFill>
                <a:latin typeface="Segoe UI"/>
              </a:rPr>
              <a:t>engineer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Chevron 44"/>
          <p:cNvSpPr/>
          <p:nvPr/>
        </p:nvSpPr>
        <p:spPr>
          <a:xfrm>
            <a:off x="9070920" y="2999160"/>
            <a:ext cx="914040" cy="658080"/>
          </a:xfrm>
          <a:prstGeom prst="chevron">
            <a:avLst>
              <a:gd name="adj" fmla="val 28000"/>
            </a:avLst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ffffff"/>
                </a:solidFill>
                <a:latin typeface="Segoe UI"/>
              </a:rPr>
              <a:t>one gate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117" name="Connector 45"/>
          <p:cNvCxnSpPr/>
          <p:nvPr/>
        </p:nvCxnSpPr>
        <p:spPr>
          <a:xfrm>
            <a:off x="8887680" y="2999160"/>
            <a:ext cx="146880" cy="329400"/>
          </a:xfrm>
          <a:prstGeom prst="straightConnector1">
            <a:avLst/>
          </a:prstGeom>
          <a:ln w="19050">
            <a:solidFill>
              <a:srgbClr val="9cc5b0"/>
            </a:solidFill>
            <a:round/>
            <a:tailEnd len="med" type="triangle" w="med"/>
          </a:ln>
        </p:spPr>
      </p:cxnSp>
      <p:cxnSp>
        <p:nvCxnSpPr>
          <p:cNvPr id="118" name="Connector 46"/>
          <p:cNvCxnSpPr/>
          <p:nvPr/>
        </p:nvCxnSpPr>
        <p:spPr>
          <a:xfrm flipV="1">
            <a:off x="8887680" y="3328200"/>
            <a:ext cx="146880" cy="238320"/>
          </a:xfrm>
          <a:prstGeom prst="straightConnector1">
            <a:avLst/>
          </a:prstGeom>
          <a:ln w="19050">
            <a:solidFill>
              <a:srgbClr val="9cc5b0"/>
            </a:solidFill>
            <a:round/>
            <a:tailEnd len="med" type="triangle" w="med"/>
          </a:ln>
        </p:spPr>
      </p:cxnSp>
      <p:sp>
        <p:nvSpPr>
          <p:cNvPr id="119" name="Rounded Rectangle 47"/>
          <p:cNvSpPr/>
          <p:nvPr/>
        </p:nvSpPr>
        <p:spPr>
          <a:xfrm>
            <a:off x="10095120" y="2779920"/>
            <a:ext cx="1060200" cy="106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AIForgeCrew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2f7a57"/>
                </a:solidFill>
                <a:latin typeface="Segoe UI"/>
              </a:rPr>
              <a:t>our model, on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690" spc="-1" strike="noStrike">
                <a:solidFill>
                  <a:srgbClr val="2f7a57"/>
                </a:solidFill>
                <a:latin typeface="Segoe UI"/>
              </a:rPr>
              <a:t>our hardware</a:t>
            </a:r>
            <a:endParaRPr b="0" lang="en-US" sz="6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20" name="Connector 48"/>
          <p:cNvCxnSpPr/>
          <p:nvPr/>
        </p:nvCxnSpPr>
        <p:spPr>
          <a:xfrm>
            <a:off x="9984960" y="3328200"/>
            <a:ext cx="73800" cy="360"/>
          </a:xfrm>
          <a:prstGeom prst="straightConnector1">
            <a:avLst/>
          </a:prstGeom>
          <a:ln w="19050">
            <a:solidFill>
              <a:srgbClr val="9cc5b0"/>
            </a:solidFill>
            <a:round/>
            <a:tailEnd len="med" type="triangle" w="med"/>
          </a:ln>
        </p:spPr>
      </p:cxnSp>
      <p:sp>
        <p:nvSpPr>
          <p:cNvPr id="121" name="TextBox 49"/>
          <p:cNvSpPr/>
          <p:nvPr/>
        </p:nvSpPr>
        <p:spPr>
          <a:xfrm>
            <a:off x="6912720" y="3986640"/>
            <a:ext cx="429732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2f7a57"/>
                </a:solidFill>
                <a:latin typeface="Segoe UI"/>
              </a:rPr>
              <a:t>every call logged  ·  tools scoped to the role  ·  approval before anything leaves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Box 50"/>
          <p:cNvSpPr/>
          <p:nvPr/>
        </p:nvSpPr>
        <p:spPr>
          <a:xfrm>
            <a:off x="6784920" y="4370760"/>
            <a:ext cx="45990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Same engineers, same work — on one path we can see, log and change.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ounded Rectangle 51"/>
          <p:cNvSpPr/>
          <p:nvPr/>
        </p:nvSpPr>
        <p:spPr>
          <a:xfrm>
            <a:off x="567000" y="5047560"/>
            <a:ext cx="11054880" cy="785880"/>
          </a:xfrm>
          <a:prstGeom prst="roundRect">
            <a:avLst>
              <a:gd name="adj" fmla="val 16000"/>
            </a:avLst>
          </a:prstGeom>
          <a:solidFill>
            <a:srgbClr val="f6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Oval 52"/>
          <p:cNvSpPr/>
          <p:nvPr/>
        </p:nvSpPr>
        <p:spPr>
          <a:xfrm>
            <a:off x="768240" y="5193720"/>
            <a:ext cx="273960" cy="273960"/>
          </a:xfrm>
          <a:prstGeom prst="ellipse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" name="TextBox 53"/>
          <p:cNvSpPr/>
          <p:nvPr/>
        </p:nvSpPr>
        <p:spPr>
          <a:xfrm>
            <a:off x="768240" y="522576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1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4"/>
          <p:cNvSpPr/>
          <p:nvPr/>
        </p:nvSpPr>
        <p:spPr>
          <a:xfrm>
            <a:off x="1152000" y="5175360"/>
            <a:ext cx="30902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b7791f"/>
                </a:solidFill>
                <a:latin typeface="Segoe UI"/>
              </a:rPr>
              <a:t>It lifts every engineer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 steady boost on real work, and it holds day after day.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Oval 55"/>
          <p:cNvSpPr/>
          <p:nvPr/>
        </p:nvSpPr>
        <p:spPr>
          <a:xfrm>
            <a:off x="4443840" y="5193720"/>
            <a:ext cx="273960" cy="273960"/>
          </a:xfrm>
          <a:prstGeom prst="ellipse">
            <a:avLst/>
          </a:prstGeom>
          <a:solidFill>
            <a:srgbClr val="c530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56"/>
          <p:cNvSpPr/>
          <p:nvPr/>
        </p:nvSpPr>
        <p:spPr>
          <a:xfrm>
            <a:off x="4443840" y="522576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57"/>
          <p:cNvSpPr/>
          <p:nvPr/>
        </p:nvSpPr>
        <p:spPr>
          <a:xfrm>
            <a:off x="4827960" y="5175360"/>
            <a:ext cx="30902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c53030"/>
                </a:solidFill>
                <a:latin typeface="Segoe UI"/>
              </a:rPr>
              <a:t>It is already in use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installed by whoever wanted it, approved by nobody, logged nowhere.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Oval 58"/>
          <p:cNvSpPr/>
          <p:nvPr/>
        </p:nvSpPr>
        <p:spPr>
          <a:xfrm>
            <a:off x="8119800" y="519372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TextBox 59"/>
          <p:cNvSpPr/>
          <p:nvPr/>
        </p:nvSpPr>
        <p:spPr>
          <a:xfrm>
            <a:off x="8119800" y="522576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60"/>
          <p:cNvSpPr/>
          <p:nvPr/>
        </p:nvSpPr>
        <p:spPr>
          <a:xfrm>
            <a:off x="8503920" y="5175360"/>
            <a:ext cx="309024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We want that lift for all of us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one standard toolset, and numbers we can actually show.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61"/>
          <p:cNvSpPr/>
          <p:nvPr/>
        </p:nvSpPr>
        <p:spPr>
          <a:xfrm>
            <a:off x="567000" y="5998320"/>
            <a:ext cx="110548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4748b"/>
                </a:solidFill>
                <a:latin typeface="Segoe UI"/>
              </a:rPr>
              <a:t>Buying more seats does not answer the control question — it only spreads it. Owning the platform does.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567000" y="311040"/>
            <a:ext cx="70340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ffffff"/>
                </a:solidFill>
                <a:latin typeface="Segoe UI"/>
              </a:rPr>
              <a:t>AIForgeCrew — a coding agent we run ourselves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567000" y="896040"/>
            <a:ext cx="703404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Give it a ticket, get a merge request. Our code stays on our machines and talks to our own model.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Oval 7"/>
          <p:cNvSpPr/>
          <p:nvPr/>
        </p:nvSpPr>
        <p:spPr>
          <a:xfrm>
            <a:off x="78757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" name="TextBox 8"/>
          <p:cNvSpPr/>
          <p:nvPr/>
        </p:nvSpPr>
        <p:spPr>
          <a:xfrm>
            <a:off x="78757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108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9"/>
          <p:cNvSpPr/>
          <p:nvPr/>
        </p:nvSpPr>
        <p:spPr>
          <a:xfrm>
            <a:off x="772956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things it can do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Oval 10"/>
          <p:cNvSpPr/>
          <p:nvPr/>
        </p:nvSpPr>
        <p:spPr>
          <a:xfrm>
            <a:off x="886320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11"/>
          <p:cNvSpPr/>
          <p:nvPr/>
        </p:nvSpPr>
        <p:spPr>
          <a:xfrm>
            <a:off x="886320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19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12"/>
          <p:cNvSpPr/>
          <p:nvPr/>
        </p:nvSpPr>
        <p:spPr>
          <a:xfrm>
            <a:off x="871704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agents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Oval 13"/>
          <p:cNvSpPr/>
          <p:nvPr/>
        </p:nvSpPr>
        <p:spPr>
          <a:xfrm>
            <a:off x="985068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TextBox 14"/>
          <p:cNvSpPr/>
          <p:nvPr/>
        </p:nvSpPr>
        <p:spPr>
          <a:xfrm>
            <a:off x="985068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8,606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Box 15"/>
          <p:cNvSpPr/>
          <p:nvPr/>
        </p:nvSpPr>
        <p:spPr>
          <a:xfrm>
            <a:off x="970452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tests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Oval 16"/>
          <p:cNvSpPr/>
          <p:nvPr/>
        </p:nvSpPr>
        <p:spPr>
          <a:xfrm>
            <a:off x="108385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" name="TextBox 17"/>
          <p:cNvSpPr/>
          <p:nvPr/>
        </p:nvSpPr>
        <p:spPr>
          <a:xfrm>
            <a:off x="108385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TextBox 18"/>
          <p:cNvSpPr/>
          <p:nvPr/>
        </p:nvSpPr>
        <p:spPr>
          <a:xfrm>
            <a:off x="1069200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scan findings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19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2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Oval 20"/>
          <p:cNvSpPr/>
          <p:nvPr/>
        </p:nvSpPr>
        <p:spPr>
          <a:xfrm>
            <a:off x="4517280" y="1609200"/>
            <a:ext cx="2377080" cy="2377080"/>
          </a:xfrm>
          <a:prstGeom prst="ellipse">
            <a:avLst/>
          </a:prstGeom>
          <a:solidFill>
            <a:srgbClr val="eaf2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" name="Oval 21"/>
          <p:cNvSpPr/>
          <p:nvPr/>
        </p:nvSpPr>
        <p:spPr>
          <a:xfrm>
            <a:off x="4773240" y="1865520"/>
            <a:ext cx="1865160" cy="1865160"/>
          </a:xfrm>
          <a:prstGeom prst="ellipse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Segoe UI"/>
              </a:rPr>
              <a:t>One program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939" spc="-1" strike="noStrike">
                <a:solidFill>
                  <a:srgbClr val="ffffff"/>
                </a:solidFill>
                <a:latin typeface="Segoe UI"/>
              </a:rPr>
              <a:t>one port · one folder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939" spc="-1" strike="noStrike">
                <a:solidFill>
                  <a:srgbClr val="ffffff"/>
                </a:solidFill>
                <a:latin typeface="Segoe UI"/>
              </a:rPr>
              <a:t>no database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22"/>
          <p:cNvSpPr/>
          <p:nvPr/>
        </p:nvSpPr>
        <p:spPr>
          <a:xfrm>
            <a:off x="567000" y="1700640"/>
            <a:ext cx="210276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202c"/>
                </a:solidFill>
                <a:latin typeface="Segoe UI"/>
              </a:rPr>
              <a:t>A ticket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1a202c"/>
                </a:solidFill>
                <a:latin typeface="Segoe UI"/>
              </a:rPr>
              <a:t>Jira · GitLab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6" name="Connector 23"/>
          <p:cNvCxnSpPr/>
          <p:nvPr/>
        </p:nvCxnSpPr>
        <p:spPr>
          <a:xfrm>
            <a:off x="2669760" y="1956600"/>
            <a:ext cx="1792800" cy="84168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57" name="Rounded Rectangle 24"/>
          <p:cNvSpPr/>
          <p:nvPr/>
        </p:nvSpPr>
        <p:spPr>
          <a:xfrm>
            <a:off x="567000" y="2395800"/>
            <a:ext cx="210276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202c"/>
                </a:solidFill>
                <a:latin typeface="Segoe UI"/>
              </a:rPr>
              <a:t>A chat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1a202c"/>
                </a:solidFill>
                <a:latin typeface="Segoe UI"/>
              </a:rPr>
              <a:t>ask · plan · delegate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58" name="Connector 25"/>
          <p:cNvCxnSpPr/>
          <p:nvPr/>
        </p:nvCxnSpPr>
        <p:spPr>
          <a:xfrm>
            <a:off x="2669760" y="2651760"/>
            <a:ext cx="1792800" cy="14652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59" name="Rounded Rectangle 26"/>
          <p:cNvSpPr/>
          <p:nvPr/>
        </p:nvSpPr>
        <p:spPr>
          <a:xfrm>
            <a:off x="567000" y="3090600"/>
            <a:ext cx="210276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a202c"/>
                </a:solidFill>
                <a:latin typeface="Segoe UI"/>
              </a:rPr>
              <a:t>A schedule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1a202c"/>
                </a:solidFill>
                <a:latin typeface="Segoe UI"/>
              </a:rPr>
              <a:t>runs unattended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0" name="Connector 27"/>
          <p:cNvCxnSpPr/>
          <p:nvPr/>
        </p:nvCxnSpPr>
        <p:spPr>
          <a:xfrm flipV="1">
            <a:off x="2669760" y="2797920"/>
            <a:ext cx="1792800" cy="54900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61" name="Rounded Rectangle 28"/>
          <p:cNvSpPr/>
          <p:nvPr/>
        </p:nvSpPr>
        <p:spPr>
          <a:xfrm>
            <a:off x="8503920" y="1700640"/>
            <a:ext cx="311760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f7a57"/>
                </a:solidFill>
                <a:latin typeface="Segoe UI"/>
              </a:rPr>
              <a:t>Our own model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2f7a57"/>
                </a:solidFill>
                <a:latin typeface="Segoe UI"/>
              </a:rPr>
              <a:t>on our hardware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2" name="Connector 29"/>
          <p:cNvCxnSpPr/>
          <p:nvPr/>
        </p:nvCxnSpPr>
        <p:spPr>
          <a:xfrm flipV="1">
            <a:off x="6949440" y="1956600"/>
            <a:ext cx="1554840" cy="84168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63" name="Rounded Rectangle 30"/>
          <p:cNvSpPr/>
          <p:nvPr/>
        </p:nvSpPr>
        <p:spPr>
          <a:xfrm>
            <a:off x="8503920" y="2395800"/>
            <a:ext cx="311760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6b4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6b46c1"/>
                </a:solidFill>
                <a:latin typeface="Segoe UI"/>
              </a:rPr>
              <a:t>Our tools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6b46c1"/>
                </a:solidFill>
                <a:latin typeface="Segoe UI"/>
              </a:rPr>
              <a:t>Jira 21 · Confluence 14 · GitLab 10 · MCP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4" name="Connector 31"/>
          <p:cNvCxnSpPr/>
          <p:nvPr/>
        </p:nvCxnSpPr>
        <p:spPr>
          <a:xfrm flipV="1">
            <a:off x="6949440" y="2651760"/>
            <a:ext cx="1554840" cy="14652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65" name="Rounded Rectangle 32"/>
          <p:cNvSpPr/>
          <p:nvPr/>
        </p:nvSpPr>
        <p:spPr>
          <a:xfrm>
            <a:off x="8503920" y="3090600"/>
            <a:ext cx="3117600" cy="5115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c7a7b"/>
                </a:solidFill>
                <a:latin typeface="Segoe UI"/>
              </a:rPr>
              <a:t>Our memory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790" spc="-1" strike="noStrike">
                <a:solidFill>
                  <a:srgbClr val="2c7a7b"/>
                </a:solidFill>
                <a:latin typeface="Segoe UI"/>
              </a:rPr>
              <a:t>markdown + one SQLite</a:t>
            </a:r>
            <a:endParaRPr b="0" lang="en-US" sz="79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66" name="Connector 33"/>
          <p:cNvCxnSpPr/>
          <p:nvPr/>
        </p:nvCxnSpPr>
        <p:spPr>
          <a:xfrm>
            <a:off x="6949440" y="2797920"/>
            <a:ext cx="1554840" cy="549000"/>
          </a:xfrm>
          <a:prstGeom prst="straightConnector1">
            <a:avLst/>
          </a:prstGeom>
          <a:ln w="19050">
            <a:solidFill>
              <a:srgbClr val="c2d3e6"/>
            </a:solidFill>
            <a:round/>
            <a:tailEnd len="med" type="triangle" w="med"/>
          </a:ln>
        </p:spPr>
      </p:cxnSp>
      <p:sp>
        <p:nvSpPr>
          <p:cNvPr id="167" name="TextBox 34"/>
          <p:cNvSpPr/>
          <p:nvPr/>
        </p:nvSpPr>
        <p:spPr>
          <a:xfrm>
            <a:off x="567000" y="3803760"/>
            <a:ext cx="31086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WHAT GOES IN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Box 35"/>
          <p:cNvSpPr/>
          <p:nvPr/>
        </p:nvSpPr>
        <p:spPr>
          <a:xfrm>
            <a:off x="8503920" y="3803760"/>
            <a:ext cx="311760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WHAT IT USES — ALL OURS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Box 36"/>
          <p:cNvSpPr/>
          <p:nvPr/>
        </p:nvSpPr>
        <p:spPr>
          <a:xfrm>
            <a:off x="567000" y="4224600"/>
            <a:ext cx="54860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ONE TICKET, END TO END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Chevron 37"/>
          <p:cNvSpPr/>
          <p:nvPr/>
        </p:nvSpPr>
        <p:spPr>
          <a:xfrm>
            <a:off x="56700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b6cb0"/>
                </a:solidFill>
                <a:latin typeface="Segoe UI"/>
              </a:rPr>
              <a:t>Understand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Chevron 38"/>
          <p:cNvSpPr/>
          <p:nvPr/>
        </p:nvSpPr>
        <p:spPr>
          <a:xfrm>
            <a:off x="237744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b6cb0"/>
                </a:solidFill>
                <a:latin typeface="Segoe UI"/>
              </a:rPr>
              <a:t>Plan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Chevron 39"/>
          <p:cNvSpPr/>
          <p:nvPr/>
        </p:nvSpPr>
        <p:spPr>
          <a:xfrm>
            <a:off x="418788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c7a7b"/>
                </a:solidFill>
                <a:latin typeface="Segoe UI"/>
              </a:rPr>
              <a:t>Write code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Chevron 40"/>
          <p:cNvSpPr/>
          <p:nvPr/>
        </p:nvSpPr>
        <p:spPr>
          <a:xfrm>
            <a:off x="599832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2c7a7b"/>
                </a:solidFill>
                <a:latin typeface="Segoe UI"/>
              </a:rPr>
              <a:t>Test and fix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Chevron 41"/>
          <p:cNvSpPr/>
          <p:nvPr/>
        </p:nvSpPr>
        <p:spPr>
          <a:xfrm>
            <a:off x="780912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6b46c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6b46c1"/>
                </a:solidFill>
                <a:latin typeface="Segoe UI"/>
              </a:rPr>
              <a:t>Check it works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Chevron 42"/>
          <p:cNvSpPr/>
          <p:nvPr/>
        </p:nvSpPr>
        <p:spPr>
          <a:xfrm>
            <a:off x="9619560" y="4517280"/>
            <a:ext cx="1901520" cy="566640"/>
          </a:xfrm>
          <a:prstGeom prst="chevron">
            <a:avLst>
              <a:gd name="adj" fmla="val 22000"/>
            </a:avLst>
          </a:prstGeom>
          <a:solidFill>
            <a:srgbClr val="2f7a57"/>
          </a:solidFill>
          <a:ln w="15875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Segoe UI"/>
              </a:rPr>
              <a:t>Merge request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6" name="TextBox 43"/>
          <p:cNvSpPr/>
          <p:nvPr/>
        </p:nvSpPr>
        <p:spPr>
          <a:xfrm>
            <a:off x="567000" y="5193720"/>
            <a:ext cx="110548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64748b"/>
                </a:solidFill>
                <a:latin typeface="Segoe UI"/>
              </a:rPr>
              <a:t>up to four parts of the job run side by side, each in its own copy of the repo  ·  a person reviews the merge request — nothing merges itself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Rounded Rectangle 44"/>
          <p:cNvSpPr/>
          <p:nvPr/>
        </p:nvSpPr>
        <p:spPr>
          <a:xfrm>
            <a:off x="567000" y="5577840"/>
            <a:ext cx="11054880" cy="785880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" name="Oval 45"/>
          <p:cNvSpPr/>
          <p:nvPr/>
        </p:nvSpPr>
        <p:spPr>
          <a:xfrm>
            <a:off x="768240" y="5706000"/>
            <a:ext cx="273960" cy="273960"/>
          </a:xfrm>
          <a:prstGeom prst="ellipse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" name="TextBox 46"/>
          <p:cNvSpPr/>
          <p:nvPr/>
        </p:nvSpPr>
        <p:spPr>
          <a:xfrm>
            <a:off x="768240" y="5738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↻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Box 47"/>
          <p:cNvSpPr/>
          <p:nvPr/>
        </p:nvSpPr>
        <p:spPr>
          <a:xfrm>
            <a:off x="1152000" y="5687640"/>
            <a:ext cx="49190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b7791f"/>
                </a:solidFill>
                <a:latin typeface="Segoe UI"/>
              </a:rPr>
              <a:t>Writes its own playbook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plain-text rules, skills and workflows, tidied nightly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Oval 48"/>
          <p:cNvSpPr/>
          <p:nvPr/>
        </p:nvSpPr>
        <p:spPr>
          <a:xfrm>
            <a:off x="6053400" y="5706000"/>
            <a:ext cx="273960" cy="27396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TextBox 49"/>
          <p:cNvSpPr/>
          <p:nvPr/>
        </p:nvSpPr>
        <p:spPr>
          <a:xfrm>
            <a:off x="6053400" y="5738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◎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Box 50"/>
          <p:cNvSpPr/>
          <p:nvPr/>
        </p:nvSpPr>
        <p:spPr>
          <a:xfrm>
            <a:off x="6437520" y="5687640"/>
            <a:ext cx="50104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Remembers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what one machine learns, the team has tomorrow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51"/>
          <p:cNvSpPr/>
          <p:nvPr/>
        </p:nvSpPr>
        <p:spPr>
          <a:xfrm>
            <a:off x="1152000" y="6016680"/>
            <a:ext cx="475452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a fix found once becomes a step it repeats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52"/>
          <p:cNvSpPr/>
          <p:nvPr/>
        </p:nvSpPr>
        <p:spPr>
          <a:xfrm>
            <a:off x="6437520" y="6016680"/>
            <a:ext cx="493740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secrets are stripped before anything is shared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7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8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9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c530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0" name="TextBox 5"/>
          <p:cNvSpPr/>
          <p:nvPr/>
        </p:nvSpPr>
        <p:spPr>
          <a:xfrm>
            <a:off x="567000" y="311040"/>
            <a:ext cx="8021520" cy="36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400" spc="-1" strike="noStrike">
                <a:solidFill>
                  <a:srgbClr val="ffffff"/>
                </a:solidFill>
                <a:latin typeface="Segoe UI"/>
              </a:rPr>
              <a:t>Nothing gets out unless we allow it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Box 6"/>
          <p:cNvSpPr/>
          <p:nvPr/>
        </p:nvSpPr>
        <p:spPr>
          <a:xfrm>
            <a:off x="567000" y="896040"/>
            <a:ext cx="8021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A tool call, a shell command and a notebook cell all reach the same gate and get the same answer.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Oval 7"/>
          <p:cNvSpPr/>
          <p:nvPr/>
        </p:nvSpPr>
        <p:spPr>
          <a:xfrm>
            <a:off x="886320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3" name="TextBox 8"/>
          <p:cNvSpPr/>
          <p:nvPr/>
        </p:nvSpPr>
        <p:spPr>
          <a:xfrm>
            <a:off x="886320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Box 9"/>
          <p:cNvSpPr/>
          <p:nvPr/>
        </p:nvSpPr>
        <p:spPr>
          <a:xfrm>
            <a:off x="871704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known weaknesses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Oval 10"/>
          <p:cNvSpPr/>
          <p:nvPr/>
        </p:nvSpPr>
        <p:spPr>
          <a:xfrm>
            <a:off x="985068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6" name="TextBox 11"/>
          <p:cNvSpPr/>
          <p:nvPr/>
        </p:nvSpPr>
        <p:spPr>
          <a:xfrm>
            <a:off x="985068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Box 12"/>
          <p:cNvSpPr/>
          <p:nvPr/>
        </p:nvSpPr>
        <p:spPr>
          <a:xfrm>
            <a:off x="970452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usage data sent out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Oval 13"/>
          <p:cNvSpPr/>
          <p:nvPr/>
        </p:nvSpPr>
        <p:spPr>
          <a:xfrm>
            <a:off x="108385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9" name="TextBox 14"/>
          <p:cNvSpPr/>
          <p:nvPr/>
        </p:nvSpPr>
        <p:spPr>
          <a:xfrm>
            <a:off x="108385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20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Box 15"/>
          <p:cNvSpPr/>
          <p:nvPr/>
        </p:nvSpPr>
        <p:spPr>
          <a:xfrm>
            <a:off x="1069200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actions that ask first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6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3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Oval 17"/>
          <p:cNvSpPr/>
          <p:nvPr/>
        </p:nvSpPr>
        <p:spPr>
          <a:xfrm>
            <a:off x="2670120" y="1792080"/>
            <a:ext cx="3840120" cy="3840120"/>
          </a:xfrm>
          <a:prstGeom prst="ellipse">
            <a:avLst/>
          </a:prstGeom>
          <a:solidFill>
            <a:srgbClr val="eff2f6"/>
          </a:solidFill>
          <a:ln w="15875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3" name="Oval 18"/>
          <p:cNvSpPr/>
          <p:nvPr/>
        </p:nvSpPr>
        <p:spPr>
          <a:xfrm>
            <a:off x="3108960" y="2231280"/>
            <a:ext cx="2962440" cy="2962440"/>
          </a:xfrm>
          <a:prstGeom prst="ellipse">
            <a:avLst/>
          </a:prstGeom>
          <a:solidFill>
            <a:srgbClr val="fbecec"/>
          </a:solidFill>
          <a:ln w="15875">
            <a:solidFill>
              <a:srgbClr val="c5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Oval 19"/>
          <p:cNvSpPr/>
          <p:nvPr/>
        </p:nvSpPr>
        <p:spPr>
          <a:xfrm>
            <a:off x="3547800" y="2670120"/>
            <a:ext cx="2084400" cy="2084400"/>
          </a:xfrm>
          <a:prstGeom prst="ellipse">
            <a:avLst/>
          </a:prstGeom>
          <a:solidFill>
            <a:srgbClr val="fdf3e2"/>
          </a:solidFill>
          <a:ln w="15875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5" name="Oval 20"/>
          <p:cNvSpPr/>
          <p:nvPr/>
        </p:nvSpPr>
        <p:spPr>
          <a:xfrm>
            <a:off x="3968640" y="3090600"/>
            <a:ext cx="1243080" cy="1243080"/>
          </a:xfrm>
          <a:prstGeom prst="ellipse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rIns="45720" tIns="18360" bIns="1836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Segoe UI"/>
              </a:rPr>
              <a:t>Our 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860" spc="-1" strike="noStrike">
                <a:solidFill>
                  <a:srgbClr val="ffffff"/>
                </a:solidFill>
                <a:latin typeface="Segoe UI"/>
              </a:rPr>
              <a:t>and our keys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21"/>
          <p:cNvSpPr/>
          <p:nvPr/>
        </p:nvSpPr>
        <p:spPr>
          <a:xfrm>
            <a:off x="3218760" y="1722960"/>
            <a:ext cx="2742840" cy="1378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94a3b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22"/>
          <p:cNvSpPr/>
          <p:nvPr/>
        </p:nvSpPr>
        <p:spPr>
          <a:xfrm>
            <a:off x="3218760" y="1741320"/>
            <a:ext cx="27428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94a3b8"/>
                </a:solidFill>
                <a:latin typeface="Segoe UI"/>
              </a:rPr>
              <a:t>the firewall on the machine — yours, not ours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Rounded Rectangle 23"/>
          <p:cNvSpPr/>
          <p:nvPr/>
        </p:nvSpPr>
        <p:spPr>
          <a:xfrm>
            <a:off x="3218760" y="2162160"/>
            <a:ext cx="2742840" cy="1378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c5303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9" name="TextBox 24"/>
          <p:cNvSpPr/>
          <p:nvPr/>
        </p:nvSpPr>
        <p:spPr>
          <a:xfrm>
            <a:off x="3218760" y="2180160"/>
            <a:ext cx="27428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c53030"/>
                </a:solidFill>
                <a:latin typeface="Segoe UI"/>
              </a:rPr>
              <a:t>ONE GATE  ·  tool · shell · notebook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Rounded Rectangle 25"/>
          <p:cNvSpPr/>
          <p:nvPr/>
        </p:nvSpPr>
        <p:spPr>
          <a:xfrm>
            <a:off x="3218760" y="2601000"/>
            <a:ext cx="2742840" cy="13788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1" name="TextBox 26"/>
          <p:cNvSpPr/>
          <p:nvPr/>
        </p:nvSpPr>
        <p:spPr>
          <a:xfrm>
            <a:off x="3218760" y="2619360"/>
            <a:ext cx="274284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850" spc="-1" strike="noStrike">
                <a:solidFill>
                  <a:srgbClr val="b7791f"/>
                </a:solidFill>
                <a:latin typeface="Segoe UI"/>
              </a:rPr>
              <a:t>workspace + approvals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Box 27"/>
          <p:cNvSpPr/>
          <p:nvPr/>
        </p:nvSpPr>
        <p:spPr>
          <a:xfrm>
            <a:off x="567000" y="2797920"/>
            <a:ext cx="1700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tool call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Box 28"/>
          <p:cNvSpPr/>
          <p:nvPr/>
        </p:nvSpPr>
        <p:spPr>
          <a:xfrm>
            <a:off x="567000" y="2990160"/>
            <a:ext cx="17002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64748b"/>
                </a:solidFill>
                <a:latin typeface="Segoe UI"/>
              </a:rPr>
              <a:t>web · Jira · MCP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4" name="Connector 29"/>
          <p:cNvCxnSpPr/>
          <p:nvPr/>
        </p:nvCxnSpPr>
        <p:spPr>
          <a:xfrm>
            <a:off x="2377440" y="2944080"/>
            <a:ext cx="274680" cy="530640"/>
          </a:xfrm>
          <a:prstGeom prst="straightConnector1">
            <a:avLst/>
          </a:prstGeom>
          <a:ln w="19050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215" name="TextBox 30"/>
          <p:cNvSpPr/>
          <p:nvPr/>
        </p:nvSpPr>
        <p:spPr>
          <a:xfrm>
            <a:off x="567000" y="3328560"/>
            <a:ext cx="1700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shell command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Box 31"/>
          <p:cNvSpPr/>
          <p:nvPr/>
        </p:nvSpPr>
        <p:spPr>
          <a:xfrm>
            <a:off x="567000" y="3520440"/>
            <a:ext cx="17002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64748b"/>
                </a:solidFill>
                <a:latin typeface="Segoe UI"/>
              </a:rPr>
              <a:t>curl · scp · ssh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7" name="Connector 32"/>
          <p:cNvCxnSpPr/>
          <p:nvPr/>
        </p:nvCxnSpPr>
        <p:spPr>
          <a:xfrm>
            <a:off x="2377440" y="3474720"/>
            <a:ext cx="274680" cy="237960"/>
          </a:xfrm>
          <a:prstGeom prst="straightConnector1">
            <a:avLst/>
          </a:prstGeom>
          <a:ln w="19050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218" name="TextBox 33"/>
          <p:cNvSpPr/>
          <p:nvPr/>
        </p:nvSpPr>
        <p:spPr>
          <a:xfrm>
            <a:off x="567000" y="3858840"/>
            <a:ext cx="1700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notebook cell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TextBox 34"/>
          <p:cNvSpPr/>
          <p:nvPr/>
        </p:nvSpPr>
        <p:spPr>
          <a:xfrm>
            <a:off x="567000" y="4050720"/>
            <a:ext cx="170028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64748b"/>
                </a:solidFill>
                <a:latin typeface="Segoe UI"/>
              </a:rPr>
              <a:t>its own code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20" name="Connector 35"/>
          <p:cNvCxnSpPr/>
          <p:nvPr/>
        </p:nvCxnSpPr>
        <p:spPr>
          <a:xfrm flipV="1">
            <a:off x="2377440" y="3949920"/>
            <a:ext cx="274680" cy="55440"/>
          </a:xfrm>
          <a:prstGeom prst="straightConnector1">
            <a:avLst/>
          </a:prstGeom>
          <a:ln w="19050">
            <a:solidFill>
              <a:srgbClr val="c53030"/>
            </a:solidFill>
            <a:round/>
            <a:tailEnd len="med" type="triangle" w="med"/>
          </a:ln>
        </p:spPr>
      </p:cxnSp>
      <p:sp>
        <p:nvSpPr>
          <p:cNvPr id="221" name="TextBox 36"/>
          <p:cNvSpPr/>
          <p:nvPr/>
        </p:nvSpPr>
        <p:spPr>
          <a:xfrm>
            <a:off x="567000" y="4517280"/>
            <a:ext cx="188316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850" spc="-1" strike="noStrike">
                <a:solidFill>
                  <a:srgbClr val="64748b"/>
                </a:solidFill>
                <a:latin typeface="Segoe UI"/>
              </a:rPr>
              <a:t>the gate is code, not the model's judgement — a prompt cannot argue its way past it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37"/>
          <p:cNvSpPr/>
          <p:nvPr/>
        </p:nvSpPr>
        <p:spPr>
          <a:xfrm>
            <a:off x="6675120" y="1883520"/>
            <a:ext cx="4937400" cy="1334520"/>
          </a:xfrm>
          <a:prstGeom prst="roundRect">
            <a:avLst>
              <a:gd name="adj" fmla="val 10000"/>
            </a:avLst>
          </a:prstGeom>
          <a:solidFill>
            <a:srgbClr val="e8f5e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TextBox 38"/>
          <p:cNvSpPr/>
          <p:nvPr/>
        </p:nvSpPr>
        <p:spPr>
          <a:xfrm>
            <a:off x="6858000" y="1993320"/>
            <a:ext cx="18284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2f7a57"/>
                </a:solidFill>
                <a:latin typeface="Segoe UI"/>
              </a:rPr>
              <a:t>✓  </a:t>
            </a:r>
            <a:r>
              <a:rPr b="1" lang="en-US" sz="1100" spc="-1" strike="noStrike">
                <a:solidFill>
                  <a:srgbClr val="2f7a57"/>
                </a:solidFill>
                <a:latin typeface="Segoe UI"/>
              </a:rPr>
              <a:t>ALLOWED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Box 39"/>
          <p:cNvSpPr/>
          <p:nvPr/>
        </p:nvSpPr>
        <p:spPr>
          <a:xfrm>
            <a:off x="6858000" y="228600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our own network and machines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40"/>
          <p:cNvSpPr/>
          <p:nvPr/>
        </p:nvSpPr>
        <p:spPr>
          <a:xfrm>
            <a:off x="6858000" y="256032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pushing to our own git remote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41"/>
          <p:cNvSpPr/>
          <p:nvPr/>
        </p:nvSpPr>
        <p:spPr>
          <a:xfrm>
            <a:off x="6858000" y="283464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deploying to a server we named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Rounded Rectangle 42"/>
          <p:cNvSpPr/>
          <p:nvPr/>
        </p:nvSpPr>
        <p:spPr>
          <a:xfrm>
            <a:off x="6675120" y="3346560"/>
            <a:ext cx="4937400" cy="1608840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8" name="TextBox 43"/>
          <p:cNvSpPr/>
          <p:nvPr/>
        </p:nvSpPr>
        <p:spPr>
          <a:xfrm>
            <a:off x="6858000" y="3456360"/>
            <a:ext cx="18284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c53030"/>
                </a:solidFill>
                <a:latin typeface="Segoe UI"/>
              </a:rPr>
              <a:t>✕  </a:t>
            </a:r>
            <a:r>
              <a:rPr b="1" lang="en-US" sz="1100" spc="-1" strike="noStrike">
                <a:solidFill>
                  <a:srgbClr val="c53030"/>
                </a:solidFill>
                <a:latin typeface="Segoe UI"/>
              </a:rPr>
              <a:t>REFUSED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Box 44"/>
          <p:cNvSpPr/>
          <p:nvPr/>
        </p:nvSpPr>
        <p:spPr>
          <a:xfrm>
            <a:off x="6858000" y="374904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copying files to an outside host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45"/>
          <p:cNvSpPr/>
          <p:nvPr/>
        </p:nvSpPr>
        <p:spPr>
          <a:xfrm>
            <a:off x="6858000" y="402336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uploading to cloud storage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46"/>
          <p:cNvSpPr/>
          <p:nvPr/>
        </p:nvSpPr>
        <p:spPr>
          <a:xfrm>
            <a:off x="6858000" y="429768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web search — removed completely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47"/>
          <p:cNvSpPr/>
          <p:nvPr/>
        </p:nvSpPr>
        <p:spPr>
          <a:xfrm>
            <a:off x="6858000" y="4572000"/>
            <a:ext cx="45716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·  anything not on the list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Rectangle 48"/>
          <p:cNvSpPr/>
          <p:nvPr/>
        </p:nvSpPr>
        <p:spPr>
          <a:xfrm>
            <a:off x="6675120" y="5139000"/>
            <a:ext cx="4937400" cy="12240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2400" bIns="-324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4" name="Oval 49"/>
          <p:cNvSpPr/>
          <p:nvPr/>
        </p:nvSpPr>
        <p:spPr>
          <a:xfrm>
            <a:off x="6693480" y="5340240"/>
            <a:ext cx="273960" cy="273960"/>
          </a:xfrm>
          <a:prstGeom prst="ellipse">
            <a:avLst/>
          </a:prstGeom>
          <a:solidFill>
            <a:srgbClr val="b779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TextBox 50"/>
          <p:cNvSpPr/>
          <p:nvPr/>
        </p:nvSpPr>
        <p:spPr>
          <a:xfrm>
            <a:off x="6693480" y="537228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⚿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Box 51"/>
          <p:cNvSpPr/>
          <p:nvPr/>
        </p:nvSpPr>
        <p:spPr>
          <a:xfrm>
            <a:off x="7077600" y="5321880"/>
            <a:ext cx="4516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b7791f"/>
                </a:solidFill>
                <a:latin typeface="Segoe UI"/>
              </a:rPr>
              <a:t>Keys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one locked folder, never shown back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Oval 52"/>
          <p:cNvSpPr/>
          <p:nvPr/>
        </p:nvSpPr>
        <p:spPr>
          <a:xfrm>
            <a:off x="6693480" y="570600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8" name="TextBox 53"/>
          <p:cNvSpPr/>
          <p:nvPr/>
        </p:nvSpPr>
        <p:spPr>
          <a:xfrm>
            <a:off x="6693480" y="5738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✔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54"/>
          <p:cNvSpPr/>
          <p:nvPr/>
        </p:nvSpPr>
        <p:spPr>
          <a:xfrm>
            <a:off x="7077600" y="5687640"/>
            <a:ext cx="4516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Certificates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our own CA, added in Settings, no restart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Oval 55"/>
          <p:cNvSpPr/>
          <p:nvPr/>
        </p:nvSpPr>
        <p:spPr>
          <a:xfrm>
            <a:off x="6693480" y="6071760"/>
            <a:ext cx="273960" cy="27396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1" name="TextBox 56"/>
          <p:cNvSpPr/>
          <p:nvPr/>
        </p:nvSpPr>
        <p:spPr>
          <a:xfrm>
            <a:off x="6693480" y="6103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≡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57"/>
          <p:cNvSpPr/>
          <p:nvPr/>
        </p:nvSpPr>
        <p:spPr>
          <a:xfrm>
            <a:off x="7077600" y="6053400"/>
            <a:ext cx="451692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Record —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every step of every run is written down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ounded Rectangle 58"/>
          <p:cNvSpPr/>
          <p:nvPr/>
        </p:nvSpPr>
        <p:spPr>
          <a:xfrm>
            <a:off x="567000" y="6035040"/>
            <a:ext cx="5851800" cy="475200"/>
          </a:xfrm>
          <a:prstGeom prst="roundRect">
            <a:avLst>
              <a:gd name="adj" fmla="val 30000"/>
            </a:avLst>
          </a:prstGeom>
          <a:solidFill>
            <a:srgbClr val="f6f8f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59"/>
          <p:cNvSpPr/>
          <p:nvPr/>
        </p:nvSpPr>
        <p:spPr>
          <a:xfrm>
            <a:off x="731520" y="6144840"/>
            <a:ext cx="55227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900" spc="-1" strike="noStrike">
                <a:solidFill>
                  <a:srgbClr val="64748b"/>
                </a:solidFill>
                <a:latin typeface="Segoe UI"/>
              </a:rPr>
              <a:t>We do not claim a sealed box: a shell can still open a socket the gate never sees.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Rectangle 1"/>
          <p:cNvSpPr/>
          <p:nvPr/>
        </p:nvSpPr>
        <p:spPr>
          <a:xfrm>
            <a:off x="0" y="0"/>
            <a:ext cx="12191400" cy="1481040"/>
          </a:xfrm>
          <a:prstGeom prst="rect">
            <a:avLst/>
          </a:prstGeom>
          <a:solidFill>
            <a:srgbClr val="0b1b2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6" name="Rectangle 2"/>
          <p:cNvSpPr/>
          <p:nvPr/>
        </p:nvSpPr>
        <p:spPr>
          <a:xfrm>
            <a:off x="7498080" y="0"/>
            <a:ext cx="4693320" cy="1481040"/>
          </a:xfrm>
          <a:prstGeom prst="rect">
            <a:avLst/>
          </a:prstGeom>
          <a:solidFill>
            <a:srgbClr val="183b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7" name="Rectangle 3"/>
          <p:cNvSpPr/>
          <p:nvPr/>
        </p:nvSpPr>
        <p:spPr>
          <a:xfrm>
            <a:off x="7040880" y="0"/>
            <a:ext cx="456840" cy="1481040"/>
          </a:xfrm>
          <a:prstGeom prst="rect">
            <a:avLst/>
          </a:prstGeom>
          <a:solidFill>
            <a:srgbClr val="112b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8" name="Rectangle 4"/>
          <p:cNvSpPr/>
          <p:nvPr/>
        </p:nvSpPr>
        <p:spPr>
          <a:xfrm>
            <a:off x="0" y="1463040"/>
            <a:ext cx="12191400" cy="37800"/>
          </a:xfrm>
          <a:prstGeom prst="rect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6840" bIns="-6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9" name="TextBox 5"/>
          <p:cNvSpPr/>
          <p:nvPr/>
        </p:nvSpPr>
        <p:spPr>
          <a:xfrm>
            <a:off x="567000" y="311040"/>
            <a:ext cx="80215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ffffff"/>
                </a:solidFill>
                <a:latin typeface="Segoe UI"/>
              </a:rPr>
              <a:t>What one person learns, the whole company keeps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6"/>
          <p:cNvSpPr/>
          <p:nvPr/>
        </p:nvSpPr>
        <p:spPr>
          <a:xfrm>
            <a:off x="567000" y="896040"/>
            <a:ext cx="80215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b8c7d9"/>
                </a:solidFill>
                <a:latin typeface="Segoe UI"/>
              </a:rPr>
              <a:t>Each machine learns on its own. Secrets are stripped, a team lead merges the rest, and other teams read it.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Oval 7"/>
          <p:cNvSpPr/>
          <p:nvPr/>
        </p:nvSpPr>
        <p:spPr>
          <a:xfrm>
            <a:off x="886320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2" name="TextBox 8"/>
          <p:cNvSpPr/>
          <p:nvPr/>
        </p:nvSpPr>
        <p:spPr>
          <a:xfrm>
            <a:off x="886320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8,606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9"/>
          <p:cNvSpPr/>
          <p:nvPr/>
        </p:nvSpPr>
        <p:spPr>
          <a:xfrm>
            <a:off x="871704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tests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Oval 10"/>
          <p:cNvSpPr/>
          <p:nvPr/>
        </p:nvSpPr>
        <p:spPr>
          <a:xfrm>
            <a:off x="985068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b6cb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" name="TextBox 11"/>
          <p:cNvSpPr/>
          <p:nvPr/>
        </p:nvSpPr>
        <p:spPr>
          <a:xfrm>
            <a:off x="985068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82.8%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12"/>
          <p:cNvSpPr/>
          <p:nvPr/>
        </p:nvSpPr>
        <p:spPr>
          <a:xfrm>
            <a:off x="970452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covered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Oval 13"/>
          <p:cNvSpPr/>
          <p:nvPr/>
        </p:nvSpPr>
        <p:spPr>
          <a:xfrm>
            <a:off x="10838520" y="274320"/>
            <a:ext cx="785880" cy="785880"/>
          </a:xfrm>
          <a:prstGeom prst="ellipse">
            <a:avLst/>
          </a:prstGeom>
          <a:solidFill>
            <a:srgbClr val="142c45"/>
          </a:solidFill>
          <a:ln w="19050">
            <a:solidFill>
              <a:srgbClr val="2f7a5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8" name="TextBox 14"/>
          <p:cNvSpPr/>
          <p:nvPr/>
        </p:nvSpPr>
        <p:spPr>
          <a:xfrm>
            <a:off x="10838520" y="420480"/>
            <a:ext cx="785880" cy="22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ffffff"/>
                </a:solidFill>
                <a:latin typeface="Segoe UI"/>
              </a:rPr>
              <a:t>A·A·A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TextBox 15"/>
          <p:cNvSpPr/>
          <p:nvPr/>
        </p:nvSpPr>
        <p:spPr>
          <a:xfrm>
            <a:off x="10692000" y="1115640"/>
            <a:ext cx="1078560" cy="12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9fb3c8"/>
                </a:solidFill>
                <a:latin typeface="Segoe UI"/>
              </a:rPr>
              <a:t>ratings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Box 16"/>
          <p:cNvSpPr/>
          <p:nvPr/>
        </p:nvSpPr>
        <p:spPr>
          <a:xfrm>
            <a:off x="11521440" y="6455520"/>
            <a:ext cx="456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950" spc="-1" strike="noStrike">
                <a:solidFill>
                  <a:srgbClr val="94a3b8"/>
                </a:solidFill>
                <a:latin typeface="Segoe UI"/>
              </a:rPr>
              <a:t>4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Oval 17"/>
          <p:cNvSpPr/>
          <p:nvPr/>
        </p:nvSpPr>
        <p:spPr>
          <a:xfrm>
            <a:off x="1207080" y="1627560"/>
            <a:ext cx="4169160" cy="4169160"/>
          </a:xfrm>
          <a:prstGeom prst="ellipse">
            <a:avLst/>
          </a:prstGeom>
          <a:solidFill>
            <a:srgbClr val="eef6f6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Oval 18"/>
          <p:cNvSpPr/>
          <p:nvPr/>
        </p:nvSpPr>
        <p:spPr>
          <a:xfrm>
            <a:off x="1810440" y="2231280"/>
            <a:ext cx="2962440" cy="2962440"/>
          </a:xfrm>
          <a:prstGeom prst="ellipse">
            <a:avLst/>
          </a:prstGeom>
          <a:solidFill>
            <a:srgbClr val="e2f0f0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Oval 19"/>
          <p:cNvSpPr/>
          <p:nvPr/>
        </p:nvSpPr>
        <p:spPr>
          <a:xfrm>
            <a:off x="2432160" y="2853000"/>
            <a:ext cx="1718640" cy="171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4" name="TextBox 20"/>
          <p:cNvSpPr/>
          <p:nvPr/>
        </p:nvSpPr>
        <p:spPr>
          <a:xfrm>
            <a:off x="2505600" y="3438000"/>
            <a:ext cx="15724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1a202c"/>
                </a:solidFill>
                <a:latin typeface="Segoe UI"/>
              </a:rPr>
              <a:t>One machine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1a202c"/>
                </a:solidFill>
                <a:latin typeface="Segoe UI"/>
              </a:rPr>
              <a:t>learns from every run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Box 21"/>
          <p:cNvSpPr/>
          <p:nvPr/>
        </p:nvSpPr>
        <p:spPr>
          <a:xfrm>
            <a:off x="1920240" y="2359080"/>
            <a:ext cx="2742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OUR TEAM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Box 22"/>
          <p:cNvSpPr/>
          <p:nvPr/>
        </p:nvSpPr>
        <p:spPr>
          <a:xfrm>
            <a:off x="1554480" y="1737360"/>
            <a:ext cx="34743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c7a7b"/>
                </a:solidFill>
                <a:latin typeface="Segoe UI"/>
              </a:rPr>
              <a:t>THE COMPANY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Oval 23"/>
          <p:cNvSpPr/>
          <p:nvPr/>
        </p:nvSpPr>
        <p:spPr>
          <a:xfrm>
            <a:off x="3985560" y="236484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8" name="Oval 24"/>
          <p:cNvSpPr/>
          <p:nvPr/>
        </p:nvSpPr>
        <p:spPr>
          <a:xfrm>
            <a:off x="4496040" y="290304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Oval 25"/>
          <p:cNvSpPr/>
          <p:nvPr/>
        </p:nvSpPr>
        <p:spPr>
          <a:xfrm>
            <a:off x="4681800" y="362088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Oval 26"/>
          <p:cNvSpPr/>
          <p:nvPr/>
        </p:nvSpPr>
        <p:spPr>
          <a:xfrm>
            <a:off x="4496040" y="433908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1" name="Oval 27"/>
          <p:cNvSpPr/>
          <p:nvPr/>
        </p:nvSpPr>
        <p:spPr>
          <a:xfrm>
            <a:off x="3985560" y="4877280"/>
            <a:ext cx="182520" cy="182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c7a7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2" name="Oval 28"/>
          <p:cNvSpPr/>
          <p:nvPr/>
        </p:nvSpPr>
        <p:spPr>
          <a:xfrm>
            <a:off x="4327920" y="187596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3" name="Oval 29"/>
          <p:cNvSpPr/>
          <p:nvPr/>
        </p:nvSpPr>
        <p:spPr>
          <a:xfrm>
            <a:off x="4851000" y="234144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4" name="Oval 30"/>
          <p:cNvSpPr/>
          <p:nvPr/>
        </p:nvSpPr>
        <p:spPr>
          <a:xfrm>
            <a:off x="5190480" y="295380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5" name="Oval 31"/>
          <p:cNvSpPr/>
          <p:nvPr/>
        </p:nvSpPr>
        <p:spPr>
          <a:xfrm>
            <a:off x="5308200" y="364392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6" name="Oval 32"/>
          <p:cNvSpPr/>
          <p:nvPr/>
        </p:nvSpPr>
        <p:spPr>
          <a:xfrm>
            <a:off x="5190480" y="433404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7" name="Oval 33"/>
          <p:cNvSpPr/>
          <p:nvPr/>
        </p:nvSpPr>
        <p:spPr>
          <a:xfrm>
            <a:off x="4851000" y="494640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8" name="Oval 34"/>
          <p:cNvSpPr/>
          <p:nvPr/>
        </p:nvSpPr>
        <p:spPr>
          <a:xfrm>
            <a:off x="4327920" y="5411880"/>
            <a:ext cx="136800" cy="136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a9a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9" name="Rounded Rectangle 35"/>
          <p:cNvSpPr/>
          <p:nvPr/>
        </p:nvSpPr>
        <p:spPr>
          <a:xfrm>
            <a:off x="2258640" y="4361760"/>
            <a:ext cx="2066040" cy="420120"/>
          </a:xfrm>
          <a:prstGeom prst="roundRect">
            <a:avLst>
              <a:gd name="adj" fmla="val 35000"/>
            </a:avLst>
          </a:prstGeom>
          <a:solidFill>
            <a:srgbClr val="fdf3e2"/>
          </a:solidFill>
          <a:ln w="12700">
            <a:solidFill>
              <a:srgbClr val="b7791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0" name="TextBox 36"/>
          <p:cNvSpPr/>
          <p:nvPr/>
        </p:nvSpPr>
        <p:spPr>
          <a:xfrm>
            <a:off x="2258640" y="4416480"/>
            <a:ext cx="20660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b7791f"/>
                </a:solidFill>
                <a:latin typeface="Segoe UI"/>
              </a:rPr>
              <a:t>secrets stripped here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37"/>
          <p:cNvSpPr/>
          <p:nvPr/>
        </p:nvSpPr>
        <p:spPr>
          <a:xfrm>
            <a:off x="567000" y="5888880"/>
            <a:ext cx="512028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i="1" lang="en-US" sz="900" spc="-1" strike="noStrike">
                <a:solidFill>
                  <a:srgbClr val="64748b"/>
                </a:solidFill>
                <a:latin typeface="Segoe UI"/>
              </a:rPr>
              <a:t>only distilled notes travel — transcripts and raw captures never leave the machine that made them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Rectangle 38"/>
          <p:cNvSpPr/>
          <p:nvPr/>
        </p:nvSpPr>
        <p:spPr>
          <a:xfrm>
            <a:off x="6035040" y="1774080"/>
            <a:ext cx="45360" cy="1170000"/>
          </a:xfrm>
          <a:prstGeom prst="rect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3" name="TextBox 39"/>
          <p:cNvSpPr/>
          <p:nvPr/>
        </p:nvSpPr>
        <p:spPr>
          <a:xfrm>
            <a:off x="6217920" y="1774080"/>
            <a:ext cx="2742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2f7a57"/>
                </a:solidFill>
                <a:latin typeface="Segoe UI"/>
              </a:rPr>
              <a:t>Our team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Oval 40"/>
          <p:cNvSpPr/>
          <p:nvPr/>
        </p:nvSpPr>
        <p:spPr>
          <a:xfrm>
            <a:off x="6217920" y="2084760"/>
            <a:ext cx="273960" cy="273960"/>
          </a:xfrm>
          <a:prstGeom prst="ellipse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TextBox 41"/>
          <p:cNvSpPr/>
          <p:nvPr/>
        </p:nvSpPr>
        <p:spPr>
          <a:xfrm>
            <a:off x="6217920" y="2116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◆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Box 42"/>
          <p:cNvSpPr/>
          <p:nvPr/>
        </p:nvSpPr>
        <p:spPr>
          <a:xfrm>
            <a:off x="6602040" y="20664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a fix found once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is known by everyone tomorrow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Oval 43"/>
          <p:cNvSpPr/>
          <p:nvPr/>
        </p:nvSpPr>
        <p:spPr>
          <a:xfrm>
            <a:off x="6217920" y="2368440"/>
            <a:ext cx="273960" cy="273960"/>
          </a:xfrm>
          <a:prstGeom prst="ellipse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8" name="TextBox 44"/>
          <p:cNvSpPr/>
          <p:nvPr/>
        </p:nvSpPr>
        <p:spPr>
          <a:xfrm>
            <a:off x="6217920" y="240048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◆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45"/>
          <p:cNvSpPr/>
          <p:nvPr/>
        </p:nvSpPr>
        <p:spPr>
          <a:xfrm>
            <a:off x="6602040" y="235008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a new joiner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reads the team's real history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Oval 46"/>
          <p:cNvSpPr/>
          <p:nvPr/>
        </p:nvSpPr>
        <p:spPr>
          <a:xfrm>
            <a:off x="6217920" y="2651760"/>
            <a:ext cx="273960" cy="273960"/>
          </a:xfrm>
          <a:prstGeom prst="ellipse">
            <a:avLst/>
          </a:prstGeom>
          <a:solidFill>
            <a:srgbClr val="2f7a5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" name="TextBox 47"/>
          <p:cNvSpPr/>
          <p:nvPr/>
        </p:nvSpPr>
        <p:spPr>
          <a:xfrm>
            <a:off x="6217920" y="26838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◆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48"/>
          <p:cNvSpPr/>
          <p:nvPr/>
        </p:nvSpPr>
        <p:spPr>
          <a:xfrm>
            <a:off x="6602040" y="26334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f7a57"/>
                </a:solidFill>
                <a:latin typeface="Segoe UI"/>
              </a:rPr>
              <a:t>people leave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and their know-how stays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Rectangle 49"/>
          <p:cNvSpPr/>
          <p:nvPr/>
        </p:nvSpPr>
        <p:spPr>
          <a:xfrm>
            <a:off x="6035040" y="3017520"/>
            <a:ext cx="45360" cy="11700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4" name="TextBox 50"/>
          <p:cNvSpPr/>
          <p:nvPr/>
        </p:nvSpPr>
        <p:spPr>
          <a:xfrm>
            <a:off x="6217920" y="3017520"/>
            <a:ext cx="2742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2b6cb0"/>
                </a:solidFill>
                <a:latin typeface="Segoe UI"/>
              </a:rPr>
              <a:t>The company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Oval 51"/>
          <p:cNvSpPr/>
          <p:nvPr/>
        </p:nvSpPr>
        <p:spPr>
          <a:xfrm>
            <a:off x="6217920" y="332856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" name="TextBox 52"/>
          <p:cNvSpPr/>
          <p:nvPr/>
        </p:nvSpPr>
        <p:spPr>
          <a:xfrm>
            <a:off x="6217920" y="336060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■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Box 53"/>
          <p:cNvSpPr/>
          <p:nvPr/>
        </p:nvSpPr>
        <p:spPr>
          <a:xfrm>
            <a:off x="6602040" y="33102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one place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serves many teams at once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Oval 54"/>
          <p:cNvSpPr/>
          <p:nvPr/>
        </p:nvSpPr>
        <p:spPr>
          <a:xfrm>
            <a:off x="6217920" y="361188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9" name="TextBox 55"/>
          <p:cNvSpPr/>
          <p:nvPr/>
        </p:nvSpPr>
        <p:spPr>
          <a:xfrm>
            <a:off x="6217920" y="364392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■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TextBox 56"/>
          <p:cNvSpPr/>
          <p:nvPr/>
        </p:nvSpPr>
        <p:spPr>
          <a:xfrm>
            <a:off x="6602040" y="359352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each team's memory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stays its own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Oval 57"/>
          <p:cNvSpPr/>
          <p:nvPr/>
        </p:nvSpPr>
        <p:spPr>
          <a:xfrm>
            <a:off x="6217920" y="3895200"/>
            <a:ext cx="273960" cy="273960"/>
          </a:xfrm>
          <a:prstGeom prst="ellipse">
            <a:avLst/>
          </a:prstGeom>
          <a:solidFill>
            <a:srgbClr val="2b6cb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" name="TextBox 58"/>
          <p:cNvSpPr/>
          <p:nvPr/>
        </p:nvSpPr>
        <p:spPr>
          <a:xfrm>
            <a:off x="6217920" y="39272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■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Box 59"/>
          <p:cNvSpPr/>
          <p:nvPr/>
        </p:nvSpPr>
        <p:spPr>
          <a:xfrm>
            <a:off x="6602040" y="387720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2b6cb0"/>
                </a:solidFill>
                <a:latin typeface="Segoe UI"/>
              </a:rPr>
              <a:t>nothing to run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— it is files in a folder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Rectangle 60"/>
          <p:cNvSpPr/>
          <p:nvPr/>
        </p:nvSpPr>
        <p:spPr>
          <a:xfrm>
            <a:off x="6035040" y="4260960"/>
            <a:ext cx="45360" cy="1170000"/>
          </a:xfrm>
          <a:prstGeom prst="rect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5" name="TextBox 61"/>
          <p:cNvSpPr/>
          <p:nvPr/>
        </p:nvSpPr>
        <p:spPr>
          <a:xfrm>
            <a:off x="6217920" y="4260960"/>
            <a:ext cx="274284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6b46c1"/>
                </a:solidFill>
                <a:latin typeface="Segoe UI"/>
              </a:rPr>
              <a:t>Legal and audit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Oval 62"/>
          <p:cNvSpPr/>
          <p:nvPr/>
        </p:nvSpPr>
        <p:spPr>
          <a:xfrm>
            <a:off x="6217920" y="4572000"/>
            <a:ext cx="273960" cy="273960"/>
          </a:xfrm>
          <a:prstGeom prst="ellipse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TextBox 63"/>
          <p:cNvSpPr/>
          <p:nvPr/>
        </p:nvSpPr>
        <p:spPr>
          <a:xfrm>
            <a:off x="6217920" y="4604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64"/>
          <p:cNvSpPr/>
          <p:nvPr/>
        </p:nvSpPr>
        <p:spPr>
          <a:xfrm>
            <a:off x="6602040" y="455364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6b46c1"/>
                </a:solidFill>
                <a:latin typeface="Segoe UI"/>
              </a:rPr>
              <a:t>passwords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are blocked before sharing, not after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Oval 65"/>
          <p:cNvSpPr/>
          <p:nvPr/>
        </p:nvSpPr>
        <p:spPr>
          <a:xfrm>
            <a:off x="6217920" y="4855320"/>
            <a:ext cx="273960" cy="273960"/>
          </a:xfrm>
          <a:prstGeom prst="ellipse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0" name="TextBox 66"/>
          <p:cNvSpPr/>
          <p:nvPr/>
        </p:nvSpPr>
        <p:spPr>
          <a:xfrm>
            <a:off x="6217920" y="488736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Box 67"/>
          <p:cNvSpPr/>
          <p:nvPr/>
        </p:nvSpPr>
        <p:spPr>
          <a:xfrm>
            <a:off x="6602040" y="483732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6b46c1"/>
                </a:solidFill>
                <a:latin typeface="Segoe UI"/>
              </a:rPr>
              <a:t>every merge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is saved and can be undone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Oval 68"/>
          <p:cNvSpPr/>
          <p:nvPr/>
        </p:nvSpPr>
        <p:spPr>
          <a:xfrm>
            <a:off x="6217920" y="5139000"/>
            <a:ext cx="273960" cy="273960"/>
          </a:xfrm>
          <a:prstGeom prst="ellipse">
            <a:avLst/>
          </a:prstGeom>
          <a:solidFill>
            <a:srgbClr val="6b46c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3" name="TextBox 69"/>
          <p:cNvSpPr/>
          <p:nvPr/>
        </p:nvSpPr>
        <p:spPr>
          <a:xfrm>
            <a:off x="6217920" y="5171040"/>
            <a:ext cx="2739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Segoe UI"/>
              </a:rPr>
              <a:t>●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70"/>
          <p:cNvSpPr/>
          <p:nvPr/>
        </p:nvSpPr>
        <p:spPr>
          <a:xfrm>
            <a:off x="6602040" y="5120640"/>
            <a:ext cx="502884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50" spc="-1" strike="noStrike">
                <a:solidFill>
                  <a:srgbClr val="6b46c1"/>
                </a:solidFill>
                <a:latin typeface="Segoe UI"/>
              </a:rPr>
              <a:t>delete the folder </a:t>
            </a:r>
            <a:r>
              <a:rPr b="0" lang="en-US" sz="950" spc="-1" strike="noStrike">
                <a:solidFill>
                  <a:srgbClr val="1a202c"/>
                </a:solidFill>
                <a:latin typeface="Segoe UI"/>
              </a:rPr>
              <a:t>and it is gone — no second copy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71"/>
          <p:cNvSpPr/>
          <p:nvPr/>
        </p:nvSpPr>
        <p:spPr>
          <a:xfrm>
            <a:off x="6035040" y="5468040"/>
            <a:ext cx="36572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900" spc="-1" strike="noStrike">
                <a:solidFill>
                  <a:srgbClr val="94a3b8"/>
                </a:solidFill>
                <a:latin typeface="Segoe UI"/>
              </a:rPr>
              <a:t>HOW WE WOULD ROLL IT OUT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16" name="Connector 72"/>
          <p:cNvCxnSpPr/>
          <p:nvPr/>
        </p:nvCxnSpPr>
        <p:spPr>
          <a:xfrm>
            <a:off x="6144480" y="5888520"/>
            <a:ext cx="5212440" cy="360"/>
          </a:xfrm>
          <a:prstGeom prst="straightConnector1">
            <a:avLst/>
          </a:prstGeom>
          <a:ln>
            <a:solidFill>
              <a:srgbClr val="e2e8f0"/>
            </a:solidFill>
            <a:round/>
          </a:ln>
        </p:spPr>
      </p:cxnSp>
      <p:sp>
        <p:nvSpPr>
          <p:cNvPr id="317" name="Oval 73"/>
          <p:cNvSpPr/>
          <p:nvPr/>
        </p:nvSpPr>
        <p:spPr>
          <a:xfrm>
            <a:off x="6144840" y="5779080"/>
            <a:ext cx="219240" cy="21924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8" name="TextBox 74"/>
          <p:cNvSpPr/>
          <p:nvPr/>
        </p:nvSpPr>
        <p:spPr>
          <a:xfrm>
            <a:off x="6437520" y="5742360"/>
            <a:ext cx="1462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one team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75"/>
          <p:cNvSpPr/>
          <p:nvPr/>
        </p:nvSpPr>
        <p:spPr>
          <a:xfrm>
            <a:off x="6437520" y="5934600"/>
            <a:ext cx="146268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on real tickets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Oval 76"/>
          <p:cNvSpPr/>
          <p:nvPr/>
        </p:nvSpPr>
        <p:spPr>
          <a:xfrm>
            <a:off x="7918560" y="5779080"/>
            <a:ext cx="219240" cy="21924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TextBox 77"/>
          <p:cNvSpPr/>
          <p:nvPr/>
        </p:nvSpPr>
        <p:spPr>
          <a:xfrm>
            <a:off x="8211240" y="5742360"/>
            <a:ext cx="1462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a second team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78"/>
          <p:cNvSpPr/>
          <p:nvPr/>
        </p:nvSpPr>
        <p:spPr>
          <a:xfrm>
            <a:off x="8211240" y="5934600"/>
            <a:ext cx="14626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same admin, memory already there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Oval 79"/>
          <p:cNvSpPr/>
          <p:nvPr/>
        </p:nvSpPr>
        <p:spPr>
          <a:xfrm>
            <a:off x="9692640" y="5779080"/>
            <a:ext cx="219240" cy="219240"/>
          </a:xfrm>
          <a:prstGeom prst="ellipse">
            <a:avLst/>
          </a:prstGeom>
          <a:solidFill>
            <a:srgbClr val="2c7a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TextBox 80"/>
          <p:cNvSpPr/>
          <p:nvPr/>
        </p:nvSpPr>
        <p:spPr>
          <a:xfrm>
            <a:off x="9985320" y="5742360"/>
            <a:ext cx="1462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000" spc="-1" strike="noStrike">
                <a:solidFill>
                  <a:srgbClr val="1a202c"/>
                </a:solidFill>
                <a:latin typeface="Segoe UI"/>
              </a:rPr>
              <a:t>company-wide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Box 81"/>
          <p:cNvSpPr/>
          <p:nvPr/>
        </p:nvSpPr>
        <p:spPr>
          <a:xfrm>
            <a:off x="9985320" y="5934600"/>
            <a:ext cx="1462680" cy="1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64748b"/>
                </a:solidFill>
                <a:latin typeface="Segoe UI"/>
              </a:rPr>
              <a:t>after a month of two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