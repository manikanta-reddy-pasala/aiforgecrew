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process, one port, one folder of state (measured on main @ 7d9e60ae, 2026-09-06).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 — the same single command. Upgrades pull and restart; the data</a:t>
            </a:r>
          </a:p>
          <a:p>
            <a:r>
              <a:t>migrates in place. Backup is copying one folder.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function-calling. Simple mode writes, Plan mode is</a:t>
            </a:r>
          </a:p>
          <a:p>
            <a:r>
              <a:t>read-only, Team mode runs the whole pipeline.</a:t>
            </a:r>
          </a:p>
          <a:p/>
          <a:p>
            <a:r>
              <a:t>108 tools in the chat catalogue, 19 agent roles, 71,204 lines of</a:t>
            </a:r>
          </a:p>
          <a:p>
            <a:r>
              <a:t>production code, 8,606 tests, zero findings of any kind from the scanner.</a:t>
            </a:r>
          </a:p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itself. A tree-sitter and</a:t>
            </a:r>
          </a:p>
          <a:p>
            <a:r>
              <a:t>PageRank repo map plus 5 knowledge-graph tools choose context instead of</a:t>
            </a:r>
          </a:p>
          <a:p>
            <a:r>
              <a:t>pasting it. Persistent shell, language server, type-checker, test runner and</a:t>
            </a:r>
          </a:p>
          <a:p>
            <a:r>
              <a:t>an IPython kernel are all real, not simulated. A local vision model can look</a:t>
            </a:r>
          </a:p>
          <a:p>
            <a:r>
              <a:t>at the running app.</a:t>
            </a:r>
          </a:p>
          <a:p/>
          <a:p>
            <a:r>
              <a:t>Where we go beyond the open-source terminal agents (OpenCode, Aider, Cline):</a:t>
            </a:r>
          </a:p>
          <a:p>
            <a:r>
              <a:t>they stop at one developer's machine and one chat loop, and leave the</a:t>
            </a:r>
          </a:p>
          <a:p>
            <a:r>
              <a:t>enterprise plumbing to you — shared team memory, one egress gate across tool,</a:t>
            </a:r>
          </a:p>
          <a:p>
            <a:r>
              <a:t>shell and notebook, our own certificate authority, and approvals before</a:t>
            </a:r>
          </a:p>
          <a:p>
            <a:r>
              <a:t>anything reaches outside.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</a:t>
            </a:r>
          </a:p>
          <a:p>
            <a:r>
              <a:t>walk around by changing transport is a suggestion, so one module —</a:t>
            </a:r>
          </a:p>
          <a:p>
            <a:r>
              <a:t>net/egress.py — answers on all three paths and after every redirect, and a</a:t>
            </a:r>
          </a:p>
          <a:p>
            <a:r>
              <a:t>missing allow-list entry is DENIED rather than escalated to a human. Every</a:t>
            </a:r>
          </a:p>
          <a:p>
            <a:r>
              <a:t>control here began as a bypass that WORKED in testing, and each is pinned by a</a:t>
            </a:r>
          </a:p>
          <a:p>
            <a:r>
              <a:t>test verified to fail on the tree before the fix (measured on main @ 7d9e60ae, 2026-09-06).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</a:t>
            </a:r>
          </a:p>
          <a:p>
            <a:r>
              <a:t>&gt; /dev/tcp/host/port. Inbound: web fetch, crawl, headless browser, @mention</a:t>
            </a:r>
          </a:p>
          <a:p>
            <a:r>
              <a:t>expansion. Web SEARCH was deleted outright because the query string is our own</a:t>
            </a:r>
          </a:p>
          <a:p>
            <a:r>
              <a:t>data leaving the box. AIFORGE_EGRESS_OFF closes everything in one switch;</a:t>
            </a:r>
          </a:p>
          <a:p>
            <a:r>
              <a:t>per-class switches cover integrations, e-mail, telemetry, MCP and fleet sync.</a:t>
            </a:r>
          </a:p>
          <a:p>
            <a:r>
              <a:t>Loopback, LAN, a local registry and a push to a named remote stay allowed on</a:t>
            </a:r>
          </a:p>
          <a:p>
            <a:r>
              <a:t>purpose — a control that blocks ordinary work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boot. Loopback trust must be declared, because behind</a:t>
            </a:r>
          </a:p>
          <a:p>
            <a:r>
              <a:t>a same-host reverse proxy every request looks like 127.0.0.1 — which was a</a:t>
            </a:r>
          </a:p>
          <a:p>
            <a:r>
              <a:t>full auth bypass. CORS is an allow-list, never a wildcard. Limits: one shared</a:t>
            </a:r>
          </a:p>
          <a:p>
            <a:r>
              <a:t>token, so no per-user identity or SSO yet.</a:t>
            </a:r>
          </a:p>
          <a:p/>
          <a:p>
            <a:r>
              <a:t>Untrusted input: a ticket description or a fetched page reaches the model</a:t>
            </a:r>
          </a:p>
          <a:p>
            <a:r>
              <a:t>beside our own instruction and we do not classify it. So the answer is</a:t>
            </a:r>
          </a:p>
          <a:p>
            <a:r>
              <a:t>containment: 20 external-write tools ask a human, file tools are clamped to</a:t>
            </a:r>
          </a:p>
          <a:p>
            <a:r>
              <a:t>the workspace, Plan mode cannot write, and unattended runs refuse writes.</a:t>
            </a:r>
          </a:p>
          <a:p/>
          <a:p>
            <a:r>
              <a:t>Certificates: one bundle covers the model endpoint, Jira, Confluence, GitLab,</a:t>
            </a:r>
          </a:p>
          <a:p>
            <a:r>
              <a:t>our own HTTP and every subprocess (git, curl, npm). Roots and intermediates</a:t>
            </a:r>
          </a:p>
          <a:p>
            <a:r>
              <a:t>are added in Settings, listed with what each one is, and take hold with no</a:t>
            </a:r>
          </a:p>
          <a:p>
            <a:r>
              <a:t>restart. No CERT_NONE anywhere in the tree.</a:t>
            </a:r>
          </a:p>
          <a:p/>
          <a:p>
            <a:r>
              <a:t>Stated limits, printed in the product's own docs: the notebook guard is a</a:t>
            </a:r>
          </a:p>
          <a:p>
            <a:r>
              <a:t>guard and not a sandbox; a shell can open a socket the policy never sees;</a:t>
            </a:r>
          </a:p>
          <a:p>
            <a:r>
              <a:t>fleet sync is unauthenticated by default; role tool filters fail OPEN so a</a:t>
            </a:r>
          </a:p>
          <a:p>
            <a:r>
              <a:t>typo cannot brick an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 (measured on main @ 7d9e60ae, 2026-09-06). Each machine compacts what it learned locally. A</a:t>
            </a:r>
          </a:p>
          <a:p>
            <a:r>
              <a:t>redaction filter runs on the CLIENT before anything is advertised:</a:t>
            </a:r>
          </a:p>
          <a:p>
            <a:r>
              <a:t>credential-shaped and private notes are BLOCKED, never quietly edited. One team</a:t>
            </a:r>
          </a:p>
          <a:p>
            <a:r>
              <a:t>admin is the only merger, folding into per-group trees so two teams cannot mix,</a:t>
            </a:r>
          </a:p>
          <a:p>
            <a:r>
              <a:t>and one admin can serve many independent fleets — groups are discovered from</a:t>
            </a:r>
          </a:p>
          <a:p>
            <a:r>
              <a:t>the admin rather than hardcoded. Only distilled knowledge nodes travel;</a:t>
            </a:r>
          </a:p>
          <a:p>
            <a:r>
              <a:t>transcripts, captures and working notes never leave the machine that made them.</a:t>
            </a:r>
          </a:p>
          <a:p>
            <a:r>
              <a:t>Every merge is snapshotted and a revert endpoint restores it. Sync is</a:t>
            </a:r>
          </a:p>
          <a:p>
            <a:r>
              <a:t>spoke-initiated, so laptops behind NAT just work, and moving a machine is</a:t>
            </a:r>
          </a:p>
          <a:p>
            <a:r>
              <a:t>copying a directory. Deploy note: the admin holds the merged fold — bind it to</a:t>
            </a:r>
          </a:p>
          <a:p>
            <a:r>
              <a:t>the LAN or a WireGuard network, because the sync surface is open by default.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</a:t>
            </a:r>
          </a:p>
          <a:p>
            <a:r>
              <a:t>A/A/A ratings, 8,606 tests, 82.8% coverage as Sonar scopes it (86.7% by</a:t>
            </a:r>
          </a:p>
          <a:p>
            <a:r>
              <a:t>pytest-cov on the same run), 71,204 lines, 542 files, 0.1% duplication. Three</a:t>
            </a:r>
          </a:p>
          <a:p>
            <a:r>
              <a:t>test failures are named rather than rounded away: all three need a model</a:t>
            </a:r>
          </a:p>
          <a:p>
            <a:r>
              <a:t>actually served on the shared endpoint, which was empty. Nine standing</a:t>
            </a:r>
          </a:p>
          <a:p>
            <a:r>
              <a:t>vulnerabilities were closed by changing code — TLS pinning, scheme validation,</a:t>
            </a:r>
          </a:p>
          <a:p>
            <a:r>
              <a:t>digest usage — after two 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box. Backup is copying</a:t>
            </a:r>
          </a:p>
          <a:p>
            <a:r>
              <a:t>one folder, but there is no documented restore drill, and the traces name the</a:t>
            </a:r>
          </a:p>
          <a:p>
            <a:r>
              <a:t>BOX rather than a person.</a:t>
            </a:r>
          </a:p>
          <a:p/>
          <a:p>
            <a:r>
              <a:t>What it asks of us: one machine with a model on it, one folder to back up, and</a:t>
            </a:r>
          </a:p>
          <a:p>
            <a:r>
              <a:t>upgrades that pull, restart and migrate themselves. Decisions we still need:</a:t>
            </a:r>
          </a:p>
          <a:p>
            <a:r>
              <a:t>fund the scoring harness; name an owner and a stand-in; and pick the network</a:t>
            </a:r>
          </a:p>
          <a:p>
            <a:r>
              <a:t>that holds the company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3616" cy="1481328"/>
          </a:xfrm>
          <a:prstGeom prst="rect">
            <a:avLst/>
          </a:prstGeom>
          <a:solidFill>
            <a:srgbClr val="18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0" y="0"/>
            <a:ext cx="457200" cy="1481328"/>
          </a:xfrm>
          <a:prstGeom prst="rect">
            <a:avLst/>
          </a:prstGeom>
          <a:solidFill>
            <a:srgbClr val="11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703447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AIForgeCrew — a coding agent we run ourselves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703447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B8C7D9"/>
                </a:solidFill>
                <a:latin typeface="Segoe UI"/>
              </a:rPr>
              <a:t>Give it a ticket, get a merge request. Our code stays on our machines and talks to our own model.</a:t>
            </a:r>
          </a:p>
        </p:txBody>
      </p:sp>
      <p:sp>
        <p:nvSpPr>
          <p:cNvPr id="8" name="Oval 7"/>
          <p:cNvSpPr/>
          <p:nvPr/>
        </p:nvSpPr>
        <p:spPr>
          <a:xfrm>
            <a:off x="7875727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5727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9423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things it can do</a:t>
            </a:r>
          </a:p>
        </p:txBody>
      </p:sp>
      <p:sp>
        <p:nvSpPr>
          <p:cNvPr id="11" name="Oval 10"/>
          <p:cNvSpPr/>
          <p:nvPr/>
        </p:nvSpPr>
        <p:spPr>
          <a:xfrm>
            <a:off x="8863279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3279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6975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agents</a:t>
            </a:r>
          </a:p>
        </p:txBody>
      </p:sp>
      <p:sp>
        <p:nvSpPr>
          <p:cNvPr id="14" name="Oval 13"/>
          <p:cNvSpPr/>
          <p:nvPr/>
        </p:nvSpPr>
        <p:spPr>
          <a:xfrm>
            <a:off x="9850831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50831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8,606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4527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tests</a:t>
            </a:r>
          </a:p>
        </p:txBody>
      </p:sp>
      <p:sp>
        <p:nvSpPr>
          <p:cNvPr id="17" name="Oval 16"/>
          <p:cNvSpPr/>
          <p:nvPr/>
        </p:nvSpPr>
        <p:spPr>
          <a:xfrm>
            <a:off x="10838383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8383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2079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scan findings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Segoe UI"/>
              </a:rPr>
              <a:t>1</a:t>
            </a:r>
          </a:p>
        </p:txBody>
      </p:sp>
      <p:sp>
        <p:nvSpPr>
          <p:cNvPr id="21" name="Oval 20"/>
          <p:cNvSpPr/>
          <p:nvPr/>
        </p:nvSpPr>
        <p:spPr>
          <a:xfrm>
            <a:off x="4517136" y="1609344"/>
            <a:ext cx="2377440" cy="2377440"/>
          </a:xfrm>
          <a:prstGeom prst="ellipse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73168" y="1865376"/>
            <a:ext cx="1865376" cy="1865376"/>
          </a:xfrm>
          <a:prstGeom prst="ellipse">
            <a:avLst/>
          </a:prstGeom>
          <a:solidFill>
            <a:srgbClr val="18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300">
                <a:solidFill>
                  <a:srgbClr val="FFFFFF"/>
                </a:solidFill>
                <a:latin typeface="Segoe UI"/>
              </a:rPr>
              <a:t>One program</a:t>
            </a:r>
          </a:p>
          <a:p>
            <a:pPr algn="ctr"/>
            <a:r>
              <a:rPr b="0" sz="936">
                <a:solidFill>
                  <a:srgbClr val="FFFFFF"/>
                </a:solidFill>
                <a:latin typeface="Segoe UI"/>
              </a:rPr>
              <a:t>one port · one folder</a:t>
            </a:r>
          </a:p>
          <a:p>
            <a:pPr algn="ctr"/>
            <a:r>
              <a:rPr b="0" sz="936">
                <a:solidFill>
                  <a:srgbClr val="FFFFFF"/>
                </a:solidFill>
                <a:latin typeface="Segoe UI"/>
              </a:rPr>
              <a:t>no 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1700784"/>
            <a:ext cx="210312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1A202C"/>
                </a:solidFill>
                <a:latin typeface="Segoe UI"/>
              </a:rPr>
              <a:t>A ticket</a:t>
            </a:r>
          </a:p>
          <a:p>
            <a:pPr algn="ctr"/>
            <a:r>
              <a:rPr b="0" sz="792">
                <a:solidFill>
                  <a:srgbClr val="1A202C"/>
                </a:solidFill>
                <a:latin typeface="Segoe UI"/>
              </a:rPr>
              <a:t>Jira · GitLab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1956816"/>
            <a:ext cx="1792224" cy="841248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2395728"/>
            <a:ext cx="210312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1A202C"/>
                </a:solidFill>
                <a:latin typeface="Segoe UI"/>
              </a:rPr>
              <a:t>A chat</a:t>
            </a:r>
          </a:p>
          <a:p>
            <a:pPr algn="ctr"/>
            <a:r>
              <a:rPr b="0" sz="792">
                <a:solidFill>
                  <a:srgbClr val="1A202C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70048" y="2651760"/>
            <a:ext cx="1792224" cy="146304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090672"/>
            <a:ext cx="210312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1A202C"/>
                </a:solidFill>
                <a:latin typeface="Segoe UI"/>
              </a:rPr>
              <a:t>A schedule</a:t>
            </a:r>
          </a:p>
          <a:p>
            <a:pPr algn="ctr"/>
            <a:r>
              <a:rPr b="0" sz="792">
                <a:solidFill>
                  <a:srgbClr val="1A202C"/>
                </a:solidFill>
                <a:latin typeface="Segoe UI"/>
              </a:rPr>
              <a:t>runs unattended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670048" y="2798064"/>
            <a:ext cx="1792224" cy="548640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503920" y="1700784"/>
            <a:ext cx="3118104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2F7A57"/>
                </a:solidFill>
                <a:latin typeface="Segoe UI"/>
              </a:rPr>
              <a:t>Our own model</a:t>
            </a:r>
          </a:p>
          <a:p>
            <a:pPr algn="ctr"/>
            <a:r>
              <a:rPr b="0" sz="792">
                <a:solidFill>
                  <a:srgbClr val="2F7A57"/>
                </a:solidFill>
                <a:latin typeface="Segoe UI"/>
              </a:rPr>
              <a:t>on our hardware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949440" y="1956816"/>
            <a:ext cx="1554480" cy="841248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03920" y="2395728"/>
            <a:ext cx="3118104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6B46C1"/>
                </a:solidFill>
                <a:latin typeface="Segoe UI"/>
              </a:rPr>
              <a:t>Our tools</a:t>
            </a:r>
          </a:p>
          <a:p>
            <a:pPr algn="ctr"/>
            <a:r>
              <a:rPr b="0" sz="792">
                <a:solidFill>
                  <a:srgbClr val="6B46C1"/>
                </a:solidFill>
                <a:latin typeface="Segoe UI"/>
              </a:rPr>
              <a:t>Jira 21 · Confluence 14 · GitLab 10 · MCP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949440" y="2651760"/>
            <a:ext cx="1554480" cy="146304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503920" y="3090672"/>
            <a:ext cx="3118104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2C7A7B"/>
                </a:solidFill>
                <a:latin typeface="Segoe UI"/>
              </a:rPr>
              <a:t>Our memory</a:t>
            </a:r>
          </a:p>
          <a:p>
            <a:pPr algn="ctr"/>
            <a:r>
              <a:rPr b="0" sz="792">
                <a:solidFill>
                  <a:srgbClr val="2C7A7B"/>
                </a:solidFill>
                <a:latin typeface="Segoe UI"/>
              </a:rPr>
              <a:t>markdown + one SQLite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49440" y="2798064"/>
            <a:ext cx="1554480" cy="548640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380390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Segoe UI"/>
              </a:rPr>
              <a:t>WHAT GOES 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803904"/>
            <a:ext cx="31181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4A3B8"/>
                </a:solidFill>
                <a:latin typeface="Segoe UI"/>
              </a:rPr>
              <a:t>WHAT IT USES — ALL 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22452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Segoe UI"/>
              </a:rPr>
              <a:t>ONE TICKET, END TO END</a:t>
            </a:r>
          </a:p>
        </p:txBody>
      </p:sp>
      <p:sp>
        <p:nvSpPr>
          <p:cNvPr id="38" name="Chevron 37"/>
          <p:cNvSpPr/>
          <p:nvPr/>
        </p:nvSpPr>
        <p:spPr>
          <a:xfrm>
            <a:off x="566928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B6CB0"/>
                </a:solidFill>
                <a:latin typeface="Segoe UI"/>
              </a:rPr>
              <a:t>Understand</a:t>
            </a:r>
          </a:p>
        </p:txBody>
      </p:sp>
      <p:sp>
        <p:nvSpPr>
          <p:cNvPr id="39" name="Chevron 38"/>
          <p:cNvSpPr/>
          <p:nvPr/>
        </p:nvSpPr>
        <p:spPr>
          <a:xfrm>
            <a:off x="2377440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B6CB0"/>
                </a:solidFill>
                <a:latin typeface="Segoe UI"/>
              </a:rPr>
              <a:t>Plan</a:t>
            </a:r>
          </a:p>
        </p:txBody>
      </p:sp>
      <p:sp>
        <p:nvSpPr>
          <p:cNvPr id="40" name="Chevron 39"/>
          <p:cNvSpPr/>
          <p:nvPr/>
        </p:nvSpPr>
        <p:spPr>
          <a:xfrm>
            <a:off x="4187952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C7A7B"/>
                </a:solidFill>
                <a:latin typeface="Segoe UI"/>
              </a:rPr>
              <a:t>Write code</a:t>
            </a:r>
          </a:p>
        </p:txBody>
      </p:sp>
      <p:sp>
        <p:nvSpPr>
          <p:cNvPr id="41" name="Chevron 40"/>
          <p:cNvSpPr/>
          <p:nvPr/>
        </p:nvSpPr>
        <p:spPr>
          <a:xfrm>
            <a:off x="5998464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C7A7B"/>
                </a:solidFill>
                <a:latin typeface="Segoe UI"/>
              </a:rPr>
              <a:t>Test and fix</a:t>
            </a:r>
          </a:p>
        </p:txBody>
      </p:sp>
      <p:sp>
        <p:nvSpPr>
          <p:cNvPr id="42" name="Chevron 41"/>
          <p:cNvSpPr/>
          <p:nvPr/>
        </p:nvSpPr>
        <p:spPr>
          <a:xfrm>
            <a:off x="7808976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6B46C1"/>
                </a:solidFill>
                <a:latin typeface="Segoe UI"/>
              </a:rPr>
              <a:t>Check it works</a:t>
            </a:r>
          </a:p>
        </p:txBody>
      </p:sp>
      <p:sp>
        <p:nvSpPr>
          <p:cNvPr id="43" name="Chevron 42"/>
          <p:cNvSpPr/>
          <p:nvPr/>
        </p:nvSpPr>
        <p:spPr>
          <a:xfrm>
            <a:off x="9619488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2F7A57"/>
          </a:solidFill>
          <a:ln w="15875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FFFFFF"/>
                </a:solidFill>
                <a:latin typeface="Segoe UI"/>
              </a:rPr>
              <a:t>Merge request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193792"/>
            <a:ext cx="110550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up to four parts of the job run side by side, each in its own copy of the repo  ·  a person reviews the merge request — nothing merges itself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577840"/>
            <a:ext cx="11055096" cy="786384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68096" y="5705856"/>
            <a:ext cx="274320" cy="274320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" y="573786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" y="5687568"/>
            <a:ext cx="4919472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7791F"/>
                </a:solidFill>
                <a:latin typeface="Segoe UI"/>
              </a:rPr>
              <a:t>Writes its own playbook — </a:t>
            </a:r>
            <a:r>
              <a:rPr sz="950">
                <a:solidFill>
                  <a:srgbClr val="1A202C"/>
                </a:solidFill>
                <a:latin typeface="Segoe UI"/>
              </a:rPr>
              <a:t>plain-text rules, skills and workflows, tidied nightly</a:t>
            </a:r>
          </a:p>
        </p:txBody>
      </p:sp>
      <p:sp>
        <p:nvSpPr>
          <p:cNvPr id="49" name="Oval 48"/>
          <p:cNvSpPr/>
          <p:nvPr/>
        </p:nvSpPr>
        <p:spPr>
          <a:xfrm>
            <a:off x="6053328" y="5705856"/>
            <a:ext cx="274320" cy="2743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53328" y="573786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5687568"/>
            <a:ext cx="5010912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C7A7B"/>
                </a:solidFill>
                <a:latin typeface="Segoe UI"/>
              </a:rPr>
              <a:t>Remembers — </a:t>
            </a:r>
            <a:r>
              <a:rPr sz="950">
                <a:solidFill>
                  <a:srgbClr val="1A202C"/>
                </a:solidFill>
                <a:latin typeface="Segoe UI"/>
              </a:rPr>
              <a:t>what one machine learns, the team has tomorrow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601675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a fix found once becomes a step it repeats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601675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secrets are stripped before anything is shared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3616" cy="1481328"/>
          </a:xfrm>
          <a:prstGeom prst="rect">
            <a:avLst/>
          </a:prstGeom>
          <a:solidFill>
            <a:srgbClr val="18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0" y="0"/>
            <a:ext cx="457200" cy="1481328"/>
          </a:xfrm>
          <a:prstGeom prst="rect">
            <a:avLst/>
          </a:prstGeom>
          <a:solidFill>
            <a:srgbClr val="11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0220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Nothing gets out unless we allow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802203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B8C7D9"/>
                </a:solidFill>
                <a:latin typeface="Segoe UI"/>
              </a:rPr>
              <a:t>A tool call, a shell command and a notebook cell all reach the same gate and get the same answer.</a:t>
            </a:r>
          </a:p>
        </p:txBody>
      </p:sp>
      <p:sp>
        <p:nvSpPr>
          <p:cNvPr id="8" name="Oval 7"/>
          <p:cNvSpPr/>
          <p:nvPr/>
        </p:nvSpPr>
        <p:spPr>
          <a:xfrm>
            <a:off x="8863279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3279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6975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known weaknesses</a:t>
            </a:r>
          </a:p>
        </p:txBody>
      </p:sp>
      <p:sp>
        <p:nvSpPr>
          <p:cNvPr id="11" name="Oval 10"/>
          <p:cNvSpPr/>
          <p:nvPr/>
        </p:nvSpPr>
        <p:spPr>
          <a:xfrm>
            <a:off x="9850831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0831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527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usage data sent out</a:t>
            </a:r>
          </a:p>
        </p:txBody>
      </p:sp>
      <p:sp>
        <p:nvSpPr>
          <p:cNvPr id="14" name="Oval 13"/>
          <p:cNvSpPr/>
          <p:nvPr/>
        </p:nvSpPr>
        <p:spPr>
          <a:xfrm>
            <a:off x="10838383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8383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2079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actions that ask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2670048" y="1792223"/>
            <a:ext cx="3840480" cy="3840480"/>
          </a:xfrm>
          <a:prstGeom prst="ellipse">
            <a:avLst/>
          </a:prstGeom>
          <a:solidFill>
            <a:srgbClr val="EFF2F6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108960" y="2231135"/>
            <a:ext cx="2962656" cy="2962656"/>
          </a:xfrm>
          <a:prstGeom prst="ellipse">
            <a:avLst/>
          </a:prstGeom>
          <a:solidFill>
            <a:srgbClr val="FBECEC"/>
          </a:solidFill>
          <a:ln w="158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47873" y="2670048"/>
            <a:ext cx="2084830" cy="2084830"/>
          </a:xfrm>
          <a:prstGeom prst="ellipse">
            <a:avLst/>
          </a:prstGeom>
          <a:solidFill>
            <a:srgbClr val="FDF3E2"/>
          </a:solidFill>
          <a:ln w="15875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68496" y="3090671"/>
            <a:ext cx="1243584" cy="1243584"/>
          </a:xfrm>
          <a:prstGeom prst="ellipse">
            <a:avLst/>
          </a:prstGeom>
          <a:solidFill>
            <a:srgbClr val="18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Segoe UI"/>
              </a:rPr>
              <a:t>Our code</a:t>
            </a:r>
          </a:p>
          <a:p>
            <a:pPr algn="ctr"/>
            <a:r>
              <a:rPr b="0" sz="864">
                <a:solidFill>
                  <a:srgbClr val="FFFFFF"/>
                </a:solidFill>
                <a:latin typeface="Segoe UI"/>
              </a:rPr>
              <a:t>and our keys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1723135"/>
            <a:ext cx="2743200" cy="13817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1741423"/>
            <a:ext cx="2743200" cy="13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94A3B8"/>
                </a:solidFill>
                <a:latin typeface="Segoe UI"/>
              </a:rPr>
              <a:t>the firewall on the machine — yours, not 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8688" y="2162047"/>
            <a:ext cx="2743200" cy="13817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8688" y="2180335"/>
            <a:ext cx="2743200" cy="13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  <a:latin typeface="Segoe UI"/>
              </a:rPr>
              <a:t>ONE GATE  ·  tool · shell · notebook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18688" y="2600960"/>
            <a:ext cx="2743200" cy="13817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2619248"/>
            <a:ext cx="2743200" cy="13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7791F"/>
                </a:solidFill>
                <a:latin typeface="Segoe UI"/>
              </a:rPr>
              <a:t>workspace + approvals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798064"/>
            <a:ext cx="1700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A202C"/>
                </a:solidFill>
                <a:latin typeface="Segoe UI"/>
              </a:rPr>
              <a:t>A tool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990088"/>
            <a:ext cx="17007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Segoe UI"/>
              </a:rPr>
              <a:t>web · Jira · MCP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77440" y="2944368"/>
            <a:ext cx="274320" cy="530351"/>
          </a:xfrm>
          <a:prstGeom prst="line">
            <a:avLst/>
          </a:prstGeom>
          <a:ln w="190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3328416"/>
            <a:ext cx="1700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A202C"/>
                </a:solidFill>
                <a:latin typeface="Segoe UI"/>
              </a:rPr>
              <a:t>A shell command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520440"/>
            <a:ext cx="17007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77440" y="3474720"/>
            <a:ext cx="274320" cy="237743"/>
          </a:xfrm>
          <a:prstGeom prst="line">
            <a:avLst/>
          </a:prstGeom>
          <a:ln w="190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3858768"/>
            <a:ext cx="1700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A202C"/>
                </a:solidFill>
                <a:latin typeface="Segoe UI"/>
              </a:rPr>
              <a:t>A notebook cell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050792"/>
            <a:ext cx="17007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Segoe UI"/>
              </a:rPr>
              <a:t>its own code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2377440" y="3950207"/>
            <a:ext cx="274320" cy="54865"/>
          </a:xfrm>
          <a:prstGeom prst="line">
            <a:avLst/>
          </a:prstGeom>
          <a:ln w="190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4517136"/>
            <a:ext cx="188366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Segoe UI"/>
              </a:rPr>
              <a:t>the gate is code, not the model's judgement — a prompt cannot argue its way past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1883664"/>
            <a:ext cx="4937760" cy="1335024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1993392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7A57"/>
                </a:solidFill>
                <a:latin typeface="Segoe UI"/>
              </a:rPr>
              <a:t>✓  ALLOWED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22860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our own network and machines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56032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pushing to our own git remote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83464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deploying to a server we named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75120" y="3346704"/>
            <a:ext cx="4937760" cy="1609344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0" y="3456432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53030"/>
                </a:solidFill>
                <a:latin typeface="Segoe UI"/>
              </a:rPr>
              <a:t>✕  REFUSED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74903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copying files to an outside host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02335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uploading to cloud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9767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web search — removed completely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457199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anything not on the list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5120" y="5138928"/>
            <a:ext cx="493776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93408" y="5340096"/>
            <a:ext cx="274320" cy="274320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93408" y="537210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77456" y="5321808"/>
            <a:ext cx="4517136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7791F"/>
                </a:solidFill>
                <a:latin typeface="Segoe UI"/>
              </a:rPr>
              <a:t>Keys — </a:t>
            </a:r>
            <a:r>
              <a:rPr sz="950">
                <a:solidFill>
                  <a:srgbClr val="1A202C"/>
                </a:solidFill>
                <a:latin typeface="Segoe UI"/>
              </a:rPr>
              <a:t>one locked folder, never shown back</a:t>
            </a:r>
          </a:p>
        </p:txBody>
      </p:sp>
      <p:sp>
        <p:nvSpPr>
          <p:cNvPr id="53" name="Oval 52"/>
          <p:cNvSpPr/>
          <p:nvPr/>
        </p:nvSpPr>
        <p:spPr>
          <a:xfrm>
            <a:off x="6693408" y="5705856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93408" y="573786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7456" y="5687568"/>
            <a:ext cx="4517136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Certificates — </a:t>
            </a:r>
            <a:r>
              <a:rPr sz="950">
                <a:solidFill>
                  <a:srgbClr val="1A202C"/>
                </a:solidFill>
                <a:latin typeface="Segoe UI"/>
              </a:rPr>
              <a:t>our own CA, added in Settings, no restart</a:t>
            </a:r>
          </a:p>
        </p:txBody>
      </p:sp>
      <p:sp>
        <p:nvSpPr>
          <p:cNvPr id="56" name="Oval 55"/>
          <p:cNvSpPr/>
          <p:nvPr/>
        </p:nvSpPr>
        <p:spPr>
          <a:xfrm>
            <a:off x="6693408" y="6071616"/>
            <a:ext cx="274320" cy="2743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93408" y="610362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7456" y="6053328"/>
            <a:ext cx="4517136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C7A7B"/>
                </a:solidFill>
                <a:latin typeface="Segoe UI"/>
              </a:rPr>
              <a:t>Record — </a:t>
            </a:r>
            <a:r>
              <a:rPr sz="950">
                <a:solidFill>
                  <a:srgbClr val="1A202C"/>
                </a:solidFill>
                <a:latin typeface="Segoe UI"/>
              </a:rPr>
              <a:t>every step of every run is written down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6035040"/>
            <a:ext cx="5852160" cy="475488"/>
          </a:xfrm>
          <a:prstGeom prst="roundRect">
            <a:avLst>
              <a:gd name="adj" fmla="val 30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144768"/>
            <a:ext cx="5522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We do not claim a sealed box: a shell can still open a socket the gate never sees.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3616" cy="1481328"/>
          </a:xfrm>
          <a:prstGeom prst="rect">
            <a:avLst/>
          </a:prstGeom>
          <a:solidFill>
            <a:srgbClr val="18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0" y="0"/>
            <a:ext cx="457200" cy="1481328"/>
          </a:xfrm>
          <a:prstGeom prst="rect">
            <a:avLst/>
          </a:prstGeom>
          <a:solidFill>
            <a:srgbClr val="11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0220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802203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B8C7D9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8" name="Oval 7"/>
          <p:cNvSpPr/>
          <p:nvPr/>
        </p:nvSpPr>
        <p:spPr>
          <a:xfrm>
            <a:off x="8863279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3279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8,606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6975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tests</a:t>
            </a:r>
          </a:p>
        </p:txBody>
      </p:sp>
      <p:sp>
        <p:nvSpPr>
          <p:cNvPr id="11" name="Oval 10"/>
          <p:cNvSpPr/>
          <p:nvPr/>
        </p:nvSpPr>
        <p:spPr>
          <a:xfrm>
            <a:off x="9850831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0831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527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covered</a:t>
            </a:r>
          </a:p>
        </p:txBody>
      </p:sp>
      <p:sp>
        <p:nvSpPr>
          <p:cNvPr id="14" name="Oval 13"/>
          <p:cNvSpPr/>
          <p:nvPr/>
        </p:nvSpPr>
        <p:spPr>
          <a:xfrm>
            <a:off x="10838383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8383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A·A·A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2079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ratings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1207009" y="1627632"/>
            <a:ext cx="4169662" cy="4169662"/>
          </a:xfrm>
          <a:prstGeom prst="ellipse">
            <a:avLst/>
          </a:prstGeom>
          <a:solidFill>
            <a:srgbClr val="EEF6F6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10512" y="2231135"/>
            <a:ext cx="2962656" cy="2962656"/>
          </a:xfrm>
          <a:prstGeom prst="ellipse">
            <a:avLst/>
          </a:prstGeom>
          <a:solidFill>
            <a:srgbClr val="E2F0F0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32304" y="2852927"/>
            <a:ext cx="1719072" cy="17190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05456" y="3438143"/>
            <a:ext cx="15727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202C"/>
                </a:solidFill>
                <a:latin typeface="Segoe UI"/>
              </a:rPr>
              <a:t>One machine</a:t>
            </a:r>
          </a:p>
          <a:p>
            <a:pPr algn="ctr"/>
            <a:r>
              <a:rPr sz="1050" b="1" i="0">
                <a:solidFill>
                  <a:srgbClr val="1A202C"/>
                </a:solidFill>
                <a:latin typeface="Segoe UI"/>
              </a:rPr>
              <a:t>learns from every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35915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C7A7B"/>
                </a:solidFill>
                <a:latin typeface="Segoe UI"/>
              </a:rPr>
              <a:t>OUR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1737359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C7A7B"/>
                </a:solidFill>
                <a:latin typeface="Segoe UI"/>
              </a:rPr>
              <a:t>THE COMPANY</a:t>
            </a:r>
          </a:p>
        </p:txBody>
      </p:sp>
      <p:sp>
        <p:nvSpPr>
          <p:cNvPr id="24" name="Oval 23"/>
          <p:cNvSpPr/>
          <p:nvPr/>
        </p:nvSpPr>
        <p:spPr>
          <a:xfrm>
            <a:off x="3985384" y="236478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95998" y="2902861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81728" y="3621023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95998" y="4339185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85384" y="48772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8052" y="187584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51084" y="2341304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0525" y="295367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08091" y="3643883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190525" y="4334094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51084" y="494646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28052" y="541192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58568" y="4361687"/>
            <a:ext cx="2066543" cy="420624"/>
          </a:xfrm>
          <a:prstGeom prst="roundRect">
            <a:avLst>
              <a:gd name="adj" fmla="val 35000"/>
            </a:avLst>
          </a:prstGeom>
          <a:solidFill>
            <a:srgbClr val="FDF3E2"/>
          </a:solidFill>
          <a:ln w="1270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58568" y="4416551"/>
            <a:ext cx="206654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B7791F"/>
                </a:solidFill>
                <a:latin typeface="Segoe UI"/>
              </a:rPr>
              <a:t>secrets stripped here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888736"/>
            <a:ext cx="5120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Segoe UI"/>
              </a:rPr>
              <a:t>only distilled notes travel — transcripts and raw captures never leave the machine that made them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35040" y="1773936"/>
            <a:ext cx="45720" cy="1170432"/>
          </a:xfrm>
          <a:prstGeom prst="rect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1773936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F7A57"/>
                </a:solidFill>
                <a:latin typeface="Segoe UI"/>
              </a:rPr>
              <a:t>Our team</a:t>
            </a:r>
          </a:p>
        </p:txBody>
      </p:sp>
      <p:sp>
        <p:nvSpPr>
          <p:cNvPr id="41" name="Oval 40"/>
          <p:cNvSpPr/>
          <p:nvPr/>
        </p:nvSpPr>
        <p:spPr>
          <a:xfrm>
            <a:off x="6217920" y="2084832"/>
            <a:ext cx="274320" cy="274320"/>
          </a:xfrm>
          <a:prstGeom prst="ellipse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2116836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2066544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F7A57"/>
                </a:solidFill>
                <a:latin typeface="Segoe UI"/>
              </a:rPr>
              <a:t>a fix found once </a:t>
            </a:r>
            <a:r>
              <a:rPr sz="950">
                <a:solidFill>
                  <a:srgbClr val="1A202C"/>
                </a:solidFill>
                <a:latin typeface="Segoe UI"/>
              </a:rPr>
              <a:t>is known by everyone tomorrow</a:t>
            </a:r>
          </a:p>
        </p:txBody>
      </p:sp>
      <p:sp>
        <p:nvSpPr>
          <p:cNvPr id="44" name="Oval 43"/>
          <p:cNvSpPr/>
          <p:nvPr/>
        </p:nvSpPr>
        <p:spPr>
          <a:xfrm>
            <a:off x="6217920" y="2368296"/>
            <a:ext cx="274320" cy="274320"/>
          </a:xfrm>
          <a:prstGeom prst="ellipse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240030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350008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F7A57"/>
                </a:solidFill>
                <a:latin typeface="Segoe UI"/>
              </a:rPr>
              <a:t>a new joiner </a:t>
            </a:r>
            <a:r>
              <a:rPr sz="950">
                <a:solidFill>
                  <a:srgbClr val="1A202C"/>
                </a:solidFill>
                <a:latin typeface="Segoe UI"/>
              </a:rPr>
              <a:t>reads the team's real history</a:t>
            </a:r>
          </a:p>
        </p:txBody>
      </p:sp>
      <p:sp>
        <p:nvSpPr>
          <p:cNvPr id="47" name="Oval 46"/>
          <p:cNvSpPr/>
          <p:nvPr/>
        </p:nvSpPr>
        <p:spPr>
          <a:xfrm>
            <a:off x="6217920" y="2651760"/>
            <a:ext cx="274320" cy="274320"/>
          </a:xfrm>
          <a:prstGeom prst="ellipse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268376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1968" y="2633472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F7A57"/>
                </a:solidFill>
                <a:latin typeface="Segoe UI"/>
              </a:rPr>
              <a:t>people leave </a:t>
            </a:r>
            <a:r>
              <a:rPr sz="950">
                <a:solidFill>
                  <a:srgbClr val="1A202C"/>
                </a:solidFill>
                <a:latin typeface="Segoe UI"/>
              </a:rPr>
              <a:t>and their know-how stays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3017520"/>
            <a:ext cx="45720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301752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B6CB0"/>
                </a:solidFill>
                <a:latin typeface="Segoe UI"/>
              </a:rPr>
              <a:t>The company</a:t>
            </a:r>
          </a:p>
        </p:txBody>
      </p:sp>
      <p:sp>
        <p:nvSpPr>
          <p:cNvPr id="52" name="Oval 51"/>
          <p:cNvSpPr/>
          <p:nvPr/>
        </p:nvSpPr>
        <p:spPr>
          <a:xfrm>
            <a:off x="6217920" y="3328416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336042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1968" y="3310128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one place </a:t>
            </a:r>
            <a:r>
              <a:rPr sz="950">
                <a:solidFill>
                  <a:srgbClr val="1A202C"/>
                </a:solidFill>
                <a:latin typeface="Segoe UI"/>
              </a:rPr>
              <a:t>serves many teams at once</a:t>
            </a:r>
          </a:p>
        </p:txBody>
      </p:sp>
      <p:sp>
        <p:nvSpPr>
          <p:cNvPr id="55" name="Oval 54"/>
          <p:cNvSpPr/>
          <p:nvPr/>
        </p:nvSpPr>
        <p:spPr>
          <a:xfrm>
            <a:off x="6217920" y="3611880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364388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01968" y="3593592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each team's memory </a:t>
            </a:r>
            <a:r>
              <a:rPr sz="950">
                <a:solidFill>
                  <a:srgbClr val="1A202C"/>
                </a:solidFill>
                <a:latin typeface="Segoe UI"/>
              </a:rPr>
              <a:t>stays its own</a:t>
            </a:r>
          </a:p>
        </p:txBody>
      </p:sp>
      <p:sp>
        <p:nvSpPr>
          <p:cNvPr id="58" name="Oval 57"/>
          <p:cNvSpPr/>
          <p:nvPr/>
        </p:nvSpPr>
        <p:spPr>
          <a:xfrm>
            <a:off x="6217920" y="3895344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0" y="3927348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1968" y="3877056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nothing to run </a:t>
            </a:r>
            <a:r>
              <a:rPr sz="950">
                <a:solidFill>
                  <a:srgbClr val="1A202C"/>
                </a:solidFill>
                <a:latin typeface="Segoe UI"/>
              </a:rPr>
              <a:t>— it is files in a folder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4261104"/>
            <a:ext cx="45720" cy="1170432"/>
          </a:xfrm>
          <a:prstGeom prst="rect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0" y="4261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46C1"/>
                </a:solidFill>
                <a:latin typeface="Segoe UI"/>
              </a:rPr>
              <a:t>Legal and audit</a:t>
            </a:r>
          </a:p>
        </p:txBody>
      </p:sp>
      <p:sp>
        <p:nvSpPr>
          <p:cNvPr id="63" name="Oval 62"/>
          <p:cNvSpPr/>
          <p:nvPr/>
        </p:nvSpPr>
        <p:spPr>
          <a:xfrm>
            <a:off x="6217920" y="4572000"/>
            <a:ext cx="274320" cy="274320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46040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01968" y="4553712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Segoe UI"/>
              </a:rPr>
              <a:t>passwords </a:t>
            </a:r>
            <a:r>
              <a:rPr sz="950">
                <a:solidFill>
                  <a:srgbClr val="1A202C"/>
                </a:solidFill>
                <a:latin typeface="Segoe UI"/>
              </a:rPr>
              <a:t>are blocked before sharing, not after</a:t>
            </a:r>
          </a:p>
        </p:txBody>
      </p:sp>
      <p:sp>
        <p:nvSpPr>
          <p:cNvPr id="66" name="Oval 65"/>
          <p:cNvSpPr/>
          <p:nvPr/>
        </p:nvSpPr>
        <p:spPr>
          <a:xfrm>
            <a:off x="6217920" y="4855464"/>
            <a:ext cx="274320" cy="274320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0" y="4887468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01968" y="4837176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Segoe UI"/>
              </a:rPr>
              <a:t>every merge </a:t>
            </a:r>
            <a:r>
              <a:rPr sz="950">
                <a:solidFill>
                  <a:srgbClr val="1A202C"/>
                </a:solidFill>
                <a:latin typeface="Segoe UI"/>
              </a:rPr>
              <a:t>is saved and can be undone</a:t>
            </a:r>
          </a:p>
        </p:txBody>
      </p:sp>
      <p:sp>
        <p:nvSpPr>
          <p:cNvPr id="69" name="Oval 68"/>
          <p:cNvSpPr/>
          <p:nvPr/>
        </p:nvSpPr>
        <p:spPr>
          <a:xfrm>
            <a:off x="6217920" y="5138928"/>
            <a:ext cx="274320" cy="274320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0" y="5170932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01968" y="5120640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Segoe UI"/>
              </a:rPr>
              <a:t>delete the folder </a:t>
            </a:r>
            <a:r>
              <a:rPr sz="950">
                <a:solidFill>
                  <a:srgbClr val="1A202C"/>
                </a:solidFill>
                <a:latin typeface="Segoe UI"/>
              </a:rPr>
              <a:t>and it is gone — no second copy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0" y="5468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Segoe UI"/>
              </a:rPr>
              <a:t>HOW WE WOULD ROLL IT OUT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144768" y="5888736"/>
            <a:ext cx="5212080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6144768" y="5779008"/>
            <a:ext cx="219456" cy="21945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37376" y="57424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Segoe UI"/>
              </a:rPr>
              <a:t>one team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37376" y="593445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on real tickets</a:t>
            </a:r>
          </a:p>
        </p:txBody>
      </p:sp>
      <p:sp>
        <p:nvSpPr>
          <p:cNvPr id="77" name="Oval 76"/>
          <p:cNvSpPr/>
          <p:nvPr/>
        </p:nvSpPr>
        <p:spPr>
          <a:xfrm>
            <a:off x="7918704" y="5779008"/>
            <a:ext cx="219456" cy="21945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11312" y="57424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Segoe UI"/>
              </a:rPr>
              <a:t>a second team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1312" y="593445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same admin, memory already there</a:t>
            </a:r>
          </a:p>
        </p:txBody>
      </p:sp>
      <p:sp>
        <p:nvSpPr>
          <p:cNvPr id="80" name="Oval 79"/>
          <p:cNvSpPr/>
          <p:nvPr/>
        </p:nvSpPr>
        <p:spPr>
          <a:xfrm>
            <a:off x="9692640" y="5779008"/>
            <a:ext cx="219456" cy="21945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85248" y="57424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Segoe UI"/>
              </a:rPr>
              <a:t>company-wide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85248" y="593445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after a month of two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