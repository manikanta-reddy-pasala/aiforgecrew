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FastAPI process, one port, one folder of state (measured on main @ 7d9e60ae, 2026-09-06). Chat engine,</a:t>
            </a:r>
          </a:p>
          <a:p>
            <a:r>
              <a:t>agent pipeline, memory, integrations and job scheduler are libraries inside it.</a:t>
            </a:r>
          </a:p>
          <a:p>
            <a:r>
              <a:t>Python 3.12 and one model endpoint; no GPU, torch, Postgres, Neo4j, vector</a:t>
            </a:r>
          </a:p>
          <a:p>
            <a:r>
              <a:t>store or message broker. Runs on a desktop, a NUC, a server under systemd or a</a:t>
            </a:r>
          </a:p>
          <a:p>
            <a:r>
              <a:t>container — the same single command. Upgrades pull and restart; the data</a:t>
            </a:r>
          </a:p>
          <a:p>
            <a:r>
              <a:t>migrates in place. Backup is copying one folder.</a:t>
            </a:r>
          </a:p>
          <a:p/>
          <a:p>
            <a:r>
              <a:t>The pipeline in full: Triage, Enhancer, Architect, Planner, Verifier, then a</a:t>
            </a:r>
          </a:p>
          <a:p>
            <a:r>
              <a:t>build loop of up to four parallel subtasks each in its own git worktree (Doer</a:t>
            </a:r>
          </a:p>
          <a:p>
            <a:r>
              <a:t>edits, tests run, Feedback reads failures, Refiner fixes), then Validator</a:t>
            </a:r>
          </a:p>
          <a:p>
            <a:r>
              <a:t>gates, Live-verifier runs the real recipe, Learner writes memory back, and the</a:t>
            </a:r>
          </a:p>
          <a:p>
            <a:r>
              <a:t>result is a merge request a human reviews. Reasoning is plain text, so any</a:t>
            </a:r>
          </a:p>
          <a:p>
            <a:r>
              <a:t>model drives it — no vendor function-calling. Simple mode writes, Plan mode is</a:t>
            </a:r>
          </a:p>
          <a:p>
            <a:r>
              <a:t>read-only, Team mode runs the whole pipeline.</a:t>
            </a:r>
          </a:p>
          <a:p/>
          <a:p>
            <a:r>
              <a:t>108 tools in the chat catalogue, 19 agent roles, 71,204 lines of</a:t>
            </a:r>
          </a:p>
          <a:p>
            <a:r>
              <a:t>production code, 8,606 tests, zero findings of any kind from the scanner.</a:t>
            </a:r>
          </a:p>
          <a:p>
            <a:r>
              <a:t>Integrations: Jira 21 tools, Confluence 14, GitLab 10, plus GitHub, e-mail and</a:t>
            </a:r>
          </a:p>
          <a:p>
            <a:r>
              <a:t>any MCP server; a tool with no credentials hides itself. A tree-sitter and</a:t>
            </a:r>
          </a:p>
          <a:p>
            <a:r>
              <a:t>PageRank repo map plus 5 knowledge-graph tools choose context instead of</a:t>
            </a:r>
          </a:p>
          <a:p>
            <a:r>
              <a:t>pasting it. Persistent shell, language server, type-checker, test runner and</a:t>
            </a:r>
          </a:p>
          <a:p>
            <a:r>
              <a:t>an IPython kernel are all real, not simulated. A local vision model can look</a:t>
            </a:r>
          </a:p>
          <a:p>
            <a:r>
              <a:t>at the running app.</a:t>
            </a:r>
          </a:p>
          <a:p/>
          <a:p>
            <a:r>
              <a:t>Where we go beyond the open-source terminal agents (OpenCode, Aider, Cline):</a:t>
            </a:r>
          </a:p>
          <a:p>
            <a:r>
              <a:t>they stop at one developer's machine and one chat loop, and leave the</a:t>
            </a:r>
          </a:p>
          <a:p>
            <a:r>
              <a:t>enterprise plumbing to you — shared team memory, one egress gate across tool,</a:t>
            </a:r>
          </a:p>
          <a:p>
            <a:r>
              <a:t>shell and notebook, our own certificate authority, and approvals before</a:t>
            </a:r>
          </a:p>
          <a:p>
            <a:r>
              <a:t>anything reaches outside.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incident that set the bar: a fetch the tool refused was rerouted through a</a:t>
            </a:r>
          </a:p>
          <a:p>
            <a:r>
              <a:t>shell curl, then through a notebook cell, and it worked. A boundary you can</a:t>
            </a:r>
          </a:p>
          <a:p>
            <a:r>
              <a:t>walk around by changing transport is a suggestion, so one module —</a:t>
            </a:r>
          </a:p>
          <a:p>
            <a:r>
              <a:t>net/egress.py — answers on all three paths and after every redirect, and a</a:t>
            </a:r>
          </a:p>
          <a:p>
            <a:r>
              <a:t>missing allow-list entry is DENIED rather than escalated to a human. Every</a:t>
            </a:r>
          </a:p>
          <a:p>
            <a:r>
              <a:t>control here began as a bypass that WORKED in testing, and each is pinned by a</a:t>
            </a:r>
          </a:p>
          <a:p>
            <a:r>
              <a:t>test verified to fail on the tree before the fix (measured on main @ 7d9e60ae, 2026-09-06).</a:t>
            </a:r>
          </a:p>
          <a:p/>
          <a:p>
            <a:r>
              <a:t>Refused outbound: scp, rsync, sftp, ssh host 'cmd', curl -d/-F/-T, aws s3 cp,</a:t>
            </a:r>
          </a:p>
          <a:p>
            <a:r>
              <a:t>docker push, npm publish, git push to a URL, and bash's own</a:t>
            </a:r>
          </a:p>
          <a:p>
            <a:r>
              <a:t>&gt; /dev/tcp/host/port. Inbound: web fetch, crawl, headless browser, @mention</a:t>
            </a:r>
          </a:p>
          <a:p>
            <a:r>
              <a:t>expansion. Web SEARCH was deleted outright because the query string is our own</a:t>
            </a:r>
          </a:p>
          <a:p>
            <a:r>
              <a:t>data leaving the box. AIFORGE_EGRESS_OFF closes everything in one switch;</a:t>
            </a:r>
          </a:p>
          <a:p>
            <a:r>
              <a:t>per-class switches cover integrations, e-mail, telemetry, MCP and fleet sync.</a:t>
            </a:r>
          </a:p>
          <a:p>
            <a:r>
              <a:t>Loopback, LAN, a local registry and a push to a named remote stay allowed on</a:t>
            </a:r>
          </a:p>
          <a:p>
            <a:r>
              <a:t>purpose — a control that blocks ordinary work gets switched off.</a:t>
            </a:r>
          </a:p>
          <a:p/>
          <a:p>
            <a:r>
              <a:t>Access: a token is required on every API route but health; a non-loopback bind</a:t>
            </a:r>
          </a:p>
          <a:p>
            <a:r>
              <a:t>with NO token refuses to boot. Loopback trust must be declared, because behind</a:t>
            </a:r>
          </a:p>
          <a:p>
            <a:r>
              <a:t>a same-host reverse proxy every request looks like 127.0.0.1 — which was a</a:t>
            </a:r>
          </a:p>
          <a:p>
            <a:r>
              <a:t>full auth bypass. CORS is an allow-list, never a wildcard. Limits: one shared</a:t>
            </a:r>
          </a:p>
          <a:p>
            <a:r>
              <a:t>token, so no per-user identity or SSO yet.</a:t>
            </a:r>
          </a:p>
          <a:p/>
          <a:p>
            <a:r>
              <a:t>Untrusted input: a ticket description or a fetched page reaches the model</a:t>
            </a:r>
          </a:p>
          <a:p>
            <a:r>
              <a:t>beside our own instruction and we do not classify it. So the answer is</a:t>
            </a:r>
          </a:p>
          <a:p>
            <a:r>
              <a:t>containment: 20 external-write tools ask a human, file tools are clamped to</a:t>
            </a:r>
          </a:p>
          <a:p>
            <a:r>
              <a:t>the workspace, Plan mode cannot write, and unattended runs refuse writes.</a:t>
            </a:r>
          </a:p>
          <a:p/>
          <a:p>
            <a:r>
              <a:t>Certificates: one bundle covers the model endpoint, Jira, Confluence, GitLab,</a:t>
            </a:r>
          </a:p>
          <a:p>
            <a:r>
              <a:t>our own HTTP and every subprocess (git, curl, npm). Roots and intermediates</a:t>
            </a:r>
          </a:p>
          <a:p>
            <a:r>
              <a:t>are added in Settings, listed with what each one is, and take hold with no</a:t>
            </a:r>
          </a:p>
          <a:p>
            <a:r>
              <a:t>restart. No CERT_NONE anywhere in the tree.</a:t>
            </a:r>
          </a:p>
          <a:p/>
          <a:p>
            <a:r>
              <a:t>Stated limits, printed in the product's own docs: the notebook guard is a</a:t>
            </a:r>
          </a:p>
          <a:p>
            <a:r>
              <a:t>guard and not a sandbox; a shell can open a socket the policy never sees;</a:t>
            </a:r>
          </a:p>
          <a:p>
            <a:r>
              <a:t>fleet sync is unauthenticated by default; role tool filters fail OPEN so a</a:t>
            </a:r>
          </a:p>
          <a:p>
            <a:r>
              <a:t>typo cannot brick an 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Memory in detail (measured on main @ 7d9e60ae, 2026-09-06). Each machine compacts what it learned locally. A</a:t>
            </a:r>
          </a:p>
          <a:p>
            <a:r>
              <a:t>redaction filter runs on the CLIENT before anything is advertised:</a:t>
            </a:r>
          </a:p>
          <a:p>
            <a:r>
              <a:t>credential-shaped and private notes are BLOCKED, never quietly edited. One team</a:t>
            </a:r>
          </a:p>
          <a:p>
            <a:r>
              <a:t>admin is the only merger, folding into per-group trees so two teams cannot mix,</a:t>
            </a:r>
          </a:p>
          <a:p>
            <a:r>
              <a:t>and one admin can serve many independent fleets — groups are discovered from</a:t>
            </a:r>
          </a:p>
          <a:p>
            <a:r>
              <a:t>the admin rather than hardcoded. Only distilled knowledge nodes travel;</a:t>
            </a:r>
          </a:p>
          <a:p>
            <a:r>
              <a:t>transcripts, captures and working notes never leave the machine that made them.</a:t>
            </a:r>
          </a:p>
          <a:p>
            <a:r>
              <a:t>Every merge is snapshotted and a revert endpoint restores it. Sync is</a:t>
            </a:r>
          </a:p>
          <a:p>
            <a:r>
              <a:t>spoke-initiated, so laptops behind NAT just work, and moving a machine is</a:t>
            </a:r>
          </a:p>
          <a:p>
            <a:r>
              <a:t>copying a directory. Deploy note: the admin holds the merged fold — bind it to</a:t>
            </a:r>
          </a:p>
          <a:p>
            <a:r>
              <a:t>the LAN or a WireGuard network, because the sync surface is open by default.</a:t>
            </a:r>
          </a:p>
          <a:p/>
          <a:p>
            <a:r>
              <a:t>The quality numbers are the PLATFORM's, read off the scanner API rather than</a:t>
            </a:r>
          </a:p>
          <a:p>
            <a:r>
              <a:t>inferred from a green pipeline: 0 bugs, 0 vulnerabilities, 0 code smells,</a:t>
            </a:r>
          </a:p>
          <a:p>
            <a:r>
              <a:t>A/A/A ratings, 8,606 tests, 82.8% coverage as Sonar scopes it (86.7% by</a:t>
            </a:r>
          </a:p>
          <a:p>
            <a:r>
              <a:t>pytest-cov on the same run), 71,204 lines, 542 files, 0.1% duplication. Three</a:t>
            </a:r>
          </a:p>
          <a:p>
            <a:r>
              <a:t>test failures are named rather than rounded away: all three need a model</a:t>
            </a:r>
          </a:p>
          <a:p>
            <a:r>
              <a:t>actually served on the shared endpoint, which was empty. Nine standing</a:t>
            </a:r>
          </a:p>
          <a:p>
            <a:r>
              <a:t>vulnerabilities were closed by changing code — TLS pinning, scheme validation,</a:t>
            </a:r>
          </a:p>
          <a:p>
            <a:r>
              <a:t>digest usage — after two earlier passes had triaged them as accepted decisions.</a:t>
            </a:r>
          </a:p>
          <a:p/>
          <a:p>
            <a:r>
              <a:t>What that number does NOT say: it is the platform's quality, not the agent's</a:t>
            </a:r>
          </a:p>
          <a:p>
            <a:r>
              <a:t>output. There is no evaluation harness — no frozen set of closed tickets</a:t>
            </a:r>
          </a:p>
          <a:p>
            <a:r>
              <a:t>replayed each release, no acceptance rate, no edit distance between what the</a:t>
            </a:r>
          </a:p>
          <a:p>
            <a:r>
              <a:t>agent wrote and what shipped, and nothing re-run when the model is swapped.</a:t>
            </a:r>
          </a:p>
          <a:p>
            <a:r>
              <a:t>There is no load test, so no honest number for users per box. Backup is copying</a:t>
            </a:r>
          </a:p>
          <a:p>
            <a:r>
              <a:t>one folder, but there is no documented restore drill, and the traces name the</a:t>
            </a:r>
          </a:p>
          <a:p>
            <a:r>
              <a:t>BOX rather than a person.</a:t>
            </a:r>
          </a:p>
          <a:p/>
          <a:p>
            <a:r>
              <a:t>What it asks of us: one machine with a model on it, one folder to back up, and</a:t>
            </a:r>
          </a:p>
          <a:p>
            <a:r>
              <a:t>upgrades that pull, restart and migrate themselves. Decisions we still need:</a:t>
            </a:r>
          </a:p>
          <a:p>
            <a:r>
              <a:t>fund the scoring harness; name an owner and a stand-in; and pick the network</a:t>
            </a:r>
          </a:p>
          <a:p>
            <a:r>
              <a:t>that holds the company memory.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81328"/>
          </a:xfrm>
          <a:prstGeom prst="rect">
            <a:avLst/>
          </a:prstGeom>
          <a:solidFill>
            <a:srgbClr val="0B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98079" y="0"/>
            <a:ext cx="4693616" cy="1481328"/>
          </a:xfrm>
          <a:prstGeom prst="rect">
            <a:avLst/>
          </a:prstGeom>
          <a:solidFill>
            <a:srgbClr val="18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040880" y="0"/>
            <a:ext cx="457200" cy="1481328"/>
          </a:xfrm>
          <a:prstGeom prst="rect">
            <a:avLst/>
          </a:prstGeom>
          <a:solidFill>
            <a:srgbClr val="11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463040"/>
            <a:ext cx="12191695" cy="381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10896"/>
            <a:ext cx="7034479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Segoe UI"/>
              </a:rPr>
              <a:t>AIForgeCrew — a coding agent we run ourselves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896112"/>
            <a:ext cx="703447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B8C7D9"/>
                </a:solidFill>
                <a:latin typeface="Segoe UI"/>
              </a:rPr>
              <a:t>Give it a ticket, get a merge request. Our code stays on our machines and talks to our own model.</a:t>
            </a:r>
          </a:p>
        </p:txBody>
      </p:sp>
      <p:sp>
        <p:nvSpPr>
          <p:cNvPr id="8" name="Oval 7"/>
          <p:cNvSpPr/>
          <p:nvPr/>
        </p:nvSpPr>
        <p:spPr>
          <a:xfrm>
            <a:off x="7875727" y="274320"/>
            <a:ext cx="786384" cy="786384"/>
          </a:xfrm>
          <a:prstGeom prst="ellipse">
            <a:avLst/>
          </a:prstGeom>
          <a:solidFill>
            <a:srgbClr val="142C45"/>
          </a:solidFill>
          <a:ln w="19050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75727" y="420624"/>
            <a:ext cx="78638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108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9423" y="1115568"/>
            <a:ext cx="10789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9FB3C8"/>
                </a:solidFill>
                <a:latin typeface="Segoe UI"/>
              </a:rPr>
              <a:t>things it can do</a:t>
            </a:r>
          </a:p>
        </p:txBody>
      </p:sp>
      <p:sp>
        <p:nvSpPr>
          <p:cNvPr id="11" name="Oval 10"/>
          <p:cNvSpPr/>
          <p:nvPr/>
        </p:nvSpPr>
        <p:spPr>
          <a:xfrm>
            <a:off x="8863279" y="274320"/>
            <a:ext cx="786384" cy="786384"/>
          </a:xfrm>
          <a:prstGeom prst="ellipse">
            <a:avLst/>
          </a:prstGeom>
          <a:solidFill>
            <a:srgbClr val="142C45"/>
          </a:solidFill>
          <a:ln w="19050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3279" y="420624"/>
            <a:ext cx="78638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16975" y="1115568"/>
            <a:ext cx="10789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9FB3C8"/>
                </a:solidFill>
                <a:latin typeface="Segoe UI"/>
              </a:rPr>
              <a:t>agents</a:t>
            </a:r>
          </a:p>
        </p:txBody>
      </p:sp>
      <p:sp>
        <p:nvSpPr>
          <p:cNvPr id="14" name="Oval 13"/>
          <p:cNvSpPr/>
          <p:nvPr/>
        </p:nvSpPr>
        <p:spPr>
          <a:xfrm>
            <a:off x="9850831" y="274320"/>
            <a:ext cx="786384" cy="786384"/>
          </a:xfrm>
          <a:prstGeom prst="ellipse">
            <a:avLst/>
          </a:prstGeom>
          <a:solidFill>
            <a:srgbClr val="142C45"/>
          </a:solidFill>
          <a:ln w="19050">
            <a:solidFill>
              <a:srgbClr val="2F7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50831" y="420624"/>
            <a:ext cx="78638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8,606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04527" y="1115568"/>
            <a:ext cx="10789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9FB3C8"/>
                </a:solidFill>
                <a:latin typeface="Segoe UI"/>
              </a:rPr>
              <a:t>tests</a:t>
            </a:r>
          </a:p>
        </p:txBody>
      </p:sp>
      <p:sp>
        <p:nvSpPr>
          <p:cNvPr id="17" name="Oval 16"/>
          <p:cNvSpPr/>
          <p:nvPr/>
        </p:nvSpPr>
        <p:spPr>
          <a:xfrm>
            <a:off x="10838383" y="274320"/>
            <a:ext cx="786384" cy="786384"/>
          </a:xfrm>
          <a:prstGeom prst="ellipse">
            <a:avLst/>
          </a:prstGeom>
          <a:solidFill>
            <a:srgbClr val="142C45"/>
          </a:solidFill>
          <a:ln w="19050">
            <a:solidFill>
              <a:srgbClr val="2F7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38383" y="420624"/>
            <a:ext cx="78638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2079" y="1115568"/>
            <a:ext cx="10789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9FB3C8"/>
                </a:solidFill>
                <a:latin typeface="Segoe UI"/>
              </a:rPr>
              <a:t>scan findings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1440" y="645566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94A3B8"/>
                </a:solidFill>
                <a:latin typeface="Segoe UI"/>
              </a:rPr>
              <a:t>1</a:t>
            </a:r>
          </a:p>
        </p:txBody>
      </p:sp>
      <p:sp>
        <p:nvSpPr>
          <p:cNvPr id="21" name="Oval 20"/>
          <p:cNvSpPr/>
          <p:nvPr/>
        </p:nvSpPr>
        <p:spPr>
          <a:xfrm>
            <a:off x="4517136" y="1609344"/>
            <a:ext cx="2377440" cy="2377440"/>
          </a:xfrm>
          <a:prstGeom prst="ellipse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773168" y="1865376"/>
            <a:ext cx="1865376" cy="1865376"/>
          </a:xfrm>
          <a:prstGeom prst="ellipse">
            <a:avLst/>
          </a:prstGeom>
          <a:solidFill>
            <a:srgbClr val="18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b="1" sz="1300">
                <a:solidFill>
                  <a:srgbClr val="FFFFFF"/>
                </a:solidFill>
                <a:latin typeface="Segoe UI"/>
              </a:rPr>
              <a:t>One program</a:t>
            </a:r>
          </a:p>
          <a:p>
            <a:pPr algn="ctr"/>
            <a:r>
              <a:rPr b="0" sz="936">
                <a:solidFill>
                  <a:srgbClr val="FFFFFF"/>
                </a:solidFill>
                <a:latin typeface="Segoe UI"/>
              </a:rPr>
              <a:t>one port · one folder</a:t>
            </a:r>
          </a:p>
          <a:p>
            <a:pPr algn="ctr"/>
            <a:r>
              <a:rPr b="0" sz="936">
                <a:solidFill>
                  <a:srgbClr val="FFFFFF"/>
                </a:solidFill>
                <a:latin typeface="Segoe UI"/>
              </a:rPr>
              <a:t>no database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1700784"/>
            <a:ext cx="2103120" cy="51206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b="1" sz="1100">
                <a:solidFill>
                  <a:srgbClr val="1A202C"/>
                </a:solidFill>
                <a:latin typeface="Segoe UI"/>
              </a:rPr>
              <a:t>A ticket</a:t>
            </a:r>
          </a:p>
          <a:p>
            <a:pPr algn="ctr"/>
            <a:r>
              <a:rPr b="0" sz="792">
                <a:solidFill>
                  <a:srgbClr val="1A202C"/>
                </a:solidFill>
                <a:latin typeface="Segoe UI"/>
              </a:rPr>
              <a:t>Jira · GitLab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670048" y="1956816"/>
            <a:ext cx="1792224" cy="841248"/>
          </a:xfrm>
          <a:prstGeom prst="line">
            <a:avLst/>
          </a:prstGeom>
          <a:ln w="19050">
            <a:solidFill>
              <a:srgbClr val="C2D3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66928" y="2395728"/>
            <a:ext cx="2103120" cy="51206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b="1" sz="1100">
                <a:solidFill>
                  <a:srgbClr val="1A202C"/>
                </a:solidFill>
                <a:latin typeface="Segoe UI"/>
              </a:rPr>
              <a:t>A chat</a:t>
            </a:r>
          </a:p>
          <a:p>
            <a:pPr algn="ctr"/>
            <a:r>
              <a:rPr b="0" sz="792">
                <a:solidFill>
                  <a:srgbClr val="1A202C"/>
                </a:solidFill>
                <a:latin typeface="Segoe UI"/>
              </a:rPr>
              <a:t>ask · plan · delegate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670048" y="2651760"/>
            <a:ext cx="1792224" cy="146304"/>
          </a:xfrm>
          <a:prstGeom prst="line">
            <a:avLst/>
          </a:prstGeom>
          <a:ln w="19050">
            <a:solidFill>
              <a:srgbClr val="C2D3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66928" y="3090672"/>
            <a:ext cx="2103120" cy="51206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b="1" sz="1100">
                <a:solidFill>
                  <a:srgbClr val="1A202C"/>
                </a:solidFill>
                <a:latin typeface="Segoe UI"/>
              </a:rPr>
              <a:t>A schedule</a:t>
            </a:r>
          </a:p>
          <a:p>
            <a:pPr algn="ctr"/>
            <a:r>
              <a:rPr b="0" sz="792">
                <a:solidFill>
                  <a:srgbClr val="1A202C"/>
                </a:solidFill>
                <a:latin typeface="Segoe UI"/>
              </a:rPr>
              <a:t>runs unattended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2670048" y="2798064"/>
            <a:ext cx="1792224" cy="548640"/>
          </a:xfrm>
          <a:prstGeom prst="line">
            <a:avLst/>
          </a:prstGeom>
          <a:ln w="19050">
            <a:solidFill>
              <a:srgbClr val="C2D3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503920" y="1700784"/>
            <a:ext cx="3118104" cy="51206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2F7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b="1" sz="1100">
                <a:solidFill>
                  <a:srgbClr val="2F7A57"/>
                </a:solidFill>
                <a:latin typeface="Segoe UI"/>
              </a:rPr>
              <a:t>Our own model</a:t>
            </a:r>
          </a:p>
          <a:p>
            <a:pPr algn="ctr"/>
            <a:r>
              <a:rPr b="0" sz="792">
                <a:solidFill>
                  <a:srgbClr val="2F7A57"/>
                </a:solidFill>
                <a:latin typeface="Segoe UI"/>
              </a:rPr>
              <a:t>on our hardware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6949440" y="1956816"/>
            <a:ext cx="1554480" cy="841248"/>
          </a:xfrm>
          <a:prstGeom prst="line">
            <a:avLst/>
          </a:prstGeom>
          <a:ln w="19050">
            <a:solidFill>
              <a:srgbClr val="C2D3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503920" y="2395728"/>
            <a:ext cx="3118104" cy="51206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6B4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b="1" sz="1100">
                <a:solidFill>
                  <a:srgbClr val="6B46C1"/>
                </a:solidFill>
                <a:latin typeface="Segoe UI"/>
              </a:rPr>
              <a:t>Our tools</a:t>
            </a:r>
          </a:p>
          <a:p>
            <a:pPr algn="ctr"/>
            <a:r>
              <a:rPr b="0" sz="792">
                <a:solidFill>
                  <a:srgbClr val="6B46C1"/>
                </a:solidFill>
                <a:latin typeface="Segoe UI"/>
              </a:rPr>
              <a:t>Jira 21 · Confluence 14 · GitLab 10 · MCP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6949440" y="2651760"/>
            <a:ext cx="1554480" cy="146304"/>
          </a:xfrm>
          <a:prstGeom prst="line">
            <a:avLst/>
          </a:prstGeom>
          <a:ln w="19050">
            <a:solidFill>
              <a:srgbClr val="C2D3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8503920" y="3090672"/>
            <a:ext cx="3118104" cy="51206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b="1" sz="1100">
                <a:solidFill>
                  <a:srgbClr val="2C7A7B"/>
                </a:solidFill>
                <a:latin typeface="Segoe UI"/>
              </a:rPr>
              <a:t>Our memory</a:t>
            </a:r>
          </a:p>
          <a:p>
            <a:pPr algn="ctr"/>
            <a:r>
              <a:rPr b="0" sz="792">
                <a:solidFill>
                  <a:srgbClr val="2C7A7B"/>
                </a:solidFill>
                <a:latin typeface="Segoe UI"/>
              </a:rPr>
              <a:t>markdown + one SQLite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949440" y="2798064"/>
            <a:ext cx="1554480" cy="548640"/>
          </a:xfrm>
          <a:prstGeom prst="line">
            <a:avLst/>
          </a:prstGeom>
          <a:ln w="19050">
            <a:solidFill>
              <a:srgbClr val="C2D3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66928" y="3803904"/>
            <a:ext cx="3108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Segoe UI"/>
              </a:rPr>
              <a:t>WHAT GOES 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3803904"/>
            <a:ext cx="311810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4A3B8"/>
                </a:solidFill>
                <a:latin typeface="Segoe UI"/>
              </a:rPr>
              <a:t>WHAT IT USES — ALL OURS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4224528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Segoe UI"/>
              </a:rPr>
              <a:t>ONE TICKET, END TO END</a:t>
            </a:r>
          </a:p>
        </p:txBody>
      </p:sp>
      <p:sp>
        <p:nvSpPr>
          <p:cNvPr id="38" name="Chevron 37"/>
          <p:cNvSpPr/>
          <p:nvPr/>
        </p:nvSpPr>
        <p:spPr>
          <a:xfrm>
            <a:off x="566928" y="4517136"/>
            <a:ext cx="1901952" cy="566928"/>
          </a:xfrm>
          <a:prstGeom prst="chevron">
            <a:avLst>
              <a:gd name="adj" fmla="val 22000"/>
            </a:avLst>
          </a:prstGeom>
          <a:solidFill>
            <a:srgbClr val="FFFFFF"/>
          </a:solidFill>
          <a:ln w="15875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b="1" sz="1050">
                <a:solidFill>
                  <a:srgbClr val="2B6CB0"/>
                </a:solidFill>
                <a:latin typeface="Segoe UI"/>
              </a:rPr>
              <a:t>Understand</a:t>
            </a:r>
          </a:p>
        </p:txBody>
      </p:sp>
      <p:sp>
        <p:nvSpPr>
          <p:cNvPr id="39" name="Chevron 38"/>
          <p:cNvSpPr/>
          <p:nvPr/>
        </p:nvSpPr>
        <p:spPr>
          <a:xfrm>
            <a:off x="2377440" y="4517136"/>
            <a:ext cx="1901952" cy="566928"/>
          </a:xfrm>
          <a:prstGeom prst="chevron">
            <a:avLst>
              <a:gd name="adj" fmla="val 22000"/>
            </a:avLst>
          </a:prstGeom>
          <a:solidFill>
            <a:srgbClr val="FFFFFF"/>
          </a:solidFill>
          <a:ln w="15875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b="1" sz="1050">
                <a:solidFill>
                  <a:srgbClr val="2B6CB0"/>
                </a:solidFill>
                <a:latin typeface="Segoe UI"/>
              </a:rPr>
              <a:t>Plan</a:t>
            </a:r>
          </a:p>
        </p:txBody>
      </p:sp>
      <p:sp>
        <p:nvSpPr>
          <p:cNvPr id="40" name="Chevron 39"/>
          <p:cNvSpPr/>
          <p:nvPr/>
        </p:nvSpPr>
        <p:spPr>
          <a:xfrm>
            <a:off x="4187952" y="4517136"/>
            <a:ext cx="1901952" cy="566928"/>
          </a:xfrm>
          <a:prstGeom prst="chevron">
            <a:avLst>
              <a:gd name="adj" fmla="val 22000"/>
            </a:avLst>
          </a:prstGeom>
          <a:solidFill>
            <a:srgbClr val="FFFFFF"/>
          </a:solidFill>
          <a:ln w="15875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b="1" sz="1050">
                <a:solidFill>
                  <a:srgbClr val="2C7A7B"/>
                </a:solidFill>
                <a:latin typeface="Segoe UI"/>
              </a:rPr>
              <a:t>Write code</a:t>
            </a:r>
          </a:p>
        </p:txBody>
      </p:sp>
      <p:sp>
        <p:nvSpPr>
          <p:cNvPr id="41" name="Chevron 40"/>
          <p:cNvSpPr/>
          <p:nvPr/>
        </p:nvSpPr>
        <p:spPr>
          <a:xfrm>
            <a:off x="5998464" y="4517136"/>
            <a:ext cx="1901952" cy="566928"/>
          </a:xfrm>
          <a:prstGeom prst="chevron">
            <a:avLst>
              <a:gd name="adj" fmla="val 22000"/>
            </a:avLst>
          </a:prstGeom>
          <a:solidFill>
            <a:srgbClr val="FFFFFF"/>
          </a:solidFill>
          <a:ln w="15875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b="1" sz="1050">
                <a:solidFill>
                  <a:srgbClr val="2C7A7B"/>
                </a:solidFill>
                <a:latin typeface="Segoe UI"/>
              </a:rPr>
              <a:t>Test and fix</a:t>
            </a:r>
          </a:p>
        </p:txBody>
      </p:sp>
      <p:sp>
        <p:nvSpPr>
          <p:cNvPr id="42" name="Chevron 41"/>
          <p:cNvSpPr/>
          <p:nvPr/>
        </p:nvSpPr>
        <p:spPr>
          <a:xfrm>
            <a:off x="7808976" y="4517136"/>
            <a:ext cx="1901952" cy="566928"/>
          </a:xfrm>
          <a:prstGeom prst="chevron">
            <a:avLst>
              <a:gd name="adj" fmla="val 22000"/>
            </a:avLst>
          </a:prstGeom>
          <a:solidFill>
            <a:srgbClr val="FFFFFF"/>
          </a:solidFill>
          <a:ln w="15875">
            <a:solidFill>
              <a:srgbClr val="6B4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b="1" sz="1050">
                <a:solidFill>
                  <a:srgbClr val="6B46C1"/>
                </a:solidFill>
                <a:latin typeface="Segoe UI"/>
              </a:rPr>
              <a:t>Check it works</a:t>
            </a:r>
          </a:p>
        </p:txBody>
      </p:sp>
      <p:sp>
        <p:nvSpPr>
          <p:cNvPr id="43" name="Chevron 42"/>
          <p:cNvSpPr/>
          <p:nvPr/>
        </p:nvSpPr>
        <p:spPr>
          <a:xfrm>
            <a:off x="9619488" y="4517136"/>
            <a:ext cx="1901952" cy="566928"/>
          </a:xfrm>
          <a:prstGeom prst="chevron">
            <a:avLst>
              <a:gd name="adj" fmla="val 22000"/>
            </a:avLst>
          </a:prstGeom>
          <a:solidFill>
            <a:srgbClr val="2F7A57"/>
          </a:solidFill>
          <a:ln w="15875">
            <a:solidFill>
              <a:srgbClr val="2F7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b="1" sz="1050">
                <a:solidFill>
                  <a:srgbClr val="FFFFFF"/>
                </a:solidFill>
                <a:latin typeface="Segoe UI"/>
              </a:rPr>
              <a:t>Merge request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5193792"/>
            <a:ext cx="110550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Segoe UI"/>
              </a:rPr>
              <a:t>up to four parts of the job run side by side, each in its own copy of the repo  ·  a person reviews the merge request — nothing merges itself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66928" y="5577840"/>
            <a:ext cx="11055096" cy="786384"/>
          </a:xfrm>
          <a:prstGeom prst="roundRect">
            <a:avLst>
              <a:gd name="adj" fmla="val 14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68096" y="5705856"/>
            <a:ext cx="274320" cy="274320"/>
          </a:xfrm>
          <a:prstGeom prst="ellipse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68096" y="5737860"/>
            <a:ext cx="274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↻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52144" y="5687568"/>
            <a:ext cx="4919472" cy="154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B7791F"/>
                </a:solidFill>
                <a:latin typeface="Segoe UI"/>
              </a:rPr>
              <a:t>Writes its own playbook — </a:t>
            </a:r>
            <a:r>
              <a:rPr sz="950">
                <a:solidFill>
                  <a:srgbClr val="1A202C"/>
                </a:solidFill>
                <a:latin typeface="Segoe UI"/>
              </a:rPr>
              <a:t>plain-text rules, skills and workflows, tidied nightly</a:t>
            </a:r>
          </a:p>
        </p:txBody>
      </p:sp>
      <p:sp>
        <p:nvSpPr>
          <p:cNvPr id="49" name="Oval 48"/>
          <p:cNvSpPr/>
          <p:nvPr/>
        </p:nvSpPr>
        <p:spPr>
          <a:xfrm>
            <a:off x="6053328" y="5705856"/>
            <a:ext cx="274320" cy="274320"/>
          </a:xfrm>
          <a:prstGeom prst="ellipse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053328" y="5737860"/>
            <a:ext cx="274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◎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37376" y="5687568"/>
            <a:ext cx="5010912" cy="154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2C7A7B"/>
                </a:solidFill>
                <a:latin typeface="Segoe UI"/>
              </a:rPr>
              <a:t>Remembers — </a:t>
            </a:r>
            <a:r>
              <a:rPr sz="950">
                <a:solidFill>
                  <a:srgbClr val="1A202C"/>
                </a:solidFill>
                <a:latin typeface="Segoe UI"/>
              </a:rPr>
              <a:t>what one machine learns, the team has tomorrow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52144" y="6016752"/>
            <a:ext cx="47548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Segoe UI"/>
              </a:rPr>
              <a:t>a fix found once becomes a step it repeats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37376" y="6016752"/>
            <a:ext cx="49377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Segoe UI"/>
              </a:rPr>
              <a:t>secrets are stripped before anything is shared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81328"/>
          </a:xfrm>
          <a:prstGeom prst="rect">
            <a:avLst/>
          </a:prstGeom>
          <a:solidFill>
            <a:srgbClr val="0B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98079" y="0"/>
            <a:ext cx="4693616" cy="1481328"/>
          </a:xfrm>
          <a:prstGeom prst="rect">
            <a:avLst/>
          </a:prstGeom>
          <a:solidFill>
            <a:srgbClr val="18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040880" y="0"/>
            <a:ext cx="457200" cy="1481328"/>
          </a:xfrm>
          <a:prstGeom prst="rect">
            <a:avLst/>
          </a:prstGeom>
          <a:solidFill>
            <a:srgbClr val="11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463040"/>
            <a:ext cx="12191695" cy="38100"/>
          </a:xfrm>
          <a:prstGeom prst="rect">
            <a:avLst/>
          </a:prstGeom>
          <a:solidFill>
            <a:srgbClr val="C5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10896"/>
            <a:ext cx="8022031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Nothing gets out unless we allow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896112"/>
            <a:ext cx="8022031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B8C7D9"/>
                </a:solidFill>
                <a:latin typeface="Segoe UI"/>
              </a:rPr>
              <a:t>A tool call, a shell command and a notebook cell all reach the same gate and get the same answer.</a:t>
            </a:r>
          </a:p>
        </p:txBody>
      </p:sp>
      <p:sp>
        <p:nvSpPr>
          <p:cNvPr id="8" name="Oval 7"/>
          <p:cNvSpPr/>
          <p:nvPr/>
        </p:nvSpPr>
        <p:spPr>
          <a:xfrm>
            <a:off x="8863279" y="274320"/>
            <a:ext cx="786384" cy="786384"/>
          </a:xfrm>
          <a:prstGeom prst="ellipse">
            <a:avLst/>
          </a:prstGeom>
          <a:solidFill>
            <a:srgbClr val="142C45"/>
          </a:solidFill>
          <a:ln w="19050">
            <a:solidFill>
              <a:srgbClr val="2F7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3279" y="420624"/>
            <a:ext cx="78638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16975" y="1115568"/>
            <a:ext cx="10789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9FB3C8"/>
                </a:solidFill>
                <a:latin typeface="Segoe UI"/>
              </a:rPr>
              <a:t>known weaknesses</a:t>
            </a:r>
          </a:p>
        </p:txBody>
      </p:sp>
      <p:sp>
        <p:nvSpPr>
          <p:cNvPr id="11" name="Oval 10"/>
          <p:cNvSpPr/>
          <p:nvPr/>
        </p:nvSpPr>
        <p:spPr>
          <a:xfrm>
            <a:off x="9850831" y="274320"/>
            <a:ext cx="786384" cy="786384"/>
          </a:xfrm>
          <a:prstGeom prst="ellipse">
            <a:avLst/>
          </a:prstGeom>
          <a:solidFill>
            <a:srgbClr val="142C45"/>
          </a:solidFill>
          <a:ln w="19050">
            <a:solidFill>
              <a:srgbClr val="2F7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50831" y="420624"/>
            <a:ext cx="78638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04527" y="1115568"/>
            <a:ext cx="10789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9FB3C8"/>
                </a:solidFill>
                <a:latin typeface="Segoe UI"/>
              </a:rPr>
              <a:t>usage data sent out</a:t>
            </a:r>
          </a:p>
        </p:txBody>
      </p:sp>
      <p:sp>
        <p:nvSpPr>
          <p:cNvPr id="14" name="Oval 13"/>
          <p:cNvSpPr/>
          <p:nvPr/>
        </p:nvSpPr>
        <p:spPr>
          <a:xfrm>
            <a:off x="10838383" y="274320"/>
            <a:ext cx="786384" cy="786384"/>
          </a:xfrm>
          <a:prstGeom prst="ellipse">
            <a:avLst/>
          </a:prstGeom>
          <a:solidFill>
            <a:srgbClr val="142C45"/>
          </a:solidFill>
          <a:ln w="19050">
            <a:solidFill>
              <a:srgbClr val="B7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838383" y="420624"/>
            <a:ext cx="78638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2079" y="1115568"/>
            <a:ext cx="10789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9FB3C8"/>
                </a:solidFill>
                <a:latin typeface="Segoe UI"/>
              </a:rPr>
              <a:t>actions that ask first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1440" y="645566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94A3B8"/>
                </a:solidFill>
                <a:latin typeface="Segoe UI"/>
              </a:rPr>
              <a:t>2</a:t>
            </a:r>
          </a:p>
        </p:txBody>
      </p:sp>
      <p:sp>
        <p:nvSpPr>
          <p:cNvPr id="18" name="Oval 17"/>
          <p:cNvSpPr/>
          <p:nvPr/>
        </p:nvSpPr>
        <p:spPr>
          <a:xfrm>
            <a:off x="2670048" y="1792223"/>
            <a:ext cx="3840480" cy="3840480"/>
          </a:xfrm>
          <a:prstGeom prst="ellipse">
            <a:avLst/>
          </a:prstGeom>
          <a:solidFill>
            <a:srgbClr val="EFF2F6"/>
          </a:solidFill>
          <a:ln w="158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108960" y="2231135"/>
            <a:ext cx="2962656" cy="2962656"/>
          </a:xfrm>
          <a:prstGeom prst="ellipse">
            <a:avLst/>
          </a:prstGeom>
          <a:solidFill>
            <a:srgbClr val="FBECEC"/>
          </a:solidFill>
          <a:ln w="15875">
            <a:solidFill>
              <a:srgbClr val="C5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547873" y="2670048"/>
            <a:ext cx="2084830" cy="2084830"/>
          </a:xfrm>
          <a:prstGeom prst="ellipse">
            <a:avLst/>
          </a:prstGeom>
          <a:solidFill>
            <a:srgbClr val="FDF3E2"/>
          </a:solidFill>
          <a:ln w="15875">
            <a:solidFill>
              <a:srgbClr val="B7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968496" y="3090671"/>
            <a:ext cx="1243584" cy="1243584"/>
          </a:xfrm>
          <a:prstGeom prst="ellipse">
            <a:avLst/>
          </a:prstGeom>
          <a:solidFill>
            <a:srgbClr val="18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b="1" sz="1200">
                <a:solidFill>
                  <a:srgbClr val="FFFFFF"/>
                </a:solidFill>
                <a:latin typeface="Segoe UI"/>
              </a:rPr>
              <a:t>Our code</a:t>
            </a:r>
          </a:p>
          <a:p>
            <a:pPr algn="ctr"/>
            <a:r>
              <a:rPr b="0" sz="864">
                <a:solidFill>
                  <a:srgbClr val="FFFFFF"/>
                </a:solidFill>
                <a:latin typeface="Segoe UI"/>
              </a:rPr>
              <a:t>and our keys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18688" y="1723135"/>
            <a:ext cx="2743200" cy="13817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18688" y="1741423"/>
            <a:ext cx="2743200" cy="138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94A3B8"/>
                </a:solidFill>
                <a:latin typeface="Segoe UI"/>
              </a:rPr>
              <a:t>the firewall on the machine — yours, not ours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18688" y="2162047"/>
            <a:ext cx="2743200" cy="13817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C5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18688" y="2180335"/>
            <a:ext cx="2743200" cy="138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C53030"/>
                </a:solidFill>
                <a:latin typeface="Segoe UI"/>
              </a:rPr>
              <a:t>ONE GATE  ·  tool · shell · notebook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18688" y="2600960"/>
            <a:ext cx="2743200" cy="13817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B7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18688" y="2619248"/>
            <a:ext cx="2743200" cy="138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B7791F"/>
                </a:solidFill>
                <a:latin typeface="Segoe UI"/>
              </a:rPr>
              <a:t>workspace + approvals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2798064"/>
            <a:ext cx="170078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1A202C"/>
                </a:solidFill>
                <a:latin typeface="Segoe UI"/>
              </a:rPr>
              <a:t>A tool call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2990088"/>
            <a:ext cx="170078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Segoe UI"/>
              </a:rPr>
              <a:t>web · Jira · MCP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377440" y="2944368"/>
            <a:ext cx="274320" cy="530351"/>
          </a:xfrm>
          <a:prstGeom prst="line">
            <a:avLst/>
          </a:prstGeom>
          <a:ln w="19050">
            <a:solidFill>
              <a:srgbClr val="C530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66928" y="3328416"/>
            <a:ext cx="170078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1A202C"/>
                </a:solidFill>
                <a:latin typeface="Segoe UI"/>
              </a:rPr>
              <a:t>A shell command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3520440"/>
            <a:ext cx="170078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Segoe UI"/>
              </a:rPr>
              <a:t>curl · scp · ssh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377440" y="3474720"/>
            <a:ext cx="274320" cy="237743"/>
          </a:xfrm>
          <a:prstGeom prst="line">
            <a:avLst/>
          </a:prstGeom>
          <a:ln w="19050">
            <a:solidFill>
              <a:srgbClr val="C530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66928" y="3858768"/>
            <a:ext cx="170078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1A202C"/>
                </a:solidFill>
                <a:latin typeface="Segoe UI"/>
              </a:rPr>
              <a:t>A notebook cell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4050792"/>
            <a:ext cx="170078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Segoe UI"/>
              </a:rPr>
              <a:t>its own code</a:t>
            </a:r>
          </a:p>
        </p:txBody>
      </p:sp>
      <p:cxnSp>
        <p:nvCxnSpPr>
          <p:cNvPr id="36" name="Connector 35"/>
          <p:cNvCxnSpPr/>
          <p:nvPr/>
        </p:nvCxnSpPr>
        <p:spPr>
          <a:xfrm flipV="1">
            <a:off x="2377440" y="3950207"/>
            <a:ext cx="274320" cy="54865"/>
          </a:xfrm>
          <a:prstGeom prst="line">
            <a:avLst/>
          </a:prstGeom>
          <a:ln w="19050">
            <a:solidFill>
              <a:srgbClr val="C530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66928" y="4517136"/>
            <a:ext cx="188366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1">
                <a:solidFill>
                  <a:srgbClr val="64748B"/>
                </a:solidFill>
                <a:latin typeface="Segoe UI"/>
              </a:rPr>
              <a:t>the gate is code, not the model's judgement — a prompt cannot argue its way past it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675120" y="1883664"/>
            <a:ext cx="4937760" cy="1335024"/>
          </a:xfrm>
          <a:prstGeom prst="roundRect">
            <a:avLst>
              <a:gd name="adj" fmla="val 10000"/>
            </a:avLst>
          </a:prstGeom>
          <a:solidFill>
            <a:srgbClr val="E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0" y="1993392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F7A57"/>
                </a:solidFill>
                <a:latin typeface="Segoe UI"/>
              </a:rPr>
              <a:t>✓  ALLOWED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2286000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202C"/>
                </a:solidFill>
                <a:latin typeface="Segoe UI"/>
              </a:rPr>
              <a:t>·  our own network and machines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2560320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202C"/>
                </a:solidFill>
                <a:latin typeface="Segoe UI"/>
              </a:rPr>
              <a:t>·  pushing to our own git remote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2834640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202C"/>
                </a:solidFill>
                <a:latin typeface="Segoe UI"/>
              </a:rPr>
              <a:t>·  deploying to a server we named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675120" y="3346704"/>
            <a:ext cx="4937760" cy="1609344"/>
          </a:xfrm>
          <a:prstGeom prst="roundRect">
            <a:avLst>
              <a:gd name="adj" fmla="val 10000"/>
            </a:avLst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0" y="3456432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53030"/>
                </a:solidFill>
                <a:latin typeface="Segoe UI"/>
              </a:rPr>
              <a:t>✕  REFUSED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3749039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202C"/>
                </a:solidFill>
                <a:latin typeface="Segoe UI"/>
              </a:rPr>
              <a:t>·  copying files to an outside host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4023359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202C"/>
                </a:solidFill>
                <a:latin typeface="Segoe UI"/>
              </a:rPr>
              <a:t>·  uploading to cloud storage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0" y="4297679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202C"/>
                </a:solidFill>
                <a:latin typeface="Segoe UI"/>
              </a:rPr>
              <a:t>·  web search — removed completely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0" y="4571999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202C"/>
                </a:solidFill>
                <a:latin typeface="Segoe UI"/>
              </a:rPr>
              <a:t>·  anything not on the list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675120" y="5138928"/>
            <a:ext cx="493776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693408" y="5340096"/>
            <a:ext cx="274320" cy="274320"/>
          </a:xfrm>
          <a:prstGeom prst="ellipse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93408" y="5372100"/>
            <a:ext cx="274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⚿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77456" y="5321808"/>
            <a:ext cx="4517136" cy="154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B7791F"/>
                </a:solidFill>
                <a:latin typeface="Segoe UI"/>
              </a:rPr>
              <a:t>Keys — </a:t>
            </a:r>
            <a:r>
              <a:rPr sz="950">
                <a:solidFill>
                  <a:srgbClr val="1A202C"/>
                </a:solidFill>
                <a:latin typeface="Segoe UI"/>
              </a:rPr>
              <a:t>one locked folder, never shown back</a:t>
            </a:r>
          </a:p>
        </p:txBody>
      </p:sp>
      <p:sp>
        <p:nvSpPr>
          <p:cNvPr id="53" name="Oval 52"/>
          <p:cNvSpPr/>
          <p:nvPr/>
        </p:nvSpPr>
        <p:spPr>
          <a:xfrm>
            <a:off x="6693408" y="5705856"/>
            <a:ext cx="274320" cy="2743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693408" y="5737860"/>
            <a:ext cx="274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✔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77456" y="5687568"/>
            <a:ext cx="4517136" cy="154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2B6CB0"/>
                </a:solidFill>
                <a:latin typeface="Segoe UI"/>
              </a:rPr>
              <a:t>Certificates — </a:t>
            </a:r>
            <a:r>
              <a:rPr sz="950">
                <a:solidFill>
                  <a:srgbClr val="1A202C"/>
                </a:solidFill>
                <a:latin typeface="Segoe UI"/>
              </a:rPr>
              <a:t>our own CA, added in Settings, no restart</a:t>
            </a:r>
          </a:p>
        </p:txBody>
      </p:sp>
      <p:sp>
        <p:nvSpPr>
          <p:cNvPr id="56" name="Oval 55"/>
          <p:cNvSpPr/>
          <p:nvPr/>
        </p:nvSpPr>
        <p:spPr>
          <a:xfrm>
            <a:off x="6693408" y="6071616"/>
            <a:ext cx="274320" cy="274320"/>
          </a:xfrm>
          <a:prstGeom prst="ellipse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693408" y="6103620"/>
            <a:ext cx="274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≡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77456" y="6053328"/>
            <a:ext cx="4517136" cy="154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2C7A7B"/>
                </a:solidFill>
                <a:latin typeface="Segoe UI"/>
              </a:rPr>
              <a:t>Record — </a:t>
            </a:r>
            <a:r>
              <a:rPr sz="950">
                <a:solidFill>
                  <a:srgbClr val="1A202C"/>
                </a:solidFill>
                <a:latin typeface="Segoe UI"/>
              </a:rPr>
              <a:t>every step of every run is written down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66928" y="6035040"/>
            <a:ext cx="5852160" cy="475488"/>
          </a:xfrm>
          <a:prstGeom prst="roundRect">
            <a:avLst>
              <a:gd name="adj" fmla="val 30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31520" y="6144768"/>
            <a:ext cx="5522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Segoe UI"/>
              </a:rPr>
              <a:t>We do not claim a sealed box: a shell can still open a socket the gate never sees.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81328"/>
          </a:xfrm>
          <a:prstGeom prst="rect">
            <a:avLst/>
          </a:prstGeom>
          <a:solidFill>
            <a:srgbClr val="0B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98079" y="0"/>
            <a:ext cx="4693616" cy="1481328"/>
          </a:xfrm>
          <a:prstGeom prst="rect">
            <a:avLst/>
          </a:prstGeom>
          <a:solidFill>
            <a:srgbClr val="18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040880" y="0"/>
            <a:ext cx="457200" cy="1481328"/>
          </a:xfrm>
          <a:prstGeom prst="rect">
            <a:avLst/>
          </a:prstGeom>
          <a:solidFill>
            <a:srgbClr val="11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463040"/>
            <a:ext cx="12191695" cy="38100"/>
          </a:xfrm>
          <a:prstGeom prst="rect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10896"/>
            <a:ext cx="8022031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What one person learns, the whole company keeps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896112"/>
            <a:ext cx="8022031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B8C7D9"/>
                </a:solidFill>
                <a:latin typeface="Segoe UI"/>
              </a:rPr>
              <a:t>Each machine learns on its own. Secrets are stripped, a team lead merges the rest, and other teams read it.</a:t>
            </a:r>
          </a:p>
        </p:txBody>
      </p:sp>
      <p:sp>
        <p:nvSpPr>
          <p:cNvPr id="8" name="Oval 7"/>
          <p:cNvSpPr/>
          <p:nvPr/>
        </p:nvSpPr>
        <p:spPr>
          <a:xfrm>
            <a:off x="8863279" y="274320"/>
            <a:ext cx="786384" cy="786384"/>
          </a:xfrm>
          <a:prstGeom prst="ellipse">
            <a:avLst/>
          </a:prstGeom>
          <a:solidFill>
            <a:srgbClr val="142C45"/>
          </a:solidFill>
          <a:ln w="19050">
            <a:solidFill>
              <a:srgbClr val="2F7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3279" y="420624"/>
            <a:ext cx="78638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8,606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16975" y="1115568"/>
            <a:ext cx="10789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9FB3C8"/>
                </a:solidFill>
                <a:latin typeface="Segoe UI"/>
              </a:rPr>
              <a:t>tests</a:t>
            </a:r>
          </a:p>
        </p:txBody>
      </p:sp>
      <p:sp>
        <p:nvSpPr>
          <p:cNvPr id="11" name="Oval 10"/>
          <p:cNvSpPr/>
          <p:nvPr/>
        </p:nvSpPr>
        <p:spPr>
          <a:xfrm>
            <a:off x="9850831" y="274320"/>
            <a:ext cx="786384" cy="786384"/>
          </a:xfrm>
          <a:prstGeom prst="ellipse">
            <a:avLst/>
          </a:prstGeom>
          <a:solidFill>
            <a:srgbClr val="142C45"/>
          </a:solidFill>
          <a:ln w="19050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50831" y="420624"/>
            <a:ext cx="78638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82.8%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04527" y="1115568"/>
            <a:ext cx="10789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9FB3C8"/>
                </a:solidFill>
                <a:latin typeface="Segoe UI"/>
              </a:rPr>
              <a:t>covered</a:t>
            </a:r>
          </a:p>
        </p:txBody>
      </p:sp>
      <p:sp>
        <p:nvSpPr>
          <p:cNvPr id="14" name="Oval 13"/>
          <p:cNvSpPr/>
          <p:nvPr/>
        </p:nvSpPr>
        <p:spPr>
          <a:xfrm>
            <a:off x="10838383" y="274320"/>
            <a:ext cx="786384" cy="786384"/>
          </a:xfrm>
          <a:prstGeom prst="ellipse">
            <a:avLst/>
          </a:prstGeom>
          <a:solidFill>
            <a:srgbClr val="142C45"/>
          </a:solidFill>
          <a:ln w="19050">
            <a:solidFill>
              <a:srgbClr val="2F7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838383" y="420624"/>
            <a:ext cx="78638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A·A·A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2079" y="1115568"/>
            <a:ext cx="10789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9FB3C8"/>
                </a:solidFill>
                <a:latin typeface="Segoe UI"/>
              </a:rPr>
              <a:t>ratings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1440" y="645566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94A3B8"/>
                </a:solidFill>
                <a:latin typeface="Segoe UI"/>
              </a:rPr>
              <a:t>3</a:t>
            </a:r>
          </a:p>
        </p:txBody>
      </p:sp>
      <p:sp>
        <p:nvSpPr>
          <p:cNvPr id="18" name="Oval 17"/>
          <p:cNvSpPr/>
          <p:nvPr/>
        </p:nvSpPr>
        <p:spPr>
          <a:xfrm>
            <a:off x="1207009" y="1627632"/>
            <a:ext cx="4169662" cy="4169662"/>
          </a:xfrm>
          <a:prstGeom prst="ellipse">
            <a:avLst/>
          </a:prstGeom>
          <a:solidFill>
            <a:srgbClr val="EEF6F6"/>
          </a:solidFill>
          <a:ln w="15875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810512" y="2231135"/>
            <a:ext cx="2962656" cy="2962656"/>
          </a:xfrm>
          <a:prstGeom prst="ellipse">
            <a:avLst/>
          </a:prstGeom>
          <a:solidFill>
            <a:srgbClr val="E2F0F0"/>
          </a:solidFill>
          <a:ln w="15875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432304" y="2852927"/>
            <a:ext cx="1719072" cy="17190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05456" y="3438143"/>
            <a:ext cx="15727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1A202C"/>
                </a:solidFill>
                <a:latin typeface="Segoe UI"/>
              </a:rPr>
              <a:t>One machine</a:t>
            </a:r>
          </a:p>
          <a:p>
            <a:pPr algn="ctr"/>
            <a:r>
              <a:rPr sz="1050" b="1" i="0">
                <a:solidFill>
                  <a:srgbClr val="1A202C"/>
                </a:solidFill>
                <a:latin typeface="Segoe UI"/>
              </a:rPr>
              <a:t>learns from every run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2359151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2C7A7B"/>
                </a:solidFill>
                <a:latin typeface="Segoe UI"/>
              </a:rPr>
              <a:t>OUR TEAM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1737359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2C7A7B"/>
                </a:solidFill>
                <a:latin typeface="Segoe UI"/>
              </a:rPr>
              <a:t>THE COMPANY</a:t>
            </a:r>
          </a:p>
        </p:txBody>
      </p:sp>
      <p:sp>
        <p:nvSpPr>
          <p:cNvPr id="24" name="Oval 23"/>
          <p:cNvSpPr/>
          <p:nvPr/>
        </p:nvSpPr>
        <p:spPr>
          <a:xfrm>
            <a:off x="3985384" y="2364786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495998" y="2902861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681728" y="3621023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495998" y="4339185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985384" y="4877260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328052" y="1875846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CA9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851084" y="2341304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CA9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90525" y="2953672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CA9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308091" y="3643883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CA9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190525" y="4334094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CA9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851084" y="4946462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CA9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328052" y="5411920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CA9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2258568" y="4361687"/>
            <a:ext cx="2066543" cy="420624"/>
          </a:xfrm>
          <a:prstGeom prst="roundRect">
            <a:avLst>
              <a:gd name="adj" fmla="val 35000"/>
            </a:avLst>
          </a:prstGeom>
          <a:solidFill>
            <a:srgbClr val="FDF3E2"/>
          </a:solidFill>
          <a:ln w="12700">
            <a:solidFill>
              <a:srgbClr val="B7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258568" y="4416551"/>
            <a:ext cx="206654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B7791F"/>
                </a:solidFill>
                <a:latin typeface="Segoe UI"/>
              </a:rPr>
              <a:t>secrets stripped here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5888736"/>
            <a:ext cx="51206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Segoe UI"/>
              </a:rPr>
              <a:t>only distilled notes travel — transcripts and raw captures never leave the machine that made them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35040" y="1773936"/>
            <a:ext cx="45720" cy="1170432"/>
          </a:xfrm>
          <a:prstGeom prst="rect">
            <a:avLst/>
          </a:prstGeom>
          <a:solidFill>
            <a:srgbClr val="2F7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17920" y="1773936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F7A57"/>
                </a:solidFill>
                <a:latin typeface="Segoe UI"/>
              </a:rPr>
              <a:t>Our team</a:t>
            </a:r>
          </a:p>
        </p:txBody>
      </p:sp>
      <p:sp>
        <p:nvSpPr>
          <p:cNvPr id="41" name="Oval 40"/>
          <p:cNvSpPr/>
          <p:nvPr/>
        </p:nvSpPr>
        <p:spPr>
          <a:xfrm>
            <a:off x="6217920" y="2084832"/>
            <a:ext cx="274320" cy="274320"/>
          </a:xfrm>
          <a:prstGeom prst="ellipse">
            <a:avLst/>
          </a:prstGeom>
          <a:solidFill>
            <a:srgbClr val="2F7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7920" y="2116836"/>
            <a:ext cx="274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◆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01968" y="2066544"/>
            <a:ext cx="5029200" cy="154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2F7A57"/>
                </a:solidFill>
                <a:latin typeface="Segoe UI"/>
              </a:rPr>
              <a:t>a fix found once </a:t>
            </a:r>
            <a:r>
              <a:rPr sz="950">
                <a:solidFill>
                  <a:srgbClr val="1A202C"/>
                </a:solidFill>
                <a:latin typeface="Segoe UI"/>
              </a:rPr>
              <a:t>is known by everyone tomorrow</a:t>
            </a:r>
          </a:p>
        </p:txBody>
      </p:sp>
      <p:sp>
        <p:nvSpPr>
          <p:cNvPr id="44" name="Oval 43"/>
          <p:cNvSpPr/>
          <p:nvPr/>
        </p:nvSpPr>
        <p:spPr>
          <a:xfrm>
            <a:off x="6217920" y="2368296"/>
            <a:ext cx="274320" cy="274320"/>
          </a:xfrm>
          <a:prstGeom prst="ellipse">
            <a:avLst/>
          </a:prstGeom>
          <a:solidFill>
            <a:srgbClr val="2F7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17920" y="2400300"/>
            <a:ext cx="274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◆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01968" y="2350008"/>
            <a:ext cx="5029200" cy="154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2F7A57"/>
                </a:solidFill>
                <a:latin typeface="Segoe UI"/>
              </a:rPr>
              <a:t>a new joiner </a:t>
            </a:r>
            <a:r>
              <a:rPr sz="950">
                <a:solidFill>
                  <a:srgbClr val="1A202C"/>
                </a:solidFill>
                <a:latin typeface="Segoe UI"/>
              </a:rPr>
              <a:t>reads the team's real history</a:t>
            </a:r>
          </a:p>
        </p:txBody>
      </p:sp>
      <p:sp>
        <p:nvSpPr>
          <p:cNvPr id="47" name="Oval 46"/>
          <p:cNvSpPr/>
          <p:nvPr/>
        </p:nvSpPr>
        <p:spPr>
          <a:xfrm>
            <a:off x="6217920" y="2651760"/>
            <a:ext cx="274320" cy="274320"/>
          </a:xfrm>
          <a:prstGeom prst="ellipse">
            <a:avLst/>
          </a:prstGeom>
          <a:solidFill>
            <a:srgbClr val="2F7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17920" y="2683764"/>
            <a:ext cx="274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◆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01968" y="2633472"/>
            <a:ext cx="5029200" cy="154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2F7A57"/>
                </a:solidFill>
                <a:latin typeface="Segoe UI"/>
              </a:rPr>
              <a:t>people leave </a:t>
            </a:r>
            <a:r>
              <a:rPr sz="950">
                <a:solidFill>
                  <a:srgbClr val="1A202C"/>
                </a:solidFill>
                <a:latin typeface="Segoe UI"/>
              </a:rPr>
              <a:t>and their know-how stays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35040" y="3017520"/>
            <a:ext cx="45720" cy="1170432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17920" y="3017520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B6CB0"/>
                </a:solidFill>
                <a:latin typeface="Segoe UI"/>
              </a:rPr>
              <a:t>The company</a:t>
            </a:r>
          </a:p>
        </p:txBody>
      </p:sp>
      <p:sp>
        <p:nvSpPr>
          <p:cNvPr id="52" name="Oval 51"/>
          <p:cNvSpPr/>
          <p:nvPr/>
        </p:nvSpPr>
        <p:spPr>
          <a:xfrm>
            <a:off x="6217920" y="3328416"/>
            <a:ext cx="274320" cy="2743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17920" y="3360420"/>
            <a:ext cx="274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■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01968" y="3310128"/>
            <a:ext cx="5029200" cy="154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2B6CB0"/>
                </a:solidFill>
                <a:latin typeface="Segoe UI"/>
              </a:rPr>
              <a:t>one place </a:t>
            </a:r>
            <a:r>
              <a:rPr sz="950">
                <a:solidFill>
                  <a:srgbClr val="1A202C"/>
                </a:solidFill>
                <a:latin typeface="Segoe UI"/>
              </a:rPr>
              <a:t>serves many teams at once</a:t>
            </a:r>
          </a:p>
        </p:txBody>
      </p:sp>
      <p:sp>
        <p:nvSpPr>
          <p:cNvPr id="55" name="Oval 54"/>
          <p:cNvSpPr/>
          <p:nvPr/>
        </p:nvSpPr>
        <p:spPr>
          <a:xfrm>
            <a:off x="6217920" y="3611880"/>
            <a:ext cx="274320" cy="2743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217920" y="3643884"/>
            <a:ext cx="274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■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601968" y="3593592"/>
            <a:ext cx="5029200" cy="154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2B6CB0"/>
                </a:solidFill>
                <a:latin typeface="Segoe UI"/>
              </a:rPr>
              <a:t>each team's memory </a:t>
            </a:r>
            <a:r>
              <a:rPr sz="950">
                <a:solidFill>
                  <a:srgbClr val="1A202C"/>
                </a:solidFill>
                <a:latin typeface="Segoe UI"/>
              </a:rPr>
              <a:t>stays its own</a:t>
            </a:r>
          </a:p>
        </p:txBody>
      </p:sp>
      <p:sp>
        <p:nvSpPr>
          <p:cNvPr id="58" name="Oval 57"/>
          <p:cNvSpPr/>
          <p:nvPr/>
        </p:nvSpPr>
        <p:spPr>
          <a:xfrm>
            <a:off x="6217920" y="3895344"/>
            <a:ext cx="274320" cy="274320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217920" y="3927348"/>
            <a:ext cx="274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■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601968" y="3877056"/>
            <a:ext cx="5029200" cy="154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2B6CB0"/>
                </a:solidFill>
                <a:latin typeface="Segoe UI"/>
              </a:rPr>
              <a:t>nothing to run </a:t>
            </a:r>
            <a:r>
              <a:rPr sz="950">
                <a:solidFill>
                  <a:srgbClr val="1A202C"/>
                </a:solidFill>
                <a:latin typeface="Segoe UI"/>
              </a:rPr>
              <a:t>— it is files in a folder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035040" y="4261104"/>
            <a:ext cx="45720" cy="1170432"/>
          </a:xfrm>
          <a:prstGeom prst="rect">
            <a:avLst/>
          </a:prstGeom>
          <a:solidFill>
            <a:srgbClr val="6B4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17920" y="4261104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6B46C1"/>
                </a:solidFill>
                <a:latin typeface="Segoe UI"/>
              </a:rPr>
              <a:t>Legal and audit</a:t>
            </a:r>
          </a:p>
        </p:txBody>
      </p:sp>
      <p:sp>
        <p:nvSpPr>
          <p:cNvPr id="63" name="Oval 62"/>
          <p:cNvSpPr/>
          <p:nvPr/>
        </p:nvSpPr>
        <p:spPr>
          <a:xfrm>
            <a:off x="6217920" y="4572000"/>
            <a:ext cx="274320" cy="274320"/>
          </a:xfrm>
          <a:prstGeom prst="ellipse">
            <a:avLst/>
          </a:prstGeom>
          <a:solidFill>
            <a:srgbClr val="6B4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217920" y="4604004"/>
            <a:ext cx="274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●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601968" y="4553712"/>
            <a:ext cx="5029200" cy="154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6B46C1"/>
                </a:solidFill>
                <a:latin typeface="Segoe UI"/>
              </a:rPr>
              <a:t>passwords </a:t>
            </a:r>
            <a:r>
              <a:rPr sz="950">
                <a:solidFill>
                  <a:srgbClr val="1A202C"/>
                </a:solidFill>
                <a:latin typeface="Segoe UI"/>
              </a:rPr>
              <a:t>are blocked before sharing, not after</a:t>
            </a:r>
          </a:p>
        </p:txBody>
      </p:sp>
      <p:sp>
        <p:nvSpPr>
          <p:cNvPr id="66" name="Oval 65"/>
          <p:cNvSpPr/>
          <p:nvPr/>
        </p:nvSpPr>
        <p:spPr>
          <a:xfrm>
            <a:off x="6217920" y="4855464"/>
            <a:ext cx="274320" cy="274320"/>
          </a:xfrm>
          <a:prstGeom prst="ellipse">
            <a:avLst/>
          </a:prstGeom>
          <a:solidFill>
            <a:srgbClr val="6B4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217920" y="4887468"/>
            <a:ext cx="274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●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601968" y="4837176"/>
            <a:ext cx="5029200" cy="154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6B46C1"/>
                </a:solidFill>
                <a:latin typeface="Segoe UI"/>
              </a:rPr>
              <a:t>every merge </a:t>
            </a:r>
            <a:r>
              <a:rPr sz="950">
                <a:solidFill>
                  <a:srgbClr val="1A202C"/>
                </a:solidFill>
                <a:latin typeface="Segoe UI"/>
              </a:rPr>
              <a:t>is saved and can be undone</a:t>
            </a:r>
          </a:p>
        </p:txBody>
      </p:sp>
      <p:sp>
        <p:nvSpPr>
          <p:cNvPr id="69" name="Oval 68"/>
          <p:cNvSpPr/>
          <p:nvPr/>
        </p:nvSpPr>
        <p:spPr>
          <a:xfrm>
            <a:off x="6217920" y="5138928"/>
            <a:ext cx="274320" cy="274320"/>
          </a:xfrm>
          <a:prstGeom prst="ellipse">
            <a:avLst/>
          </a:prstGeom>
          <a:solidFill>
            <a:srgbClr val="6B4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217920" y="5170932"/>
            <a:ext cx="274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●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601968" y="5120640"/>
            <a:ext cx="5029200" cy="154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6B46C1"/>
                </a:solidFill>
                <a:latin typeface="Segoe UI"/>
              </a:rPr>
              <a:t>delete the folder </a:t>
            </a:r>
            <a:r>
              <a:rPr sz="950">
                <a:solidFill>
                  <a:srgbClr val="1A202C"/>
                </a:solidFill>
                <a:latin typeface="Segoe UI"/>
              </a:rPr>
              <a:t>and it is gone — no second copy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035040" y="5468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Segoe UI"/>
              </a:rPr>
              <a:t>HOW WE WOULD ROLL IT OUT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6144768" y="5888736"/>
            <a:ext cx="5212080" cy="0"/>
          </a:xfrm>
          <a:prstGeom prst="line">
            <a:avLst/>
          </a:prstGeom>
          <a:ln w="254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Oval 73"/>
          <p:cNvSpPr/>
          <p:nvPr/>
        </p:nvSpPr>
        <p:spPr>
          <a:xfrm>
            <a:off x="6144768" y="5779008"/>
            <a:ext cx="219456" cy="219456"/>
          </a:xfrm>
          <a:prstGeom prst="ellipse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437376" y="5742432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  <a:latin typeface="Segoe UI"/>
              </a:rPr>
              <a:t>one team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37376" y="593445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Segoe UI"/>
              </a:rPr>
              <a:t>on real tickets</a:t>
            </a:r>
          </a:p>
        </p:txBody>
      </p:sp>
      <p:sp>
        <p:nvSpPr>
          <p:cNvPr id="77" name="Oval 76"/>
          <p:cNvSpPr/>
          <p:nvPr/>
        </p:nvSpPr>
        <p:spPr>
          <a:xfrm>
            <a:off x="7918704" y="5779008"/>
            <a:ext cx="219456" cy="219456"/>
          </a:xfrm>
          <a:prstGeom prst="ellipse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211312" y="5742432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  <a:latin typeface="Segoe UI"/>
              </a:rPr>
              <a:t>a second team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211312" y="593445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Segoe UI"/>
              </a:rPr>
              <a:t>same admin, memory already there</a:t>
            </a:r>
          </a:p>
        </p:txBody>
      </p:sp>
      <p:sp>
        <p:nvSpPr>
          <p:cNvPr id="80" name="Oval 79"/>
          <p:cNvSpPr/>
          <p:nvPr/>
        </p:nvSpPr>
        <p:spPr>
          <a:xfrm>
            <a:off x="9692640" y="5779008"/>
            <a:ext cx="219456" cy="219456"/>
          </a:xfrm>
          <a:prstGeom prst="ellipse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985248" y="5742432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  <a:latin typeface="Segoe UI"/>
              </a:rPr>
              <a:t>company-wide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985248" y="593445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Segoe UI"/>
              </a:rPr>
              <a:t>after a month of two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