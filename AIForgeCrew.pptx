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AIFORGECREW · AUTONOMOUS DEV TEAM · LOCAL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4202C"/>
                </a:solidFill>
                <a:latin typeface="Consolas"/>
              </a:rPr>
              <a:t>Ship real code from a chat box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4202C"/>
                </a:solidFill>
                <a:latin typeface="Consolas"/>
              </a:rPr>
              <a:t>with a </a:t>
            </a:r>
            <a:r>
              <a:rPr sz="4000" b="1">
                <a:solidFill>
                  <a:srgbClr val="107488"/>
                </a:solidFill>
                <a:latin typeface="Consolas"/>
              </a:rPr>
              <a:t>team of agents</a:t>
            </a:r>
            <a:r>
              <a:rPr sz="4000" b="1">
                <a:solidFill>
                  <a:srgbClr val="14202C"/>
                </a:solidFill>
                <a:latin typeface="Consolas"/>
              </a:rPr>
              <a:t>, not one </a:t>
            </a:r>
            <a:r>
              <a:rPr sz="4000" b="1">
                <a:solidFill>
                  <a:srgbClr val="C05314"/>
                </a:solidFill>
                <a:latin typeface="Consolas"/>
              </a:rPr>
              <a:t>lone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16076"/>
                </a:solidFill>
                <a:latin typeface="Calibri"/>
              </a:rPr>
              <a:t>Plan · build · review · remember — on local models you control, nothing leaving your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572000"/>
            <a:ext cx="6949440" cy="141732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75488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7488"/>
                </a:solidFill>
                <a:latin typeface="Consolas"/>
              </a:rPr>
              <a:t>$ ./run.sh</a:t>
            </a:r>
            <a:r>
              <a:rPr sz="1300" b="0">
                <a:solidFill>
                  <a:srgbClr val="8A99AC"/>
                </a:solidFill>
                <a:latin typeface="Consolas"/>
              </a:rPr>
              <a:t>   # one command, whole stack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16076"/>
                </a:solidFill>
                <a:latin typeface="Consolas"/>
              </a:rPr>
              <a:t>==&gt; UI http://localhost:8799/ui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7488"/>
                </a:solidFill>
                <a:latin typeface="Consolas"/>
              </a:rPr>
              <a:t>&gt; </a:t>
            </a:r>
            <a:r>
              <a:rPr sz="1300" b="0">
                <a:solidFill>
                  <a:srgbClr val="C05314"/>
                </a:solidFill>
                <a:latin typeface="Consolas"/>
              </a:rPr>
              <a:t>Build httptiny: url, headers, status + tests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8852"/>
                </a:solidFill>
                <a:latin typeface="Consolas"/>
              </a:rPr>
              <a:t>   5/5 subtasks built + merged  tests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01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4202C"/>
                </a:solidFill>
                <a:latin typeface="Consolas"/>
              </a:rPr>
              <a:t>One request in. A working, tested, committed change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16076"/>
                </a:solidFill>
                <a:latin typeface="Calibri"/>
              </a:rPr>
              <a:t>It doesn't autocomplete — it decomposes the work across isolated builders, reviews its own diff with a second model, and remembers what it learned. Three ways to reach 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00400"/>
            <a:ext cx="3429000" cy="210312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34670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5314"/>
                </a:solidFill>
                <a:latin typeface="Consolas"/>
              </a:rP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730752"/>
            <a:ext cx="302666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One agent, tight loop — read, write, run, repeat. Fast for edits; auto-escalates to the pipeline on a real multi-file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3200400"/>
            <a:ext cx="3429000" cy="210312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34670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30752"/>
            <a:ext cx="302666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Read-only. Inspects the repo and proposes a plan — files, endpoints, risks — and never writes.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3200400"/>
            <a:ext cx="3429000" cy="210312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334670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3730752"/>
            <a:ext cx="302666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The full pipeline. Decompose, build each file in its own worktree, review, reconcile,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02 · CONFIGURE &amp;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4202C"/>
                </a:solidFill>
                <a:latin typeface="Consolas"/>
              </a:rPr>
              <a:t>Clone and run. One script, one .env.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202C"/>
                </a:solidFill>
                <a:latin typeface="Calibri"/>
              </a:rPr>
              <a:t>hybrid </a:t>
            </a:r>
            <a:r>
              <a:rPr sz="1350" b="0">
                <a:solidFill>
                  <a:srgbClr val="516076"/>
                </a:solidFill>
                <a:latin typeface="Calibri"/>
              </a:rPr>
              <a:t>(default) — infra in Docker, API + runner native. Real git, fast.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202C"/>
                </a:solidFill>
                <a:latin typeface="Calibri"/>
              </a:rPr>
              <a:t>docker </a:t>
            </a:r>
            <a:r>
              <a:rPr sz="1350" b="0">
                <a:solidFill>
                  <a:srgbClr val="516076"/>
                </a:solidFill>
                <a:latin typeface="Calibri"/>
              </a:rPr>
              <a:t>— fully containerized, one command.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202C"/>
                </a:solidFill>
                <a:latin typeface="Calibri"/>
              </a:rPr>
              <a:t>lite </a:t>
            </a:r>
            <a:r>
              <a:rPr sz="1350" b="0">
                <a:solidFill>
                  <a:srgbClr val="516076"/>
                </a:solidFill>
                <a:latin typeface="Calibri"/>
              </a:rPr>
              <a:t>— embedded SQLite, clone-and-run on a laptop.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202C"/>
                </a:solidFill>
                <a:latin typeface="Calibri"/>
              </a:rPr>
              <a:t>Any local model </a:t>
            </a:r>
            <a:r>
              <a:rPr sz="1350" b="0">
                <a:solidFill>
                  <a:srgbClr val="516076"/>
                </a:solidFill>
                <a:latin typeface="Calibri"/>
              </a:rPr>
              <a:t>— LM Studio · vLLM · Ollama · llama.cpp. One base URL.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103120"/>
            <a:ext cx="5029200" cy="24688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93408" y="228600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9AC"/>
                </a:solidFill>
                <a:latin typeface="Consolas"/>
              </a:rPr>
              <a:t># one model, or split by capability: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07488"/>
                </a:solidFill>
                <a:latin typeface="Consolas"/>
              </a:rPr>
              <a:t>AIFORGE_LOCAL_DEFAULT_MODEL</a:t>
            </a:r>
            <a:r>
              <a:rPr sz="1150" b="0">
                <a:solidFill>
                  <a:srgbClr val="C05314"/>
                </a:solidFill>
                <a:latin typeface="Consolas"/>
              </a:rPr>
              <a:t>=ornith-9b</a:t>
            </a:r>
            <a:r>
              <a:rPr sz="1150" b="0">
                <a:solidFill>
                  <a:srgbClr val="8A99AC"/>
                </a:solidFill>
                <a:latin typeface="Consolas"/>
              </a:rPr>
              <a:t>  # thinking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07488"/>
                </a:solidFill>
                <a:latin typeface="Consolas"/>
              </a:rPr>
              <a:t>AIFORGE_DOER_MODEL</a:t>
            </a:r>
            <a:r>
              <a:rPr sz="1150" b="0">
                <a:solidFill>
                  <a:srgbClr val="C05314"/>
                </a:solidFill>
                <a:latin typeface="Consolas"/>
              </a:rPr>
              <a:t>=qwen3-coder</a:t>
            </a:r>
            <a:r>
              <a:rPr sz="1150" b="0">
                <a:solidFill>
                  <a:srgbClr val="8A99AC"/>
                </a:solidFill>
                <a:latin typeface="Consolas"/>
              </a:rPr>
              <a:t>   # coding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07488"/>
                </a:solidFill>
                <a:latin typeface="Consolas"/>
              </a:rPr>
              <a:t>AIFORGE_REVIEW_MODEL</a:t>
            </a:r>
            <a:r>
              <a:rPr sz="1150" b="0">
                <a:solidFill>
                  <a:srgbClr val="C05314"/>
                </a:solidFill>
                <a:latin typeface="Consolas"/>
              </a:rPr>
              <a:t>=ornith-9b</a:t>
            </a:r>
            <a:r>
              <a:rPr sz="1150" b="0">
                <a:solidFill>
                  <a:srgbClr val="8A99AC"/>
                </a:solidFill>
                <a:latin typeface="Consolas"/>
              </a:rPr>
              <a:t>   # reviewer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07488"/>
                </a:solidFill>
                <a:latin typeface="Consolas"/>
              </a:rPr>
              <a:t>AIFORGE_HEADROOM</a:t>
            </a:r>
            <a:r>
              <a:rPr sz="1150" b="0">
                <a:solidFill>
                  <a:srgbClr val="C05314"/>
                </a:solidFill>
                <a:latin typeface="Consolas"/>
              </a:rPr>
              <a:t>=1</a:t>
            </a:r>
            <a:r>
              <a:rPr sz="1150" b="0">
                <a:solidFill>
                  <a:srgbClr val="8A99AC"/>
                </a:solidFill>
                <a:latin typeface="Consolas"/>
              </a:rPr>
              <a:t>           # compress tool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03 · HOW IT WORKS — THE TEAM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4202C"/>
                </a:solidFill>
                <a:latin typeface="Consolas"/>
              </a:rPr>
              <a:t>Each stage hands a curated brief to the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7488"/>
                </a:solidFill>
                <a:latin typeface="Consolas"/>
              </a:rPr>
              <a:t>enhancer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65960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rewrites the request into a clean build spec (recall scoped to this repo).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23744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42032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7488"/>
                </a:solidFill>
                <a:latin typeface="Consolas"/>
              </a:rPr>
              <a:t>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42032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designs the exact files + public API — isolated builders agree on the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99815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18103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18103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7488"/>
                </a:solidFill>
                <a:latin typeface="Consolas"/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118103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writes SPEC.md, splits into disjoint subtasks — one file, one worker.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75888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94176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94176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5314"/>
                </a:solidFill>
                <a:latin typeface="Consolas"/>
              </a:rPr>
              <a:t>doer ×N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94176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each subtask in its OWN context + git worktree, parallel — a big build never exhausts one window.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70248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70248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5314"/>
                </a:solidFill>
                <a:latin typeface="Consolas"/>
              </a:rPr>
              <a:t>reconciler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270248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merges worktrees, runs tests, self-heals failing files until green.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28032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C8852"/>
                </a:solidFill>
                <a:latin typeface="Consolas"/>
              </a:rPr>
              <a:t>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46320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a DIFFERENT model reviews scope, correctness, risk on the diff.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04104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22392"/>
            <a:ext cx="5486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9AC"/>
                </a:solidFill>
                <a:latin typeface="Consola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22392"/>
            <a:ext cx="1828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7488"/>
                </a:solidFill>
                <a:latin typeface="Consolas"/>
              </a:rPr>
              <a:t>learner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422392"/>
            <a:ext cx="8229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16076"/>
                </a:solidFill>
                <a:latin typeface="Calibri"/>
              </a:rPr>
              <a:t>distills durable facts into memory for the next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980176"/>
            <a:ext cx="1074420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04 · SECURITY — IT RUNS WHERE YOU CAN SEE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02C"/>
                </a:solidFill>
                <a:latin typeface="Consolas"/>
              </a:rPr>
              <a:t>Local isn't a setting. It's the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1579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Nothing leaves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42032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Models, memory, embeddings, workspace — all yours. No vendor key, no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011680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1579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Scope-locked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542032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The doer can only edit files inside the task's allowlisted paths — a write outside scope is refused.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011680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1579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Tools ask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2542032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Risky actions pause for Approve / Reject. sudo &amp; force-push gated.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67912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014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Sandboxed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398264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Isolated per chat/ticket; cleared on delete — no cross-task leak.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867912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014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Stop &amp; steer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398264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Cancel mid-run, inject guidance, kill-all recovers a wedged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867912"/>
            <a:ext cx="3566160" cy="1600200"/>
          </a:xfrm>
          <a:prstGeom prst="roundRect">
            <a:avLst/>
          </a:prstGeom>
          <a:solidFill>
            <a:srgbClr val="EAEFF5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014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7488"/>
                </a:solidFill>
                <a:latin typeface="Consolas"/>
              </a:rPr>
              <a:t>Auditable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398264"/>
            <a:ext cx="31638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Every step streamed + traced to disk. Secrets in a git-ignored .env.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05 · 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4202C"/>
                </a:solidFill>
                <a:latin typeface="Consolas"/>
              </a:rPr>
              <a:t>It remembers — but only what's relevant, for the right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4202C"/>
                </a:solidFill>
                <a:latin typeface="Calibri"/>
              </a:rPr>
              <a:t>Layered recall </a:t>
            </a:r>
            <a:r>
              <a:rPr sz="1250" b="0">
                <a:solidFill>
                  <a:srgbClr val="516076"/>
                </a:solidFill>
                <a:latin typeface="Calibri"/>
              </a:rPr>
              <a:t>— decisions &amp; gotchas, a tree-sitter RepoMap (PageRank), code/doc RAG, conventions, cross-session summaries.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4202C"/>
                </a:solidFill>
                <a:latin typeface="Calibri"/>
              </a:rPr>
              <a:t>Unindexed repo? </a:t>
            </a:r>
            <a:r>
              <a:rPr sz="1250" b="0">
                <a:solidFill>
                  <a:srgbClr val="516076"/>
                </a:solidFill>
                <a:latin typeface="Calibri"/>
              </a:rPr>
              <a:t>— an Aider-style repo-map is built on the fly (tree-sitter + PageRank), so the agents grasp an unfamiliar codebase from turn one — no pre-indexing needed.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4202C"/>
                </a:solidFill>
                <a:latin typeface="Calibri"/>
              </a:rPr>
              <a:t>Repo-scoped </a:t>
            </a:r>
            <a:r>
              <a:rPr sz="1250" b="0">
                <a:solidFill>
                  <a:srgbClr val="516076"/>
                </a:solidFill>
                <a:latin typeface="Calibri"/>
              </a:rPr>
              <a:t>— write key = read key; an unrelated past build can't bleed in.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4202C"/>
                </a:solidFill>
                <a:latin typeface="Calibri"/>
              </a:rPr>
              <a:t>Distilled, not dumped </a:t>
            </a:r>
            <a:r>
              <a:rPr sz="1250" b="0">
                <a:solidFill>
                  <a:srgbClr val="516076"/>
                </a:solidFill>
                <a:latin typeface="Calibri"/>
              </a:rPr>
              <a:t>— a learner mines durable facts; decay + dedupe keep it lean.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4202C"/>
                </a:solidFill>
                <a:latin typeface="Calibri"/>
              </a:rPr>
              <a:t>Pluggable </a:t>
            </a:r>
            <a:r>
              <a:rPr sz="1250" b="0">
                <a:solidFill>
                  <a:srgbClr val="516076"/>
                </a:solidFill>
                <a:latin typeface="Calibri"/>
              </a:rPr>
              <a:t>— SQLite by default; Neo4j graph for cross-repo edges +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148840"/>
            <a:ext cx="4983480" cy="26517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39128" y="23317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8A99AC"/>
                </a:solidFill>
                <a:latin typeface="Consolas"/>
              </a:rPr>
              <a:t># one run's brief, THIS repo + request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7488"/>
                </a:solidFill>
                <a:latin typeface="Consolas"/>
              </a:rPr>
              <a:t>repo_map</a:t>
            </a:r>
            <a:r>
              <a:rPr sz="1150" b="0">
                <a:solidFill>
                  <a:srgbClr val="8A99AC"/>
                </a:solidFill>
                <a:latin typeface="Consolas"/>
              </a:rPr>
              <a:t>     files + symbols, ranked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7488"/>
                </a:solidFill>
                <a:latin typeface="Consolas"/>
              </a:rPr>
              <a:t>conventions</a:t>
            </a:r>
            <a:r>
              <a:rPr sz="1150" b="0">
                <a:solidFill>
                  <a:srgbClr val="8A99AC"/>
                </a:solidFill>
                <a:latin typeface="Consolas"/>
              </a:rPr>
              <a:t>  'use yarn', 'tabs'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7488"/>
                </a:solidFill>
                <a:latin typeface="Consolas"/>
              </a:rPr>
              <a:t>prior_facts</a:t>
            </a:r>
            <a:r>
              <a:rPr sz="1150" b="0">
                <a:solidFill>
                  <a:srgbClr val="8A99AC"/>
                </a:solidFill>
                <a:latin typeface="Consolas"/>
              </a:rPr>
              <a:t>  scoped decisions/gotchas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7488"/>
                </a:solidFill>
                <a:latin typeface="Consolas"/>
              </a:rPr>
              <a:t>code_rag</a:t>
            </a:r>
            <a:r>
              <a:rPr sz="1150" b="0">
                <a:solidFill>
                  <a:srgbClr val="8A99AC"/>
                </a:solidFill>
                <a:latin typeface="Consolas"/>
              </a:rPr>
              <a:t>     nearest chunks by vector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7488"/>
                </a:solidFill>
                <a:latin typeface="Consolas"/>
              </a:rPr>
              <a:t>chat_recall</a:t>
            </a:r>
            <a:r>
              <a:rPr sz="1150" b="0">
                <a:solidFill>
                  <a:srgbClr val="8A99AC"/>
                </a:solidFill>
                <a:latin typeface="Consolas"/>
              </a:rPr>
              <a:t>  worked out earlier, same repo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5314"/>
                </a:solidFill>
                <a:latin typeface="Consolas"/>
              </a:rPr>
              <a:t>-&gt; ranked · token-budgeted · to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06 · IN ACTION — SIMPLE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202C"/>
                </a:solidFill>
                <a:latin typeface="Consolas"/>
              </a:rPr>
              <a:t>One agent · reads, writes, tests, shows the diff.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783080"/>
            <a:ext cx="7772400" cy="420624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02C"/>
                </a:solidFill>
                <a:latin typeface="Consolas"/>
              </a:rPr>
              <a:t>[Simple]</a:t>
            </a:r>
            <a:r>
              <a:rPr sz="1100" b="0">
                <a:solidFill>
                  <a:srgbClr val="8A99AC"/>
                </a:solidFill>
                <a:latin typeface="Consolas"/>
              </a:rPr>
              <a:t>  Plan  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350008"/>
            <a:ext cx="77724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87168" y="233172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4202C"/>
                </a:solidFill>
                <a:latin typeface="Consola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16076"/>
                </a:solidFill>
                <a:latin typeface="Calibri"/>
              </a:rPr>
              <a:t>Add validate_email(s) to email_util.py with a regex + 3 pytest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852927"/>
            <a:ext cx="77724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2834639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16076"/>
                </a:solidFill>
                <a:latin typeface="Consola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39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16076"/>
                </a:solidFill>
                <a:latin typeface="Calibri"/>
              </a:rPr>
              <a:t>file_write email_util.py · file_write test_email_util.py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355847"/>
            <a:ext cx="77724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3337559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16076"/>
                </a:solidFill>
                <a:latin typeface="Consolas"/>
              </a:rPr>
              <a:t>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37559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16076"/>
                </a:solidFill>
                <a:latin typeface="Calibri"/>
              </a:rPr>
              <a:t>run_tests -&gt; 3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858767"/>
            <a:ext cx="77724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3840479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05314"/>
                </a:solidFill>
                <a:latin typeface="Consola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840479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16076"/>
                </a:solidFill>
                <a:latin typeface="Calibri"/>
              </a:rPr>
              <a:t>Added validate_email + tests (valid / invalid / empty). All green.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389119"/>
            <a:ext cx="72237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480559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16076"/>
                </a:solidFill>
                <a:latin typeface="Consolas"/>
              </a:rPr>
              <a:t>email_util.py   +9 -0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8852"/>
                </a:solidFill>
                <a:latin typeface="Consolas"/>
              </a:rPr>
              <a:t>+ def validate_email(s: str) -&gt; bool: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8852"/>
                </a:solidFill>
                <a:latin typeface="Consolas"/>
              </a:rPr>
              <a:t>+     return bool(re.match(EMAIL_RE, s or ''))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06 · IN ACTION — PLAN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4202C"/>
                </a:solidFill>
                <a:latin typeface="Consolas"/>
              </a:rPr>
              <a:t>Read-only plan, or the full parallel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212080" cy="35661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4202C"/>
                </a:solidFill>
                <a:latin typeface="Consolas"/>
              </a:rPr>
              <a:t>Simple  [Plan] 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14202C"/>
                </a:solidFill>
                <a:latin typeface="Consola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Plan a bookstore REST API with auth &amp;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10748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44368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Files: app · models · auth · routes · tests. Endpoints /books /auth/login. Risks: token expiry, N+1.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475488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74920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07488"/>
                </a:solidFill>
                <a:latin typeface="Consolas"/>
              </a:rPr>
              <a:t>read-only · nothing written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212080" cy="35661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4202C"/>
                </a:solidFill>
                <a:latin typeface="Consolas"/>
              </a:rPr>
              <a:t>Simple  Plan  [Team]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107488"/>
                </a:solidFill>
                <a:latin typeface="Consolas"/>
              </a:rPr>
              <a:t>enhancer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774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clean spec -&gt; 3 modules +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4436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107488"/>
                </a:solidFill>
                <a:latin typeface="Consolas"/>
              </a:rPr>
              <a:t>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944368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url · headers · status +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11296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C05314"/>
                </a:solidFill>
                <a:latin typeface="Consolas"/>
              </a:rPr>
              <a:t>doer x3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511296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building each in its own worktree...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7822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2C8852"/>
                </a:solidFill>
                <a:latin typeface="Consolas"/>
              </a:rPr>
              <a:t>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078224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scope ok · approve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074920"/>
            <a:ext cx="4754880" cy="29260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C8852"/>
                </a:solidFill>
                <a:latin typeface="Consolas"/>
              </a:rPr>
              <a:t>url ✓  headers ✓  status ✓     5/5 merged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07 · INTEGRATIONS — JIRA · CONFLUENCE ·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4202C"/>
                </a:solidFill>
                <a:latin typeface="Consolas"/>
              </a:rPr>
              <a:t>The agents read the ticket, update the wiki, open the PR.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566160" cy="26517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12140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7488"/>
                </a:solidFill>
                <a:latin typeface="Consolas"/>
              </a:rPr>
              <a:t>JIRA · CLR-3049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2487168"/>
            <a:ext cx="3200400" cy="9144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060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202C"/>
                </a:solidFill>
                <a:latin typeface="Calibri"/>
              </a:rPr>
              <a:t>Fix stale coord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1693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9AC"/>
                </a:solidFill>
                <a:latin typeface="Calibri"/>
              </a:rPr>
              <a:t>Status </a:t>
            </a:r>
            <a:r>
              <a:rPr sz="950" b="1">
                <a:solidFill>
                  <a:srgbClr val="107488"/>
                </a:solidFill>
                <a:latin typeface="Consolas"/>
              </a:rP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9242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05314"/>
                </a:solidFill>
                <a:latin typeface="Consolas"/>
              </a:rPr>
              <a:t>aiforge · comment: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7033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TTL uses &lt; not &lt;=. Fix + test pushed; PR #128.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566160" cy="26517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2140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7488"/>
                </a:solidFill>
                <a:latin typeface="Consolas"/>
              </a:rPr>
              <a:t>CONFLUENCE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6007" y="2487168"/>
            <a:ext cx="3200400" cy="9144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6060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02C"/>
                </a:solidFill>
                <a:latin typeface="Calibri"/>
              </a:rPr>
              <a:t>httptiny — module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91693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107488"/>
                </a:solidFill>
                <a:latin typeface="Consolas"/>
              </a:rPr>
              <a:t>updated by aiforge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3227832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url · parse_url, build_query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538727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headers · parse, 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384962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16076"/>
                </a:solidFill>
                <a:latin typeface="Calibri"/>
              </a:rPr>
              <a:t>status · is_success, reason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965960"/>
            <a:ext cx="3566160" cy="265176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7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12140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7488"/>
                </a:solidFill>
                <a:latin typeface="Consolas"/>
              </a:rPr>
              <a:t>GIT · PR #128 -&gt; 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5048" y="2487168"/>
            <a:ext cx="3200400" cy="9144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6060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9AC"/>
                </a:solidFill>
                <a:latin typeface="Calibri"/>
              </a:rPr>
              <a:t>Checks </a:t>
            </a:r>
            <a:r>
              <a:rPr sz="950" b="1">
                <a:solidFill>
                  <a:srgbClr val="2C8852"/>
                </a:solidFill>
                <a:latin typeface="Consolas"/>
              </a:rPr>
              <a:t>TESTS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08152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16076"/>
                </a:solidFill>
                <a:latin typeface="Consolas"/>
              </a:rPr>
              <a:t>gps/cache.py      +4 -2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39242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16076"/>
                </a:solidFill>
                <a:latin typeface="Consolas"/>
              </a:rPr>
              <a:t>tests/test_cache.py  +18 -0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7033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16076"/>
                </a:solidFill>
                <a:latin typeface="Consolas"/>
              </a:rPr>
              <a:t>CHANGELOG.md      +1 -0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1018520" cy="105156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54864" cy="105156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74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202C"/>
                </a:solidFill>
                <a:latin typeface="Calibri"/>
              </a:rPr>
              <a:t>Unattended, end to end: </a:t>
            </a:r>
            <a:r>
              <a:rPr sz="1200" b="0">
                <a:solidFill>
                  <a:srgbClr val="516076"/>
                </a:solidFill>
                <a:latin typeface="Calibri"/>
              </a:rPr>
              <a:t>a scheduled job reads a ticket -&gt; builds in a worktree -&gt; tests -&gt; opens a PR -&gt; comments back -&gt; updates the wiki. You review the PR; nothing acts without the gate.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09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08 · HOW IT DIFFERS FROM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202C"/>
                </a:solidFill>
                <a:latin typeface="Consolas"/>
              </a:rPr>
              <a:t>A standing team vs a sharp terminal tool.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835640" cy="4572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16076"/>
                </a:solidFill>
                <a:latin typeface="Consolas"/>
              </a:rP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9659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16076"/>
                </a:solidFill>
                <a:latin typeface="Consolas"/>
              </a:rPr>
              <a:t>AIForgeCrew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16076"/>
                </a:solidFill>
                <a:latin typeface="Consolas"/>
              </a:rPr>
              <a:t>OpenCode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158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Multi-agent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4231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Single interactive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730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Big multi-file builds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Decomposed, parallel worktrees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803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One context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02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Self-review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375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Second model reviews the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3375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You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874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Persistent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7947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Layered, repo-scoped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947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Session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446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519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Web UI · chat · tickets ·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519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Terminal / TUI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018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7091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Cron -&gt; build -&gt; 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7091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Human-in-loop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590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6636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16076"/>
                </a:solidFill>
                <a:latin typeface="Consolas"/>
              </a:rPr>
              <a:t>Quick one-off 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166360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4202C"/>
                </a:solidFill>
                <a:latin typeface="Calibri"/>
              </a:rPr>
              <a:t>Simple mode, heavier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166360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16076"/>
                </a:solidFill>
                <a:latin typeface="Calibri"/>
              </a:rPr>
              <a:t>Lean, instant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616244"/>
            <a:ext cx="10835640" cy="7315"/>
          </a:xfrm>
          <a:prstGeom prst="roundRect">
            <a:avLst/>
          </a:prstGeom>
          <a:solidFill>
            <a:srgbClr val="D7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7488"/>
                </a:solidFill>
                <a:latin typeface="Consolas"/>
              </a:rPr>
              <a:t>AIFORGECREW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4202C"/>
                </a:solidFill>
                <a:latin typeface="Consolas"/>
              </a:rPr>
              <a:t>Plan · build · review · remember — </a:t>
            </a:r>
            <a:r>
              <a:rPr sz="3400" b="1">
                <a:solidFill>
                  <a:srgbClr val="107488"/>
                </a:solidFill>
                <a:latin typeface="Consolas"/>
              </a:rPr>
              <a:t>locally.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794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05314"/>
                </a:solidFill>
                <a:latin typeface="Consolas"/>
              </a:rPr>
              <a:t>./run.sh  -&gt;  http://localhost:8799/ui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16076"/>
                </a:solidFill>
                <a:latin typeface="Calibri"/>
              </a:rPr>
              <a:t>Every step visible. Every model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9AC"/>
                </a:solidFill>
                <a:latin typeface="Consola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6510528"/>
            <a:ext cx="457200" cy="45720"/>
          </a:xfrm>
          <a:prstGeom prst="roundRect">
            <a:avLst/>
          </a:prstGeom>
          <a:solidFill>
            <a:srgbClr val="C05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